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62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A5536-4CA6-CAF2-56DE-2BB8D77BD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DD9517-EC05-C184-0124-E4E1905496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59E46-76A1-DA72-4627-D9A50CCC1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11-02-2023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2F333-06D1-25EB-70B7-30884A792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25302-67A6-3B3A-4AB2-E3F35C430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083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5C323-4A6E-AC96-F9B2-90B8B44F1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D7DDA-1D26-7BC8-4972-FFD202954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133A4-419A-7E22-3BD9-AA3706F64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11-02-2023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21BAE-F98B-6610-37F3-48A2C421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6CDA4-D331-DEBD-CD17-AE1F7EB0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482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15BF7-1418-75AA-2250-9269B8082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2205C-896F-E295-950C-3E83A9C04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53DC8-16AA-6FF9-F08B-3F0340EB1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11-02-2023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E0864-5653-EF9F-7D08-03E4CF6BF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9EBAF-2844-238E-7A40-03D99651B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79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7476F-2A4D-B526-14E8-41EA7CCA2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A2FB1-9ACB-5C8D-A139-E04A23C695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B6D1F-20B0-1373-FE8C-868ABAD9E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F56CB-FA08-46C9-C80E-7F595044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11-02-2023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A3FAE-F449-8CFC-BCE3-BA4FDD61A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F77C0-7C7F-2180-DDF0-F7DEDD467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270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B4676-D067-6D8B-0A00-D557F44E7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2CE39-9554-E211-C837-E5732FB80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6AB3E-C4CE-67D4-7DEF-EFA384A3A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2FFD12-F904-59A4-7147-55643092CE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DFC37-3D3B-8D39-9444-573265E9F0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4A734D-E094-A530-DC19-FD2C4B675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11-02-2023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91B6A2-8458-7451-2A2D-37293C348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DAE4B7-62D6-5B1D-87A3-E96DED537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915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E1C91-19DA-671C-A612-13C2E2F46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2076E2-B102-6F95-C30A-C60F08F1B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11-02-2023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47AE1-74C8-A8BB-64BE-942691733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FE1EE7-66E3-79A2-1D49-2E0F3A9B8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172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9C339E-C5AB-33BD-D95E-28FCE3830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11-02-2023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E7BBC7-06CF-FD87-208F-2D7341B69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97E517-4D38-88C0-2300-0AB3E33EA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347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6138B-DF72-703F-DBB1-36A42A3A6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079A3-5153-3A5D-031D-16B2E31EF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127BBF-EF2D-2D3C-093F-73FD74F80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BC483-E220-05A5-198C-A099E7BB9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11-02-2023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65AB3-5AE3-29C3-F5C4-54030FB97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61F02-9944-6B81-7335-98D555AC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720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7FF09-57D5-36CD-B43B-380816041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6EC5B7-CB6E-9AAA-C8C7-E6D0FB1BE8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C5D6A-403A-7E58-56FB-251A70E59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3BB7D6-33F8-7A58-0EBA-CDEF4F443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11-02-2023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4DFE6-067D-A62C-4312-5C682D0B5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9F2B9-813C-9F36-F806-E2EE86CA1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677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6030F-485D-7772-75D4-FC398532E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52DBF5-3CBD-53BF-C120-41051C4BC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60697-B0AA-50E2-FE5A-7194071AD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11-02-2023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14BF3-469D-D7EE-A6FB-A7618EA4D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2A376-3271-D796-74E5-31D745695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049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E2F47E-2B98-EC4B-B19E-416F9046DF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903AD-0B1C-C041-DE64-E628963AF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41F8A-90F8-27F6-2D08-B797464FC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3EBA6-DD91-481F-9C77-646C26D698E0}" type="datetimeFigureOut">
              <a:rPr lang="en-IN" smtClean="0"/>
              <a:t>11-02-2023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B118F-8FBA-B6F9-AB24-AE7664D3D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0706D-C970-AA75-6EC0-4BA1B500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199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C82E76-3AF9-D811-E91E-FF9E8445F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BB10A-34A4-60C0-A8B7-917788C60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A95E1-930D-167F-9979-4456F5D96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3EBA6-DD91-481F-9C77-646C26D698E0}" type="datetimeFigureOut">
              <a:rPr lang="en-IN" smtClean="0"/>
              <a:t>11-02-2023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9FB3A-7929-DF65-94CF-0D5BD022D9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F4399-7651-7350-91A1-8DA1310120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4D181-866D-462A-BC5B-888BF58145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696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dutopia.org/blog/self-organized-learning-sugata-mitra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8B0813-6B6E-7945-6167-767C29DE5652}"/>
              </a:ext>
            </a:extLst>
          </p:cNvPr>
          <p:cNvSpPr/>
          <p:nvPr/>
        </p:nvSpPr>
        <p:spPr>
          <a:xfrm>
            <a:off x="174922" y="151140"/>
            <a:ext cx="111477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ChatGPT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Dialog with an Indian Student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7851B-119B-4AD3-B4AF-C5202E8BFEEA}"/>
              </a:ext>
            </a:extLst>
          </p:cNvPr>
          <p:cNvSpPr txBox="1"/>
          <p:nvPr/>
        </p:nvSpPr>
        <p:spPr>
          <a:xfrm>
            <a:off x="-38532" y="1185788"/>
            <a:ext cx="12326772" cy="57554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S:        I am from a state where all those who know how to spell mathematics are given A  grade. </a:t>
            </a:r>
          </a:p>
          <a:p>
            <a:r>
              <a:rPr lang="en-IN" sz="2000" dirty="0"/>
              <a:t>            After joining in Amrita CSE-AI course , I get  0 marks regularly . What should I do</a:t>
            </a:r>
          </a:p>
          <a:p>
            <a:endParaRPr lang="en-IN" sz="2800" dirty="0"/>
          </a:p>
          <a:p>
            <a:r>
              <a:rPr lang="en-IN" sz="2000" dirty="0" err="1"/>
              <a:t>ChatGPT</a:t>
            </a:r>
            <a:r>
              <a:rPr lang="en-IN" sz="2000" dirty="0"/>
              <a:t>: Change the way of learning.  Mathematics is not ‘gymnastics with symbols’ . </a:t>
            </a:r>
          </a:p>
          <a:p>
            <a:r>
              <a:rPr lang="en-IN" sz="2000" dirty="0"/>
              <a:t>                  One can do computational experiments with simple tools like excel and MATLAB </a:t>
            </a:r>
          </a:p>
          <a:p>
            <a:r>
              <a:rPr lang="en-IN" sz="2000" dirty="0"/>
              <a:t>                   to learn abstract concepts.</a:t>
            </a:r>
          </a:p>
          <a:p>
            <a:r>
              <a:rPr lang="en-IN" sz="2000" dirty="0"/>
              <a:t>S:          But , I do not know programming</a:t>
            </a:r>
          </a:p>
          <a:p>
            <a:endParaRPr lang="en-IN" sz="2000" dirty="0"/>
          </a:p>
          <a:p>
            <a:r>
              <a:rPr lang="en-IN" sz="2000" dirty="0" err="1"/>
              <a:t>ChatGPT</a:t>
            </a:r>
            <a:r>
              <a:rPr lang="en-IN" sz="2000" dirty="0"/>
              <a:t>:   You need not know programming to do computational Experiments.</a:t>
            </a:r>
          </a:p>
          <a:p>
            <a:r>
              <a:rPr lang="en-IN" sz="2000" dirty="0"/>
              <a:t>                    What you need to know only ‘use of commands’. </a:t>
            </a:r>
          </a:p>
          <a:p>
            <a:r>
              <a:rPr lang="en-IN" sz="2000" dirty="0"/>
              <a:t>                    ‘Using Commands’ should not be equated with programming . </a:t>
            </a:r>
          </a:p>
          <a:p>
            <a:r>
              <a:rPr lang="en-IN" sz="2000" dirty="0"/>
              <a:t>                    You need only common sense to master commands. </a:t>
            </a:r>
          </a:p>
          <a:p>
            <a:r>
              <a:rPr lang="en-IN" sz="2000" dirty="0"/>
              <a:t>                    Village school students use Excel for doing computation. One need to know only ‘excel formulas’</a:t>
            </a:r>
          </a:p>
          <a:p>
            <a:r>
              <a:rPr lang="en-IN" sz="2000" dirty="0"/>
              <a:t>                    An experiment was done in 1999 in India. It was called “A hole in the wall” </a:t>
            </a:r>
          </a:p>
          <a:p>
            <a:r>
              <a:rPr lang="en-IN" sz="2000" dirty="0"/>
              <a:t>                    </a:t>
            </a:r>
            <a:r>
              <a:rPr lang="en-IN" sz="2000" dirty="0">
                <a:hlinkClick r:id="rId2"/>
              </a:rPr>
              <a:t>https://www.edutopia.org/blog/self-organized-learning-sugata-mitra</a:t>
            </a:r>
            <a:endParaRPr lang="en-IN" sz="2000" dirty="0"/>
          </a:p>
          <a:p>
            <a:r>
              <a:rPr lang="en-IN" sz="2000" dirty="0"/>
              <a:t>                     It was found that the unfortunate(could not afford to get into schools) slum kids are really fast in learning</a:t>
            </a:r>
          </a:p>
          <a:p>
            <a:r>
              <a:rPr lang="en-IN" sz="2000" dirty="0"/>
              <a:t>                     use of computers on their own (by peer to peer learning) .</a:t>
            </a:r>
          </a:p>
          <a:p>
            <a:r>
              <a:rPr lang="en-IN" sz="2000" dirty="0"/>
              <a:t>                      Why don’t you learn mathematics in the same way.</a:t>
            </a:r>
          </a:p>
        </p:txBody>
      </p:sp>
    </p:spTree>
    <p:extLst>
      <p:ext uri="{BB962C8B-B14F-4D97-AF65-F5344CB8AC3E}">
        <p14:creationId xmlns:p14="http://schemas.microsoft.com/office/powerpoint/2010/main" val="1480936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2110E28-1174-795D-0863-C95A18F568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307330"/>
              </p:ext>
            </p:extLst>
          </p:nvPr>
        </p:nvGraphicFramePr>
        <p:xfrm>
          <a:off x="453640" y="1038097"/>
          <a:ext cx="10996612" cy="5464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337080" imgH="3149280" progId="Equation.DSMT4">
                  <p:embed/>
                </p:oleObj>
              </mc:Choice>
              <mc:Fallback>
                <p:oleObj name="Equation" r:id="rId2" imgW="6337080" imgH="3149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3640" y="1038097"/>
                        <a:ext cx="10996612" cy="54641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8A80412-CEF7-F4B2-1951-F155ED140B7D}"/>
              </a:ext>
            </a:extLst>
          </p:cNvPr>
          <p:cNvSpPr/>
          <p:nvPr/>
        </p:nvSpPr>
        <p:spPr>
          <a:xfrm>
            <a:off x="1392495" y="114767"/>
            <a:ext cx="75452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Sample Questions for Viva</a:t>
            </a:r>
          </a:p>
        </p:txBody>
      </p:sp>
    </p:spTree>
    <p:extLst>
      <p:ext uri="{BB962C8B-B14F-4D97-AF65-F5344CB8AC3E}">
        <p14:creationId xmlns:p14="http://schemas.microsoft.com/office/powerpoint/2010/main" val="3730649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8A8FDFD-9D40-ADCB-4174-85039C3D0A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5801697"/>
              </p:ext>
            </p:extLst>
          </p:nvPr>
        </p:nvGraphicFramePr>
        <p:xfrm>
          <a:off x="384119" y="1749949"/>
          <a:ext cx="9891713" cy="352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02040" imgH="2031840" progId="Equation.DSMT4">
                  <p:embed/>
                </p:oleObj>
              </mc:Choice>
              <mc:Fallback>
                <p:oleObj name="Equation" r:id="rId2" imgW="5702040" imgH="203184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05035F8B-1E34-C85E-6F95-89098D04D7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4119" y="1749949"/>
                        <a:ext cx="9891713" cy="3524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042C607-11C7-230D-962D-DDA4FCF1D166}"/>
              </a:ext>
            </a:extLst>
          </p:cNvPr>
          <p:cNvSpPr/>
          <p:nvPr/>
        </p:nvSpPr>
        <p:spPr>
          <a:xfrm>
            <a:off x="1392495" y="114767"/>
            <a:ext cx="75452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Sample Questions for Viva</a:t>
            </a:r>
          </a:p>
        </p:txBody>
      </p:sp>
    </p:spTree>
    <p:extLst>
      <p:ext uri="{BB962C8B-B14F-4D97-AF65-F5344CB8AC3E}">
        <p14:creationId xmlns:p14="http://schemas.microsoft.com/office/powerpoint/2010/main" val="1711011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5035F8B-1E34-C85E-6F95-89098D04D7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3711972"/>
              </p:ext>
            </p:extLst>
          </p:nvPr>
        </p:nvGraphicFramePr>
        <p:xfrm>
          <a:off x="268413" y="1614595"/>
          <a:ext cx="11655173" cy="3832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45320" imgH="2514600" progId="Equation.DSMT4">
                  <p:embed/>
                </p:oleObj>
              </mc:Choice>
              <mc:Fallback>
                <p:oleObj name="Equation" r:id="rId2" imgW="7645320" imgH="251460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32110E28-1174-795D-0863-C95A18F568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8413" y="1614595"/>
                        <a:ext cx="11655173" cy="38320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467DAC9-93AF-4D04-EB3C-0A9EDE4CA688}"/>
              </a:ext>
            </a:extLst>
          </p:cNvPr>
          <p:cNvSpPr/>
          <p:nvPr/>
        </p:nvSpPr>
        <p:spPr>
          <a:xfrm>
            <a:off x="1224586" y="107102"/>
            <a:ext cx="75452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Sample Questions for Viva</a:t>
            </a:r>
          </a:p>
        </p:txBody>
      </p:sp>
    </p:spTree>
    <p:extLst>
      <p:ext uri="{BB962C8B-B14F-4D97-AF65-F5344CB8AC3E}">
        <p14:creationId xmlns:p14="http://schemas.microsoft.com/office/powerpoint/2010/main" val="2763647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DF02C15-F823-32B3-8793-6313A533F5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1133452"/>
              </p:ext>
            </p:extLst>
          </p:nvPr>
        </p:nvGraphicFramePr>
        <p:xfrm>
          <a:off x="378916" y="1854049"/>
          <a:ext cx="10861675" cy="240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24400" imgH="1574640" progId="Equation.DSMT4">
                  <p:embed/>
                </p:oleObj>
              </mc:Choice>
              <mc:Fallback>
                <p:oleObj name="Equation" r:id="rId2" imgW="7124400" imgH="157464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05035F8B-1E34-C85E-6F95-89098D04D7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8916" y="1854049"/>
                        <a:ext cx="10861675" cy="2400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7D27B94-359E-5EA9-C6CF-6A9ABB3FA1B6}"/>
              </a:ext>
            </a:extLst>
          </p:cNvPr>
          <p:cNvSpPr/>
          <p:nvPr/>
        </p:nvSpPr>
        <p:spPr>
          <a:xfrm>
            <a:off x="1224586" y="107102"/>
            <a:ext cx="75452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Sample Questions for Viva</a:t>
            </a:r>
          </a:p>
        </p:txBody>
      </p:sp>
    </p:spTree>
    <p:extLst>
      <p:ext uri="{BB962C8B-B14F-4D97-AF65-F5344CB8AC3E}">
        <p14:creationId xmlns:p14="http://schemas.microsoft.com/office/powerpoint/2010/main" val="1232445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CB0044-2358-A1E3-13FF-A1CCEE4B7417}"/>
              </a:ext>
            </a:extLst>
          </p:cNvPr>
          <p:cNvSpPr txBox="1"/>
          <p:nvPr/>
        </p:nvSpPr>
        <p:spPr>
          <a:xfrm>
            <a:off x="382432" y="1554264"/>
            <a:ext cx="639730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Experiments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Set Theory Problem solving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Find number of numbers divisible 2 or 5 in 1 to 100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effectLst/>
                <a:latin typeface="Menlo"/>
              </a:rPr>
              <a:t>clear </a:t>
            </a:r>
            <a:r>
              <a:rPr lang="en-US" sz="1800" b="0" i="0" dirty="0">
                <a:solidFill>
                  <a:srgbClr val="A709F5"/>
                </a:solidFill>
                <a:effectLst/>
                <a:latin typeface="Menlo"/>
              </a:rPr>
              <a:t>all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dirty="0">
                <a:latin typeface="Menlo"/>
              </a:rPr>
              <a:t>X</a:t>
            </a:r>
            <a:r>
              <a:rPr lang="en-US" sz="1800" b="0" i="0" dirty="0">
                <a:effectLst/>
                <a:latin typeface="Menlo"/>
              </a:rPr>
              <a:t>=100;</a:t>
            </a:r>
          </a:p>
          <a:p>
            <a:r>
              <a:rPr lang="en-US" sz="1800" b="0" i="0" dirty="0">
                <a:effectLst/>
                <a:latin typeface="Menlo"/>
              </a:rPr>
              <a:t>N2=floor(X/2);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50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effectLst/>
                <a:latin typeface="Menlo"/>
              </a:rPr>
              <a:t>N5=floor(X/5) 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20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effectLst/>
                <a:latin typeface="Menlo"/>
              </a:rPr>
              <a:t>N10=floor(X/10);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10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effectLst/>
                <a:latin typeface="Menlo"/>
              </a:rPr>
              <a:t>N2Or5=N2+N5-N10 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%50+20-10=60</a:t>
            </a:r>
            <a:endParaRPr lang="en-US" sz="1800" b="0" i="0" dirty="0">
              <a:effectLst/>
              <a:latin typeface="Menl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F96FA1-ACFE-6BFA-745E-8FEBFAAA7610}"/>
              </a:ext>
            </a:extLst>
          </p:cNvPr>
          <p:cNvSpPr txBox="1"/>
          <p:nvPr/>
        </p:nvSpPr>
        <p:spPr>
          <a:xfrm>
            <a:off x="493644" y="4272677"/>
            <a:ext cx="639730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Experiments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Set Theory Problem solving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Find number of numbers divisible 2 or  5 but not both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effectLst/>
                <a:latin typeface="Menlo"/>
              </a:rPr>
              <a:t>clear </a:t>
            </a:r>
            <a:r>
              <a:rPr lang="en-US" sz="1800" b="0" i="0" dirty="0">
                <a:solidFill>
                  <a:srgbClr val="A709F5"/>
                </a:solidFill>
                <a:effectLst/>
                <a:latin typeface="Menlo"/>
              </a:rPr>
              <a:t>all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dirty="0">
                <a:latin typeface="Menlo"/>
              </a:rPr>
              <a:t>X</a:t>
            </a:r>
            <a:r>
              <a:rPr lang="en-US" sz="1800" b="0" i="0" dirty="0">
                <a:effectLst/>
                <a:latin typeface="Menlo"/>
              </a:rPr>
              <a:t>=100;</a:t>
            </a:r>
          </a:p>
          <a:p>
            <a:r>
              <a:rPr lang="en-US" sz="1800" b="0" i="0" dirty="0">
                <a:effectLst/>
                <a:latin typeface="Menlo"/>
              </a:rPr>
              <a:t>N2=floor(X/2);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50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effectLst/>
                <a:latin typeface="Menlo"/>
              </a:rPr>
              <a:t>N5=floor(X/5) 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20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effectLst/>
                <a:latin typeface="Menlo"/>
              </a:rPr>
              <a:t>N10=floor(X/10);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 10</a:t>
            </a:r>
            <a:endParaRPr lang="en-US" sz="1800" b="0" i="0" dirty="0">
              <a:effectLst/>
              <a:latin typeface="Menlo"/>
            </a:endParaRPr>
          </a:p>
          <a:p>
            <a:r>
              <a:rPr lang="en-US" sz="1800" b="0" i="0" dirty="0">
                <a:effectLst/>
                <a:latin typeface="Menlo"/>
              </a:rPr>
              <a:t>N2or5=N2+N5-2*N10 ;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Menlo"/>
              </a:rPr>
              <a:t>%50+20-20=50</a:t>
            </a:r>
            <a:endParaRPr lang="en-US" sz="1800" b="0" i="0" dirty="0">
              <a:effectLst/>
              <a:latin typeface="Menlo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1DF964-DFB1-E45E-5AF8-583D84ED4C9F}"/>
              </a:ext>
            </a:extLst>
          </p:cNvPr>
          <p:cNvSpPr/>
          <p:nvPr/>
        </p:nvSpPr>
        <p:spPr>
          <a:xfrm>
            <a:off x="1595049" y="128772"/>
            <a:ext cx="849117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Get 8</a:t>
            </a:r>
            <a:r>
              <a:rPr lang="en-US" sz="4000" baseline="30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</a:t>
            </a: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std problem solved using </a:t>
            </a:r>
            <a:r>
              <a:rPr lang="en-US" sz="4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Matlab</a:t>
            </a:r>
            <a:endParaRPr 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E99D0-CA8E-23E1-9182-4F905C0E1C7C}"/>
              </a:ext>
            </a:extLst>
          </p:cNvPr>
          <p:cNvSpPr/>
          <p:nvPr/>
        </p:nvSpPr>
        <p:spPr>
          <a:xfrm>
            <a:off x="1236882" y="779833"/>
            <a:ext cx="873796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Prerequisite: A pass in seventh standard</a:t>
            </a:r>
            <a:endParaRPr 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E2F7A85D-FD56-B5B4-2F85-BAF5ADFFE5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3724379"/>
              </p:ext>
            </p:extLst>
          </p:nvPr>
        </p:nvGraphicFramePr>
        <p:xfrm>
          <a:off x="6053861" y="1651222"/>
          <a:ext cx="6132513" cy="302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65560" imgH="2057400" progId="Equation.DSMT4">
                  <p:embed/>
                </p:oleObj>
              </mc:Choice>
              <mc:Fallback>
                <p:oleObj name="Equation" r:id="rId2" imgW="4165560" imgH="2057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53861" y="1651222"/>
                        <a:ext cx="6132513" cy="3027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DC5A185-B557-601D-CC08-E2AA268932B3}"/>
              </a:ext>
            </a:extLst>
          </p:cNvPr>
          <p:cNvSpPr/>
          <p:nvPr/>
        </p:nvSpPr>
        <p:spPr>
          <a:xfrm>
            <a:off x="6053861" y="5306627"/>
            <a:ext cx="564449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Function used floor</a:t>
            </a:r>
          </a:p>
        </p:txBody>
      </p:sp>
    </p:spTree>
    <p:extLst>
      <p:ext uri="{BB962C8B-B14F-4D97-AF65-F5344CB8AC3E}">
        <p14:creationId xmlns:p14="http://schemas.microsoft.com/office/powerpoint/2010/main" val="1175785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AA6E96-B5CA-AA78-0376-47DE393828B2}"/>
              </a:ext>
            </a:extLst>
          </p:cNvPr>
          <p:cNvSpPr/>
          <p:nvPr/>
        </p:nvSpPr>
        <p:spPr>
          <a:xfrm>
            <a:off x="2419056" y="128772"/>
            <a:ext cx="684315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problem solved using </a:t>
            </a:r>
            <a:r>
              <a:rPr lang="en-US" sz="4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Matlab</a:t>
            </a:r>
            <a:endParaRPr lang="en-US" sz="4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73B371-DD8C-B839-165C-C6135D1C6D2A}"/>
              </a:ext>
            </a:extLst>
          </p:cNvPr>
          <p:cNvSpPr/>
          <p:nvPr/>
        </p:nvSpPr>
        <p:spPr>
          <a:xfrm>
            <a:off x="130842" y="1377562"/>
            <a:ext cx="596515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 Generation of matrix with given Rank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1A0A70-2FFF-0C4A-1DBC-762E8DD04985}"/>
              </a:ext>
            </a:extLst>
          </p:cNvPr>
          <p:cNvSpPr/>
          <p:nvPr/>
        </p:nvSpPr>
        <p:spPr>
          <a:xfrm>
            <a:off x="84507" y="2077379"/>
            <a:ext cx="11512254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 Generation of independent vectors which are orthogonal to given</a:t>
            </a:r>
          </a:p>
          <a:p>
            <a:r>
              <a:rPr 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set of vectors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9BEA8B-CA2B-562B-35B3-C2516FADB25E}"/>
              </a:ext>
            </a:extLst>
          </p:cNvPr>
          <p:cNvSpPr/>
          <p:nvPr/>
        </p:nvSpPr>
        <p:spPr>
          <a:xfrm>
            <a:off x="130842" y="3265291"/>
            <a:ext cx="665560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Generation of orthogonal square matrices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73996D-09AD-26E3-6319-18016FD490AC}"/>
              </a:ext>
            </a:extLst>
          </p:cNvPr>
          <p:cNvSpPr/>
          <p:nvPr/>
        </p:nvSpPr>
        <p:spPr>
          <a:xfrm>
            <a:off x="130842" y="4133708"/>
            <a:ext cx="743421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 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Generation of infinite solution to Ax=b if it exist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703AB3-A705-F352-5936-0E44F740F974}"/>
              </a:ext>
            </a:extLst>
          </p:cNvPr>
          <p:cNvSpPr/>
          <p:nvPr/>
        </p:nvSpPr>
        <p:spPr>
          <a:xfrm>
            <a:off x="146836" y="5036834"/>
            <a:ext cx="318253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5. </a:t>
            </a:r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 decomposition</a:t>
            </a:r>
          </a:p>
        </p:txBody>
      </p:sp>
    </p:spTree>
    <p:extLst>
      <p:ext uri="{BB962C8B-B14F-4D97-AF65-F5344CB8AC3E}">
        <p14:creationId xmlns:p14="http://schemas.microsoft.com/office/powerpoint/2010/main" val="148537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1059</TotalTime>
  <Words>452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Menlo</vt:lpstr>
      <vt:lpstr>Office Theme</vt:lpstr>
      <vt:lpstr>MathType 7.0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Soman K.P (CEN)</dc:creator>
  <cp:lastModifiedBy>Dr. Soman K.P (CEN)</cp:lastModifiedBy>
  <cp:revision>12</cp:revision>
  <dcterms:created xsi:type="dcterms:W3CDTF">2023-02-11T09:15:21Z</dcterms:created>
  <dcterms:modified xsi:type="dcterms:W3CDTF">2023-02-12T02:55:20Z</dcterms:modified>
</cp:coreProperties>
</file>