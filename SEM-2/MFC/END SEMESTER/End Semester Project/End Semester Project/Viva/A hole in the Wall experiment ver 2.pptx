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5536-4CA6-CAF2-56DE-2BB8D77BD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D9517-EC05-C184-0124-E4E190549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9E46-76A1-DA72-4627-D9A50CC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2F333-06D1-25EB-70B7-30884A79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5302-67A6-3B3A-4AB2-E3F35C43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8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C323-4A6E-AC96-F9B2-90B8B44F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7DDA-1D26-7BC8-4972-FFD20295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133A4-419A-7E22-3BD9-AA3706F6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21BAE-F98B-6610-37F3-48A2C421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CDA4-D331-DEBD-CD17-AE1F7EB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8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5BF7-1418-75AA-2250-9269B808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205C-896F-E295-950C-3E83A9C04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3DC8-16AA-6FF9-F08B-3F0340EB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0864-5653-EF9F-7D08-03E4CF6B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EBAF-2844-238E-7A40-03D99651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7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476F-2A4D-B526-14E8-41EA7CCA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2FB1-9ACB-5C8D-A139-E04A23C69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B6D1F-20B0-1373-FE8C-868ABAD9E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56CB-FA08-46C9-C80E-7F595044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A3FAE-F449-8CFC-BCE3-BA4FDD61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77C0-7C7F-2180-DDF0-F7DEDD46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7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4676-D067-6D8B-0A00-D557F44E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CE39-9554-E211-C837-E5732FB80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6AB3E-C4CE-67D4-7DEF-EFA384A3A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FFD12-F904-59A4-7147-55643092C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DFC37-3D3B-8D39-9444-573265E9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A734D-E094-A530-DC19-FD2C4B6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1B6A2-8458-7451-2A2D-37293C34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AE4B7-62D6-5B1D-87A3-E96DED53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1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C91-19DA-671C-A612-13C2E2F4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076E2-B102-6F95-C30A-C60F08F1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7AE1-74C8-A8BB-64BE-94269173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E1EE7-66E3-79A2-1D49-2E0F3A9B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7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C339E-C5AB-33BD-D95E-28FCE383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7BBC7-06CF-FD87-208F-2D7341B6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E517-4D38-88C0-2300-0AB3E33E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34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138B-DF72-703F-DBB1-36A42A3A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79A3-5153-3A5D-031D-16B2E31E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27BBF-EF2D-2D3C-093F-73FD74F80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C483-E220-05A5-198C-A099E7BB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65AB3-5AE3-29C3-F5C4-54030FB9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61F02-9944-6B81-7335-98D555AC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FF09-57D5-36CD-B43B-38081604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EC5B7-CB6E-9AAA-C8C7-E6D0FB1BE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C5D6A-403A-7E58-56FB-251A70E5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BB7D6-33F8-7A58-0EBA-CDEF4F44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DFE6-067D-A62C-4312-5C682D0B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9F2B9-813C-9F36-F806-E2EE86C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7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030F-485D-7772-75D4-FC398532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2DBF5-3CBD-53BF-C120-41051C4BC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0697-B0AA-50E2-FE5A-7194071A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4BF3-469D-D7EE-A6FB-A7618EA4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A376-3271-D796-74E5-31D74569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4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2F47E-2B98-EC4B-B19E-416F9046D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903AD-0B1C-C041-DE64-E628963AF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1F8A-90F8-27F6-2D08-B797464F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118F-8FBA-B6F9-AB24-AE7664D3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706D-C970-AA75-6EC0-4BA1B500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9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82E76-3AF9-D811-E91E-FF9E8445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BB10A-34A4-60C0-A8B7-917788C60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A95E1-930D-167F-9979-4456F5D96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3EBA6-DD91-481F-9C77-646C26D698E0}" type="datetimeFigureOut">
              <a:rPr lang="en-IN" smtClean="0"/>
              <a:t>12-02-2023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FB3A-7929-DF65-94CF-0D5BD022D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F4399-7651-7350-91A1-8DA131012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9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topia.org/blog/self-organized-learning-sugata-mitr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B0813-6B6E-7945-6167-767C29DE5652}"/>
              </a:ext>
            </a:extLst>
          </p:cNvPr>
          <p:cNvSpPr/>
          <p:nvPr/>
        </p:nvSpPr>
        <p:spPr>
          <a:xfrm>
            <a:off x="2230550" y="151140"/>
            <a:ext cx="703654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 Indian Student’s Dialog with </a:t>
            </a:r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ChatGPT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7851B-119B-4AD3-B4AF-C5202E8BFEEA}"/>
              </a:ext>
            </a:extLst>
          </p:cNvPr>
          <p:cNvSpPr txBox="1"/>
          <p:nvPr/>
        </p:nvSpPr>
        <p:spPr>
          <a:xfrm>
            <a:off x="-57665" y="735915"/>
            <a:ext cx="1249611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S:        I am from an Indian state where all those who know how to spell mathematics are given A  grade. </a:t>
            </a:r>
          </a:p>
          <a:p>
            <a:r>
              <a:rPr lang="en-IN" sz="2000" dirty="0"/>
              <a:t>            After joining in Amrita’s  CSE-AI course , I get  0 marks regularly . What should I do?</a:t>
            </a:r>
          </a:p>
          <a:p>
            <a:r>
              <a:rPr lang="en-IN" sz="1600" dirty="0" err="1"/>
              <a:t>ChatGPT</a:t>
            </a:r>
            <a:r>
              <a:rPr lang="en-IN" sz="2000" dirty="0"/>
              <a:t>: Change the way of learning.  Mathematics is not ‘gymnastics with symbols’  or  ‘formula substitutions’. </a:t>
            </a:r>
          </a:p>
          <a:p>
            <a:r>
              <a:rPr lang="en-IN" sz="2000" dirty="0"/>
              <a:t>                  One can do computational experiments with simple tools like excel and MATLAB  to learn abstract concepts. </a:t>
            </a:r>
          </a:p>
          <a:p>
            <a:r>
              <a:rPr lang="en-IN" sz="2000" dirty="0"/>
              <a:t>                   By the way, ‘0’ is one of the great invention by Indians. </a:t>
            </a:r>
          </a:p>
          <a:p>
            <a:r>
              <a:rPr lang="en-IN" sz="2000" dirty="0"/>
              <a:t>                   It should be preceded by other integers to have real ‘market value’  for your degree</a:t>
            </a:r>
          </a:p>
          <a:p>
            <a:r>
              <a:rPr lang="en-IN" sz="2000" dirty="0"/>
              <a:t>                   Any achievement requires ‘Hard work’ and ‘Application of common sense’ as a “prior” </a:t>
            </a:r>
          </a:p>
          <a:p>
            <a:r>
              <a:rPr lang="en-IN" sz="2000" dirty="0"/>
              <a:t>S:          But , I do not know programming</a:t>
            </a:r>
          </a:p>
          <a:p>
            <a:r>
              <a:rPr lang="en-IN" sz="1600" dirty="0" err="1"/>
              <a:t>ChatGPT</a:t>
            </a:r>
            <a:r>
              <a:rPr lang="en-IN" sz="2000" dirty="0"/>
              <a:t>:  You need not know programming to do computational Experiments.</a:t>
            </a:r>
          </a:p>
          <a:p>
            <a:r>
              <a:rPr lang="en-IN" sz="2000" dirty="0"/>
              <a:t>                What you need to know is only use of ’commands’. </a:t>
            </a:r>
          </a:p>
          <a:p>
            <a:r>
              <a:rPr lang="en-IN" sz="2000" dirty="0"/>
              <a:t>                 ‘Using Commands’ should not be equated with programming . </a:t>
            </a:r>
          </a:p>
          <a:p>
            <a:r>
              <a:rPr lang="en-IN" sz="2000" dirty="0"/>
              <a:t>                 You need only ‘common sense’ to master commands. </a:t>
            </a:r>
          </a:p>
          <a:p>
            <a:r>
              <a:rPr lang="en-IN" sz="2000" dirty="0"/>
              <a:t>                 Smart Village school students use ‘MS Excel’ for doing computational experiments and programming. </a:t>
            </a:r>
          </a:p>
          <a:p>
            <a:r>
              <a:rPr lang="en-IN" sz="2000" dirty="0"/>
              <a:t>                 For effective use of Excel,  one need only to know  about ‘excel formulas’</a:t>
            </a:r>
          </a:p>
          <a:p>
            <a:r>
              <a:rPr lang="en-IN" sz="2000" dirty="0"/>
              <a:t>                 An experiment was done in 1999 in India. It was called “A hole in the wall” </a:t>
            </a:r>
          </a:p>
          <a:p>
            <a:r>
              <a:rPr lang="en-IN" sz="2000" dirty="0"/>
              <a:t>                  </a:t>
            </a:r>
            <a:r>
              <a:rPr lang="en-IN" sz="2000" dirty="0">
                <a:hlinkClick r:id="rId2"/>
              </a:rPr>
              <a:t>https://www.edutopia.org/blog/self-organized-learning-sugata-mitra</a:t>
            </a:r>
            <a:endParaRPr lang="en-IN" sz="2000" dirty="0"/>
          </a:p>
          <a:p>
            <a:r>
              <a:rPr lang="en-IN" sz="2000" dirty="0"/>
              <a:t>                 It was found that the unfortunate(could not afford to get into schools) slum kids were  really fast in learning</a:t>
            </a:r>
          </a:p>
          <a:p>
            <a:r>
              <a:rPr lang="en-IN" sz="2000" dirty="0"/>
              <a:t>                 use of computers on their own (by peer to peer learning) .</a:t>
            </a:r>
          </a:p>
          <a:p>
            <a:r>
              <a:rPr lang="en-IN" sz="2000" dirty="0"/>
              <a:t>                 Why don’t you learn mathematics and coding  in the same way. Collaborate and learn</a:t>
            </a:r>
          </a:p>
        </p:txBody>
      </p:sp>
    </p:spTree>
    <p:extLst>
      <p:ext uri="{BB962C8B-B14F-4D97-AF65-F5344CB8AC3E}">
        <p14:creationId xmlns:p14="http://schemas.microsoft.com/office/powerpoint/2010/main" val="148093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2110E28-1174-795D-0863-C95A18F56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682045"/>
              </p:ext>
            </p:extLst>
          </p:nvPr>
        </p:nvGraphicFramePr>
        <p:xfrm>
          <a:off x="156176" y="848754"/>
          <a:ext cx="11017250" cy="546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9680" imgH="3149280" progId="Equation.DSMT4">
                  <p:embed/>
                </p:oleObj>
              </mc:Choice>
              <mc:Fallback>
                <p:oleObj name="Equation" r:id="rId2" imgW="6349680" imgH="314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176" y="848754"/>
                        <a:ext cx="11017250" cy="546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8A80412-CEF7-F4B2-1951-F155ED140B7D}"/>
              </a:ext>
            </a:extLst>
          </p:cNvPr>
          <p:cNvSpPr/>
          <p:nvPr/>
        </p:nvSpPr>
        <p:spPr>
          <a:xfrm>
            <a:off x="678199" y="114767"/>
            <a:ext cx="89738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MFC Viva</a:t>
            </a:r>
          </a:p>
        </p:txBody>
      </p:sp>
    </p:spTree>
    <p:extLst>
      <p:ext uri="{BB962C8B-B14F-4D97-AF65-F5344CB8AC3E}">
        <p14:creationId xmlns:p14="http://schemas.microsoft.com/office/powerpoint/2010/main" val="37306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8A8FDFD-9D40-ADCB-4174-85039C3D0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545135"/>
              </p:ext>
            </p:extLst>
          </p:nvPr>
        </p:nvGraphicFramePr>
        <p:xfrm>
          <a:off x="65902" y="1576953"/>
          <a:ext cx="11897727" cy="4238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02040" imgH="2031840" progId="Equation.DSMT4">
                  <p:embed/>
                </p:oleObj>
              </mc:Choice>
              <mc:Fallback>
                <p:oleObj name="Equation" r:id="rId2" imgW="5702040" imgH="20318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5035F8B-1E34-C85E-6F95-89098D04D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902" y="1576953"/>
                        <a:ext cx="11897727" cy="4238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042C607-11C7-230D-962D-DDA4FCF1D166}"/>
              </a:ext>
            </a:extLst>
          </p:cNvPr>
          <p:cNvSpPr/>
          <p:nvPr/>
        </p:nvSpPr>
        <p:spPr>
          <a:xfrm>
            <a:off x="65902" y="118758"/>
            <a:ext cx="109958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coding Questions for MFC Viva</a:t>
            </a:r>
          </a:p>
        </p:txBody>
      </p:sp>
    </p:spTree>
    <p:extLst>
      <p:ext uri="{BB962C8B-B14F-4D97-AF65-F5344CB8AC3E}">
        <p14:creationId xmlns:p14="http://schemas.microsoft.com/office/powerpoint/2010/main" val="171101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5035F8B-1E34-C85E-6F95-89098D04D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534487"/>
              </p:ext>
            </p:extLst>
          </p:nvPr>
        </p:nvGraphicFramePr>
        <p:xfrm>
          <a:off x="258763" y="1614488"/>
          <a:ext cx="11674475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57920" imgH="2514600" progId="Equation.DSMT4">
                  <p:embed/>
                </p:oleObj>
              </mc:Choice>
              <mc:Fallback>
                <p:oleObj name="Equation" r:id="rId2" imgW="7657920" imgH="2514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2110E28-1174-795D-0863-C95A18F56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8763" y="1614488"/>
                        <a:ext cx="11674475" cy="383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467DAC9-93AF-4D04-EB3C-0A9EDE4CA688}"/>
              </a:ext>
            </a:extLst>
          </p:cNvPr>
          <p:cNvSpPr/>
          <p:nvPr/>
        </p:nvSpPr>
        <p:spPr>
          <a:xfrm>
            <a:off x="1365586" y="107102"/>
            <a:ext cx="72632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in Viva</a:t>
            </a:r>
          </a:p>
        </p:txBody>
      </p:sp>
    </p:spTree>
    <p:extLst>
      <p:ext uri="{BB962C8B-B14F-4D97-AF65-F5344CB8AC3E}">
        <p14:creationId xmlns:p14="http://schemas.microsoft.com/office/powerpoint/2010/main" val="276364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DF02C15-F823-32B3-8793-6313A533F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339220"/>
              </p:ext>
            </p:extLst>
          </p:nvPr>
        </p:nvGraphicFramePr>
        <p:xfrm>
          <a:off x="255349" y="1433920"/>
          <a:ext cx="108616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24400" imgH="1574640" progId="Equation.DSMT4">
                  <p:embed/>
                </p:oleObj>
              </mc:Choice>
              <mc:Fallback>
                <p:oleObj name="Equation" r:id="rId2" imgW="7124400" imgH="15746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5035F8B-1E34-C85E-6F95-89098D04D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349" y="1433920"/>
                        <a:ext cx="10861675" cy="24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7D27B94-359E-5EA9-C6CF-6A9ABB3FA1B6}"/>
              </a:ext>
            </a:extLst>
          </p:cNvPr>
          <p:cNvSpPr/>
          <p:nvPr/>
        </p:nvSpPr>
        <p:spPr>
          <a:xfrm>
            <a:off x="276027" y="107102"/>
            <a:ext cx="94423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coding Questions in  Viva</a:t>
            </a:r>
          </a:p>
        </p:txBody>
      </p:sp>
    </p:spTree>
    <p:extLst>
      <p:ext uri="{BB962C8B-B14F-4D97-AF65-F5344CB8AC3E}">
        <p14:creationId xmlns:p14="http://schemas.microsoft.com/office/powerpoint/2010/main" val="123244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B0044-2358-A1E3-13FF-A1CCEE4B7417}"/>
              </a:ext>
            </a:extLst>
          </p:cNvPr>
          <p:cNvSpPr txBox="1"/>
          <p:nvPr/>
        </p:nvSpPr>
        <p:spPr>
          <a:xfrm>
            <a:off x="382432" y="1554264"/>
            <a:ext cx="63973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Experiments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Set Theory Problem solving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Find number of numbers divisible 2 or 5 in 1 to 100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clear 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dirty="0">
                <a:latin typeface="Menlo"/>
              </a:rPr>
              <a:t>X</a:t>
            </a:r>
            <a:r>
              <a:rPr lang="en-US" sz="1800" b="0" i="0" dirty="0">
                <a:effectLst/>
                <a:latin typeface="Menlo"/>
              </a:rPr>
              <a:t>=100;</a:t>
            </a:r>
          </a:p>
          <a:p>
            <a:r>
              <a:rPr lang="en-US" sz="1800" b="0" i="0" dirty="0">
                <a:effectLst/>
                <a:latin typeface="Menlo"/>
              </a:rPr>
              <a:t>N2=floor(X/2);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50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N5=floor(X/5)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20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N10=floor(X/10);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10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N2Or5=N2+N5-N10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%50+20-10=60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96FA1-ACFE-6BFA-745E-8FEBFAAA7610}"/>
              </a:ext>
            </a:extLst>
          </p:cNvPr>
          <p:cNvSpPr txBox="1"/>
          <p:nvPr/>
        </p:nvSpPr>
        <p:spPr>
          <a:xfrm>
            <a:off x="493644" y="4272677"/>
            <a:ext cx="63973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Experiments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Set Theory Problem solving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Find number of numbers divisible 2 or  5 but not both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clear 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dirty="0">
                <a:latin typeface="Menlo"/>
              </a:rPr>
              <a:t>X</a:t>
            </a:r>
            <a:r>
              <a:rPr lang="en-US" sz="1800" b="0" i="0" dirty="0">
                <a:effectLst/>
                <a:latin typeface="Menlo"/>
              </a:rPr>
              <a:t>=100;</a:t>
            </a:r>
          </a:p>
          <a:p>
            <a:r>
              <a:rPr lang="en-US" sz="1800" b="0" i="0" dirty="0">
                <a:effectLst/>
                <a:latin typeface="Menlo"/>
              </a:rPr>
              <a:t>N2=floor(X/2);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50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N5=floor(X/5)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20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N10=floor(X/10);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10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N2or5=N2+N5-2*N10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%50+20-20=50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DF964-DFB1-E45E-5AF8-583D84ED4C9F}"/>
              </a:ext>
            </a:extLst>
          </p:cNvPr>
          <p:cNvSpPr/>
          <p:nvPr/>
        </p:nvSpPr>
        <p:spPr>
          <a:xfrm>
            <a:off x="1595049" y="128772"/>
            <a:ext cx="84911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8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std problem solved using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E99D0-CA8E-23E1-9182-4F905C0E1C7C}"/>
              </a:ext>
            </a:extLst>
          </p:cNvPr>
          <p:cNvSpPr/>
          <p:nvPr/>
        </p:nvSpPr>
        <p:spPr>
          <a:xfrm>
            <a:off x="1236882" y="779833"/>
            <a:ext cx="873796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Prerequisite: A pass in seventh standard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F7A85D-FD56-B5B4-2F85-BAF5ADFFE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428859"/>
              </p:ext>
            </p:extLst>
          </p:nvPr>
        </p:nvGraphicFramePr>
        <p:xfrm>
          <a:off x="5840634" y="1620809"/>
          <a:ext cx="6132512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560" imgH="2323800" progId="Equation.DSMT4">
                  <p:embed/>
                </p:oleObj>
              </mc:Choice>
              <mc:Fallback>
                <p:oleObj name="Equation" r:id="rId2" imgW="4165560" imgH="232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0634" y="1620809"/>
                        <a:ext cx="6132512" cy="341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DC5A185-B557-601D-CC08-E2AA268932B3}"/>
              </a:ext>
            </a:extLst>
          </p:cNvPr>
          <p:cNvSpPr/>
          <p:nvPr/>
        </p:nvSpPr>
        <p:spPr>
          <a:xfrm>
            <a:off x="6053861" y="5306627"/>
            <a:ext cx="56444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used floor</a:t>
            </a:r>
          </a:p>
        </p:txBody>
      </p:sp>
    </p:spTree>
    <p:extLst>
      <p:ext uri="{BB962C8B-B14F-4D97-AF65-F5344CB8AC3E}">
        <p14:creationId xmlns:p14="http://schemas.microsoft.com/office/powerpoint/2010/main" val="117578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AA6E96-B5CA-AA78-0376-47DE393828B2}"/>
              </a:ext>
            </a:extLst>
          </p:cNvPr>
          <p:cNvSpPr/>
          <p:nvPr/>
        </p:nvSpPr>
        <p:spPr>
          <a:xfrm>
            <a:off x="3402403" y="128772"/>
            <a:ext cx="48764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problems in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3B371-DD8C-B839-165C-C6135D1C6D2A}"/>
              </a:ext>
            </a:extLst>
          </p:cNvPr>
          <p:cNvSpPr/>
          <p:nvPr/>
        </p:nvSpPr>
        <p:spPr>
          <a:xfrm>
            <a:off x="309384" y="1237202"/>
            <a:ext cx="707713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Generation of integer matrix with given Rank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A0A70-2FFF-0C4A-1DBC-762E8DD04985}"/>
              </a:ext>
            </a:extLst>
          </p:cNvPr>
          <p:cNvSpPr/>
          <p:nvPr/>
        </p:nvSpPr>
        <p:spPr>
          <a:xfrm>
            <a:off x="146836" y="1946574"/>
            <a:ext cx="11512254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Generation of independent vectors which are orthogonal to given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set of vectors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BEA8B-CA2B-562B-35B3-C2516FADB25E}"/>
              </a:ext>
            </a:extLst>
          </p:cNvPr>
          <p:cNvSpPr/>
          <p:nvPr/>
        </p:nvSpPr>
        <p:spPr>
          <a:xfrm>
            <a:off x="130842" y="3265291"/>
            <a:ext cx="665560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Generation of orthogonal square matrices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3996D-09AD-26E3-6319-18016FD490AC}"/>
              </a:ext>
            </a:extLst>
          </p:cNvPr>
          <p:cNvSpPr/>
          <p:nvPr/>
        </p:nvSpPr>
        <p:spPr>
          <a:xfrm>
            <a:off x="130842" y="4133708"/>
            <a:ext cx="743421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Generation of infinite solution to Ax=b if it exist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03AB3-A705-F352-5936-0E44F740F974}"/>
              </a:ext>
            </a:extLst>
          </p:cNvPr>
          <p:cNvSpPr/>
          <p:nvPr/>
        </p:nvSpPr>
        <p:spPr>
          <a:xfrm>
            <a:off x="146836" y="5036834"/>
            <a:ext cx="31825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4853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3ED20-0906-AAC3-3393-7C0834D268AB}"/>
              </a:ext>
            </a:extLst>
          </p:cNvPr>
          <p:cNvSpPr/>
          <p:nvPr/>
        </p:nvSpPr>
        <p:spPr>
          <a:xfrm>
            <a:off x="247818" y="464262"/>
            <a:ext cx="91883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to Generate random integer matrix whose inverse is also an integer matrix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516B7-E3EA-2EA7-90BB-9E03F3042866}"/>
              </a:ext>
            </a:extLst>
          </p:cNvPr>
          <p:cNvSpPr/>
          <p:nvPr/>
        </p:nvSpPr>
        <p:spPr>
          <a:xfrm>
            <a:off x="412575" y="2358964"/>
            <a:ext cx="45186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 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to Generate  Symmetric matrices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89D835-BEDC-C72A-A630-510C60B8A3C0}"/>
              </a:ext>
            </a:extLst>
          </p:cNvPr>
          <p:cNvSpPr/>
          <p:nvPr/>
        </p:nvSpPr>
        <p:spPr>
          <a:xfrm>
            <a:off x="412575" y="1411613"/>
            <a:ext cx="726904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 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to Generate  random integer matrix with given eigen 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12DC3-FDBF-908A-635D-98EDD7BF50C9}"/>
              </a:ext>
            </a:extLst>
          </p:cNvPr>
          <p:cNvSpPr/>
          <p:nvPr/>
        </p:nvSpPr>
        <p:spPr>
          <a:xfrm>
            <a:off x="346580" y="3228945"/>
            <a:ext cx="693298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 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to Generate  Symmetric matrices with given eigenvalues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0A3BCA-359C-4DDA-635F-23A4326A636C}"/>
              </a:ext>
            </a:extLst>
          </p:cNvPr>
          <p:cNvSpPr/>
          <p:nvPr/>
        </p:nvSpPr>
        <p:spPr>
          <a:xfrm>
            <a:off x="346580" y="4189254"/>
            <a:ext cx="65848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10. 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Code to Generate  matrices with orthogonal eigenvectors</a:t>
            </a:r>
          </a:p>
        </p:txBody>
      </p:sp>
    </p:spTree>
    <p:extLst>
      <p:ext uri="{BB962C8B-B14F-4D97-AF65-F5344CB8AC3E}">
        <p14:creationId xmlns:p14="http://schemas.microsoft.com/office/powerpoint/2010/main" val="213149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BC15C65-E491-5349-5DCF-9B068B45B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790691"/>
              </p:ext>
            </p:extLst>
          </p:nvPr>
        </p:nvGraphicFramePr>
        <p:xfrm>
          <a:off x="133733" y="3546959"/>
          <a:ext cx="7037388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419040" progId="Equation.DSMT4">
                  <p:embed/>
                </p:oleObj>
              </mc:Choice>
              <mc:Fallback>
                <p:oleObj name="Equation" r:id="rId2" imgW="2641320" imgH="4190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4848034D-6CD4-EA83-924D-589372CB2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733" y="3546959"/>
                        <a:ext cx="7037388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C2490A8-4635-DCC4-211C-212E470E6613}"/>
              </a:ext>
            </a:extLst>
          </p:cNvPr>
          <p:cNvSpPr/>
          <p:nvPr/>
        </p:nvSpPr>
        <p:spPr>
          <a:xfrm>
            <a:off x="848087" y="0"/>
            <a:ext cx="76373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Numerical solution to ODE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BF96F2B-36F2-96A2-C2D2-69B02BDA7E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077572"/>
              </p:ext>
            </p:extLst>
          </p:nvPr>
        </p:nvGraphicFramePr>
        <p:xfrm>
          <a:off x="133733" y="796327"/>
          <a:ext cx="8455991" cy="933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97280" imgH="419040" progId="Equation.DSMT4">
                  <p:embed/>
                </p:oleObj>
              </mc:Choice>
              <mc:Fallback>
                <p:oleObj name="Equation" r:id="rId4" imgW="3797280" imgH="419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0C45D33-4745-3C14-E880-3F51DC72D6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733" y="796327"/>
                        <a:ext cx="8455991" cy="933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AE3EB94-8CB8-2A59-6E27-BD5F49670985}"/>
              </a:ext>
            </a:extLst>
          </p:cNvPr>
          <p:cNvGrpSpPr/>
          <p:nvPr/>
        </p:nvGrpSpPr>
        <p:grpSpPr>
          <a:xfrm>
            <a:off x="2892388" y="1602830"/>
            <a:ext cx="8455991" cy="1944129"/>
            <a:chOff x="3407954" y="1875205"/>
            <a:chExt cx="8455991" cy="1944129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ED0ACBB-6A41-A6E4-8DD4-04E942A81E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5419369"/>
                </p:ext>
              </p:extLst>
            </p:nvPr>
          </p:nvGraphicFramePr>
          <p:xfrm>
            <a:off x="3610049" y="1964620"/>
            <a:ext cx="8051800" cy="176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51080" imgH="888840" progId="Equation.DSMT4">
                    <p:embed/>
                  </p:oleObj>
                </mc:Choice>
                <mc:Fallback>
                  <p:oleObj name="Equation" r:id="rId6" imgW="4051080" imgH="888840" progId="Equation.DSMT4">
                    <p:embed/>
                    <p:pic>
                      <p:nvPicPr>
                        <p:cNvPr id="2" name="Object 1">
                          <a:extLst>
                            <a:ext uri="{FF2B5EF4-FFF2-40B4-BE49-F238E27FC236}">
                              <a16:creationId xmlns:a16="http://schemas.microsoft.com/office/drawing/2014/main" id="{32F3D1D4-C4BA-9713-0EBB-73FE93077BA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610049" y="1964620"/>
                          <a:ext cx="8051800" cy="176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CFF279-C42D-6C58-34B9-B71954EE5EA2}"/>
                </a:ext>
              </a:extLst>
            </p:cNvPr>
            <p:cNvSpPr/>
            <p:nvPr/>
          </p:nvSpPr>
          <p:spPr>
            <a:xfrm>
              <a:off x="3407954" y="1875205"/>
              <a:ext cx="8455991" cy="1944129"/>
            </a:xfrm>
            <a:prstGeom prst="rect">
              <a:avLst/>
            </a:prstGeom>
            <a:noFill/>
            <a:ln w="82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4D5F725-E563-41BE-8E92-E62CD9DCF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071292"/>
              </p:ext>
            </p:extLst>
          </p:nvPr>
        </p:nvGraphicFramePr>
        <p:xfrm>
          <a:off x="4756826" y="4353462"/>
          <a:ext cx="6141936" cy="234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84320" imgH="1447560" progId="Equation.DSMT4">
                  <p:embed/>
                </p:oleObj>
              </mc:Choice>
              <mc:Fallback>
                <p:oleObj name="Equation" r:id="rId8" imgW="3784320" imgH="144756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B532C98-8D66-0F3B-33DD-CE63201F3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56826" y="4353462"/>
                        <a:ext cx="6141936" cy="2348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8A1A8C0-6FA5-FADD-0C40-3EBDE45AB2EE}"/>
              </a:ext>
            </a:extLst>
          </p:cNvPr>
          <p:cNvSpPr txBox="1"/>
          <p:nvPr/>
        </p:nvSpPr>
        <p:spPr>
          <a:xfrm>
            <a:off x="9237024" y="1078414"/>
            <a:ext cx="146405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Falling Bodies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C610A-C65F-34B0-909B-5A1140C21833}"/>
              </a:ext>
            </a:extLst>
          </p:cNvPr>
          <p:cNvSpPr txBox="1"/>
          <p:nvPr/>
        </p:nvSpPr>
        <p:spPr>
          <a:xfrm>
            <a:off x="362528" y="4885838"/>
            <a:ext cx="2529860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Simple Harmonic Motion</a:t>
            </a:r>
          </a:p>
        </p:txBody>
      </p:sp>
    </p:spTree>
    <p:extLst>
      <p:ext uri="{BB962C8B-B14F-4D97-AF65-F5344CB8AC3E}">
        <p14:creationId xmlns:p14="http://schemas.microsoft.com/office/powerpoint/2010/main" val="339337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FB807DC-D611-C641-BD69-B3EC4A368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177281"/>
              </p:ext>
            </p:extLst>
          </p:nvPr>
        </p:nvGraphicFramePr>
        <p:xfrm>
          <a:off x="656280" y="1223930"/>
          <a:ext cx="6098959" cy="89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419040" progId="Equation.DSMT4">
                  <p:embed/>
                </p:oleObj>
              </mc:Choice>
              <mc:Fallback>
                <p:oleObj name="Equation" r:id="rId2" imgW="284472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3FD61DD-94C9-9093-3D97-4C07C6CE1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6280" y="1223930"/>
                        <a:ext cx="6098959" cy="89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210B6AB-C53A-8445-5182-96E5CC1A9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66802"/>
              </p:ext>
            </p:extLst>
          </p:nvPr>
        </p:nvGraphicFramePr>
        <p:xfrm>
          <a:off x="592491" y="2532300"/>
          <a:ext cx="6151905" cy="89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393480" progId="Equation.DSMT4">
                  <p:embed/>
                </p:oleObj>
              </mc:Choice>
              <mc:Fallback>
                <p:oleObj name="Equation" r:id="rId4" imgW="270504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A7E1F8B-FA8F-4ECF-3B1F-906DD8E9FE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491" y="2532300"/>
                        <a:ext cx="6151905" cy="89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2159553-5F8B-0C1E-6077-114F6EBD3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856107"/>
              </p:ext>
            </p:extLst>
          </p:nvPr>
        </p:nvGraphicFramePr>
        <p:xfrm>
          <a:off x="592491" y="3981012"/>
          <a:ext cx="64166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20960" imgH="419040" progId="Equation.DSMT4">
                  <p:embed/>
                </p:oleObj>
              </mc:Choice>
              <mc:Fallback>
                <p:oleObj name="Equation" r:id="rId6" imgW="372096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D18B1AB-55FA-9942-AB51-0CF970E670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2491" y="3981012"/>
                        <a:ext cx="6416675" cy="722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14C03A-A254-3DB5-AF5A-5325B07CE05A}"/>
              </a:ext>
            </a:extLst>
          </p:cNvPr>
          <p:cNvSpPr/>
          <p:nvPr/>
        </p:nvSpPr>
        <p:spPr>
          <a:xfrm>
            <a:off x="842384" y="0"/>
            <a:ext cx="76487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Analytical  solution to ODE</a:t>
            </a:r>
          </a:p>
        </p:txBody>
      </p:sp>
    </p:spTree>
    <p:extLst>
      <p:ext uri="{BB962C8B-B14F-4D97-AF65-F5344CB8AC3E}">
        <p14:creationId xmlns:p14="http://schemas.microsoft.com/office/powerpoint/2010/main" val="2191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604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Menlo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Soman K.P (CEN)</dc:creator>
  <cp:lastModifiedBy>Dr. Soman K.P (CEN)</cp:lastModifiedBy>
  <cp:revision>21</cp:revision>
  <dcterms:created xsi:type="dcterms:W3CDTF">2023-02-11T09:15:21Z</dcterms:created>
  <dcterms:modified xsi:type="dcterms:W3CDTF">2023-02-12T15:16:23Z</dcterms:modified>
</cp:coreProperties>
</file>