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7" r:id="rId2"/>
    <p:sldId id="276" r:id="rId3"/>
    <p:sldId id="258" r:id="rId4"/>
    <p:sldId id="262" r:id="rId5"/>
    <p:sldId id="283" r:id="rId6"/>
    <p:sldId id="265" r:id="rId7"/>
    <p:sldId id="280" r:id="rId8"/>
    <p:sldId id="281" r:id="rId9"/>
    <p:sldId id="282" r:id="rId10"/>
    <p:sldId id="285" r:id="rId11"/>
    <p:sldId id="286" r:id="rId12"/>
    <p:sldId id="284" r:id="rId13"/>
    <p:sldId id="287" r:id="rId14"/>
    <p:sldId id="278" r:id="rId15"/>
    <p:sldId id="263" r:id="rId16"/>
    <p:sldId id="267" r:id="rId17"/>
    <p:sldId id="277" r:id="rId18"/>
    <p:sldId id="264" r:id="rId19"/>
    <p:sldId id="266" r:id="rId20"/>
    <p:sldId id="268" r:id="rId21"/>
    <p:sldId id="269" r:id="rId22"/>
    <p:sldId id="270" r:id="rId23"/>
    <p:sldId id="271" r:id="rId24"/>
    <p:sldId id="272" r:id="rId25"/>
    <p:sldId id="288" r:id="rId26"/>
    <p:sldId id="289" r:id="rId27"/>
    <p:sldId id="290" r:id="rId28"/>
    <p:sldId id="291" r:id="rId29"/>
    <p:sldId id="297" r:id="rId30"/>
    <p:sldId id="29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8100"/>
    <a:srgbClr val="956C00"/>
    <a:srgbClr val="83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2616A-AFB8-47BB-BEA5-0BAC187921DF}" type="datetimeFigureOut">
              <a:rPr lang="en-IN" smtClean="0"/>
              <a:t>02-07-2023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51626-95F3-458F-83E9-0AFA27A57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932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4B09A-E044-4A5D-8AE6-57D0D04987F6}" type="datetimeFigureOut">
              <a:rPr lang="en-IN" smtClean="0"/>
              <a:t>02-07-2023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C880D-2289-4924-915C-D5E99CC9A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624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b2f7c811e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b2f7c811e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463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90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b2f7c811e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b2f7c811e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694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572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EAB4-9A49-40AC-A2D4-088B139E6C41}" type="datetime1">
              <a:rPr lang="en-IN" smtClean="0"/>
              <a:t>02-07-2023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42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B72BD-AAF7-4DAD-9985-AA347B43FCAF}" type="datetime1">
              <a:rPr lang="en-IN" smtClean="0"/>
              <a:t>02-07-2023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5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5D43F-EFF8-4157-A46E-0CD90FF6AD3C}" type="datetime1">
              <a:rPr lang="en-IN" smtClean="0"/>
              <a:t>02-07-2023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78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A13BA-8FA0-4759-B420-ACC5318BE1A2}" type="datetime1">
              <a:rPr lang="en-IN" smtClean="0"/>
              <a:t>02-07-2023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8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7A79-F493-4156-8FD2-9839B39F4A23}" type="datetime1">
              <a:rPr lang="en-IN" smtClean="0"/>
              <a:t>02-07-2023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70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F1B6B-A0A4-487D-A8B6-564ECAC59CB4}" type="datetime1">
              <a:rPr lang="en-IN" smtClean="0"/>
              <a:t>02-07-2023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6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09C2-A127-4C9B-B7E5-4292F0DDCA01}" type="datetime1">
              <a:rPr lang="en-IN" smtClean="0"/>
              <a:t>02-07-2023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1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7114-5E04-45E7-9EFB-F64A45543631}" type="datetime1">
              <a:rPr lang="en-IN" smtClean="0"/>
              <a:t>02-07-2023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42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994F-9A6E-47CE-A0F4-EC7A90DCE1C1}" type="datetime1">
              <a:rPr lang="en-IN" smtClean="0"/>
              <a:t>02-07-2023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2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9A80C-2F1C-4421-A636-9E808F714EDB}" type="datetime1">
              <a:rPr lang="en-IN" smtClean="0"/>
              <a:t>02-07-2023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6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F978D-678F-4D46-9FDA-79F6F8400802}" type="datetime1">
              <a:rPr lang="en-IN" smtClean="0"/>
              <a:t>02-07-2023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116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>
            <a:spLocks noGrp="1"/>
          </p:cNvSpPr>
          <p:nvPr>
            <p:ph type="sldNum" idx="12"/>
          </p:nvPr>
        </p:nvSpPr>
        <p:spPr>
          <a:xfrm>
            <a:off x="11205845" y="2660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0054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86A6C-4316-492C-BB26-21D868804D94}" type="datetime1">
              <a:rPr lang="en-IN" smtClean="0"/>
              <a:t>02-07-2023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CAC1-8966-4CA9-A273-158F103A2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41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5471" y="2191967"/>
            <a:ext cx="73979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Book Antiqua" panose="02040602050305030304" pitchFamily="18" charset="0"/>
              </a:rPr>
              <a:t>Elements of Computing </a:t>
            </a:r>
          </a:p>
          <a:p>
            <a:r>
              <a:rPr lang="en-US" sz="4400" dirty="0">
                <a:solidFill>
                  <a:schemeClr val="bg1"/>
                </a:solidFill>
                <a:latin typeface="Book Antiqua" panose="02040602050305030304" pitchFamily="18" charset="0"/>
              </a:rPr>
              <a:t>S</a:t>
            </a:r>
            <a:r>
              <a:rPr lang="en-US" sz="4400" dirty="0" smtClean="0">
                <a:solidFill>
                  <a:schemeClr val="bg1"/>
                </a:solidFill>
                <a:latin typeface="Book Antiqua" panose="02040602050305030304" pitchFamily="18" charset="0"/>
              </a:rPr>
              <a:t>ystems - II</a:t>
            </a:r>
            <a:endParaRPr lang="en-IN" sz="4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5471" y="4314718"/>
            <a:ext cx="3990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 Semester Project</a:t>
            </a:r>
            <a:endParaRPr lang="en-IN" sz="4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7628010" y="3831362"/>
            <a:ext cx="2011680" cy="1974290"/>
          </a:xfrm>
          <a:prstGeom prst="flowChartConnector">
            <a:avLst/>
          </a:prstGeom>
          <a:solidFill>
            <a:schemeClr val="bg1">
              <a:lumMod val="85000"/>
              <a:alpha val="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Group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endParaRPr lang="en-IN" sz="3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68606" y="647660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14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5488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1"/>
          <p:cNvSpPr txBox="1">
            <a:spLocks noGrp="1"/>
          </p:cNvSpPr>
          <p:nvPr>
            <p:ph type="title" idx="4294967295"/>
          </p:nvPr>
        </p:nvSpPr>
        <p:spPr>
          <a:xfrm>
            <a:off x="730833" y="790833"/>
            <a:ext cx="8222800" cy="528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r>
              <a:rPr lang="e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roup members</a:t>
            </a:r>
            <a:endParaRPr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1" name="Google Shape;551;p41"/>
          <p:cNvSpPr/>
          <p:nvPr/>
        </p:nvSpPr>
        <p:spPr>
          <a:xfrm>
            <a:off x="768500" y="1817867"/>
            <a:ext cx="5230000" cy="2112800"/>
          </a:xfrm>
          <a:prstGeom prst="rect">
            <a:avLst/>
          </a:prstGeom>
          <a:solidFill>
            <a:srgbClr val="FFFFFF">
              <a:alpha val="17320"/>
            </a:srgbClr>
          </a:solidFill>
          <a:ln>
            <a:noFill/>
          </a:ln>
        </p:spPr>
        <p:txBody>
          <a:bodyPr spcFirstLastPara="1" wrap="square" lIns="121900" tIns="121900" rIns="1828800" bIns="121900" anchor="t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MITHIN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CB.EN.U4AIE22132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</p:txBody>
      </p:sp>
      <p:sp>
        <p:nvSpPr>
          <p:cNvPr id="552" name="Google Shape;552;p41"/>
          <p:cNvSpPr/>
          <p:nvPr/>
        </p:nvSpPr>
        <p:spPr>
          <a:xfrm>
            <a:off x="6214943" y="1817867"/>
            <a:ext cx="5230000" cy="2112800"/>
          </a:xfrm>
          <a:prstGeom prst="rect">
            <a:avLst/>
          </a:prstGeom>
          <a:solidFill>
            <a:srgbClr val="FFFFFF">
              <a:alpha val="17320"/>
            </a:srgbClr>
          </a:solidFill>
          <a:ln>
            <a:noFill/>
          </a:ln>
        </p:spPr>
        <p:txBody>
          <a:bodyPr spcFirstLastPara="1" wrap="square" lIns="1828800" tIns="121900" rIns="121900" bIns="121900" anchor="t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CHARAN</a:t>
            </a:r>
          </a:p>
          <a:p>
            <a:pPr algn="r">
              <a:spcBef>
                <a:spcPts val="800"/>
              </a:spcBef>
              <a:spcAft>
                <a:spcPts val="800"/>
              </a:spcAft>
            </a:pPr>
            <a:r>
              <a:rPr lang="en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CB.EN.U4AIE22119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</p:txBody>
      </p:sp>
      <p:sp>
        <p:nvSpPr>
          <p:cNvPr id="553" name="Google Shape;553;p41"/>
          <p:cNvSpPr/>
          <p:nvPr/>
        </p:nvSpPr>
        <p:spPr>
          <a:xfrm>
            <a:off x="768500" y="4162533"/>
            <a:ext cx="5230000" cy="2112800"/>
          </a:xfrm>
          <a:prstGeom prst="rect">
            <a:avLst/>
          </a:prstGeom>
          <a:solidFill>
            <a:srgbClr val="FFFFFF">
              <a:alpha val="17320"/>
            </a:srgbClr>
          </a:solidFill>
          <a:ln>
            <a:noFill/>
          </a:ln>
        </p:spPr>
        <p:txBody>
          <a:bodyPr spcFirstLastPara="1" wrap="square" lIns="121900" tIns="121900" rIns="1828800" bIns="121900" anchor="b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CB.EN.U4AIE22135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n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CHARISH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</p:txBody>
      </p:sp>
      <p:sp>
        <p:nvSpPr>
          <p:cNvPr id="554" name="Google Shape;554;p41"/>
          <p:cNvSpPr/>
          <p:nvPr/>
        </p:nvSpPr>
        <p:spPr>
          <a:xfrm>
            <a:off x="6214943" y="4162533"/>
            <a:ext cx="5230000" cy="2112800"/>
          </a:xfrm>
          <a:prstGeom prst="rect">
            <a:avLst/>
          </a:prstGeom>
          <a:solidFill>
            <a:srgbClr val="FFFFFF">
              <a:alpha val="17320"/>
            </a:srgbClr>
          </a:solidFill>
          <a:ln>
            <a:noFill/>
          </a:ln>
        </p:spPr>
        <p:txBody>
          <a:bodyPr spcFirstLastPara="1" wrap="square" lIns="1828800" tIns="121900" rIns="121900" bIns="121900" anchor="b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CB.EN.U4AIE22156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spcBef>
                <a:spcPts val="800"/>
              </a:spcBef>
              <a:spcAft>
                <a:spcPts val="800"/>
              </a:spcAft>
            </a:pPr>
            <a:r>
              <a:rPr lang="en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VIKASH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</p:txBody>
      </p:sp>
      <p:sp>
        <p:nvSpPr>
          <p:cNvPr id="555" name="Google Shape;555;p41"/>
          <p:cNvSpPr/>
          <p:nvPr/>
        </p:nvSpPr>
        <p:spPr>
          <a:xfrm>
            <a:off x="4380833" y="2317852"/>
            <a:ext cx="3222800" cy="32228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6" name="Google Shape;556;p41"/>
          <p:cNvSpPr/>
          <p:nvPr/>
        </p:nvSpPr>
        <p:spPr>
          <a:xfrm rot="5400000">
            <a:off x="4613172" y="2317852"/>
            <a:ext cx="3222800" cy="32228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7" name="Google Shape;557;p41"/>
          <p:cNvSpPr/>
          <p:nvPr/>
        </p:nvSpPr>
        <p:spPr>
          <a:xfrm rot="10800000">
            <a:off x="4613172" y="2552008"/>
            <a:ext cx="3222800" cy="32228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8" name="Google Shape;558;p41"/>
          <p:cNvSpPr/>
          <p:nvPr/>
        </p:nvSpPr>
        <p:spPr>
          <a:xfrm rot="-5400000">
            <a:off x="4380833" y="2552008"/>
            <a:ext cx="3222800" cy="32228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9" name="Google Shape;559;p41"/>
          <p:cNvSpPr/>
          <p:nvPr/>
        </p:nvSpPr>
        <p:spPr>
          <a:xfrm>
            <a:off x="5122800" y="2990103"/>
            <a:ext cx="492443" cy="65877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0" name="Google Shape;560;p41"/>
          <p:cNvSpPr/>
          <p:nvPr/>
        </p:nvSpPr>
        <p:spPr>
          <a:xfrm>
            <a:off x="6476960" y="3000397"/>
            <a:ext cx="887715" cy="62418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1" name="Google Shape;561;p41"/>
          <p:cNvSpPr/>
          <p:nvPr/>
        </p:nvSpPr>
        <p:spPr>
          <a:xfrm>
            <a:off x="5076684" y="4465270"/>
            <a:ext cx="583027" cy="63489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2" name="Google Shape;562;p41"/>
          <p:cNvSpPr/>
          <p:nvPr/>
        </p:nvSpPr>
        <p:spPr>
          <a:xfrm>
            <a:off x="6629306" y="4475563"/>
            <a:ext cx="578909" cy="61348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7253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0">
            <a:hlinkClick r:id="rId3" action="ppaction://hlinksldjump"/>
          </p:cNvPr>
          <p:cNvSpPr/>
          <p:nvPr/>
        </p:nvSpPr>
        <p:spPr>
          <a:xfrm>
            <a:off x="1631983" y="0"/>
            <a:ext cx="1370134" cy="6858000"/>
          </a:xfrm>
          <a:custGeom>
            <a:avLst/>
            <a:gdLst>
              <a:gd name="connsiteX0" fmla="*/ 0 w 1370134"/>
              <a:gd name="connsiteY0" fmla="*/ 0 h 6858000"/>
              <a:gd name="connsiteX1" fmla="*/ 826477 w 1370134"/>
              <a:gd name="connsiteY1" fmla="*/ 0 h 6858000"/>
              <a:gd name="connsiteX2" fmla="*/ 826477 w 1370134"/>
              <a:gd name="connsiteY2" fmla="*/ 4180197 h 6858000"/>
              <a:gd name="connsiteX3" fmla="*/ 1370134 w 1370134"/>
              <a:gd name="connsiteY3" fmla="*/ 4559543 h 6858000"/>
              <a:gd name="connsiteX4" fmla="*/ 826477 w 1370134"/>
              <a:gd name="connsiteY4" fmla="*/ 4938888 h 6858000"/>
              <a:gd name="connsiteX5" fmla="*/ 826477 w 1370134"/>
              <a:gd name="connsiteY5" fmla="*/ 6858000 h 6858000"/>
              <a:gd name="connsiteX6" fmla="*/ 0 w 137013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0134" h="6858000">
                <a:moveTo>
                  <a:pt x="0" y="0"/>
                </a:moveTo>
                <a:lnTo>
                  <a:pt x="826477" y="0"/>
                </a:lnTo>
                <a:lnTo>
                  <a:pt x="826477" y="4180197"/>
                </a:lnTo>
                <a:lnTo>
                  <a:pt x="1370134" y="4559543"/>
                </a:lnTo>
                <a:lnTo>
                  <a:pt x="826477" y="4938888"/>
                </a:lnTo>
                <a:lnTo>
                  <a:pt x="826477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2" name="Freeform 31">
            <a:hlinkClick r:id="rId4" action="ppaction://hlinksldjump"/>
          </p:cNvPr>
          <p:cNvSpPr/>
          <p:nvPr/>
        </p:nvSpPr>
        <p:spPr>
          <a:xfrm>
            <a:off x="799186" y="0"/>
            <a:ext cx="1389185" cy="6858000"/>
          </a:xfrm>
          <a:custGeom>
            <a:avLst/>
            <a:gdLst>
              <a:gd name="connsiteX0" fmla="*/ 0 w 1389185"/>
              <a:gd name="connsiteY0" fmla="*/ 0 h 6858000"/>
              <a:gd name="connsiteX1" fmla="*/ 826477 w 1389185"/>
              <a:gd name="connsiteY1" fmla="*/ 0 h 6858000"/>
              <a:gd name="connsiteX2" fmla="*/ 826477 w 1389185"/>
              <a:gd name="connsiteY2" fmla="*/ 2968710 h 6858000"/>
              <a:gd name="connsiteX3" fmla="*/ 1389185 w 1389185"/>
              <a:gd name="connsiteY3" fmla="*/ 3361349 h 6858000"/>
              <a:gd name="connsiteX4" fmla="*/ 826477 w 1389185"/>
              <a:gd name="connsiteY4" fmla="*/ 3753987 h 6858000"/>
              <a:gd name="connsiteX5" fmla="*/ 826477 w 1389185"/>
              <a:gd name="connsiteY5" fmla="*/ 6858000 h 6858000"/>
              <a:gd name="connsiteX6" fmla="*/ 0 w 138918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9185" h="6858000">
                <a:moveTo>
                  <a:pt x="0" y="0"/>
                </a:moveTo>
                <a:lnTo>
                  <a:pt x="826477" y="0"/>
                </a:lnTo>
                <a:lnTo>
                  <a:pt x="826477" y="2968710"/>
                </a:lnTo>
                <a:lnTo>
                  <a:pt x="1389185" y="3361349"/>
                </a:lnTo>
                <a:lnTo>
                  <a:pt x="826477" y="3753987"/>
                </a:lnTo>
                <a:lnTo>
                  <a:pt x="826477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3" name="Freeform 32">
            <a:hlinkClick r:id="rId5" action="ppaction://hlinksldjump"/>
          </p:cNvPr>
          <p:cNvSpPr/>
          <p:nvPr/>
        </p:nvSpPr>
        <p:spPr>
          <a:xfrm>
            <a:off x="-17698" y="0"/>
            <a:ext cx="1402373" cy="6858000"/>
          </a:xfrm>
          <a:custGeom>
            <a:avLst/>
            <a:gdLst>
              <a:gd name="connsiteX0" fmla="*/ 0 w 1402373"/>
              <a:gd name="connsiteY0" fmla="*/ 0 h 6858000"/>
              <a:gd name="connsiteX1" fmla="*/ 826477 w 1402373"/>
              <a:gd name="connsiteY1" fmla="*/ 0 h 6858000"/>
              <a:gd name="connsiteX2" fmla="*/ 826477 w 1402373"/>
              <a:gd name="connsiteY2" fmla="*/ 1761314 h 6858000"/>
              <a:gd name="connsiteX3" fmla="*/ 1402373 w 1402373"/>
              <a:gd name="connsiteY3" fmla="*/ 2163155 h 6858000"/>
              <a:gd name="connsiteX4" fmla="*/ 826477 w 1402373"/>
              <a:gd name="connsiteY4" fmla="*/ 2564995 h 6858000"/>
              <a:gd name="connsiteX5" fmla="*/ 826477 w 1402373"/>
              <a:gd name="connsiteY5" fmla="*/ 6858000 h 6858000"/>
              <a:gd name="connsiteX6" fmla="*/ 0 w 14023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2373" h="6858000">
                <a:moveTo>
                  <a:pt x="0" y="0"/>
                </a:moveTo>
                <a:lnTo>
                  <a:pt x="826477" y="0"/>
                </a:lnTo>
                <a:lnTo>
                  <a:pt x="826477" y="1761314"/>
                </a:lnTo>
                <a:lnTo>
                  <a:pt x="1402373" y="2163155"/>
                </a:lnTo>
                <a:lnTo>
                  <a:pt x="826477" y="2564995"/>
                </a:lnTo>
                <a:lnTo>
                  <a:pt x="8264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08100"/>
          </a:solidFill>
          <a:ln>
            <a:solidFill>
              <a:schemeClr val="bg1">
                <a:alpha val="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818237" y="1951869"/>
            <a:ext cx="39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</a:p>
        </p:txBody>
      </p:sp>
      <p:sp>
        <p:nvSpPr>
          <p:cNvPr id="28" name="TextBox 27">
            <a:hlinkClick r:id="rId4" action="ppaction://hlinksldjump"/>
          </p:cNvPr>
          <p:cNvSpPr txBox="1"/>
          <p:nvPr/>
        </p:nvSpPr>
        <p:spPr>
          <a:xfrm>
            <a:off x="1619618" y="3176682"/>
            <a:ext cx="39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US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2465284" y="4374876"/>
            <a:ext cx="39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3416479" y="2496987"/>
            <a:ext cx="92356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 B: </a:t>
            </a:r>
          </a:p>
          <a:p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Write a Jack program to implement a symbol table. Possible entries in a symbol table: </a:t>
            </a: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Name : a string </a:t>
            </a: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Attribute: 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Reserved word 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Variable name 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 Name 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Procedure name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16479" y="5276058"/>
            <a:ext cx="98242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 C: </a:t>
            </a:r>
          </a:p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 a part of this project each team, is expected to come up with a unique question.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question should be related to the topics taught in Elements of Computing-2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16479" y="6980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 A: </a:t>
            </a:r>
          </a:p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 the HACK computer in HDL and test it. 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link Project 05 | nand2tetris to implement computer.hdl. 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computer.hdl has to be tested as per the instructions given in the above link by using any .hack file. 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61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8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26458" y="146320"/>
            <a:ext cx="31527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  <a:p>
            <a:pPr algn="ctr"/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HACK COMPUTER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3225" y="1208089"/>
            <a:ext cx="102347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Let’s see what a hack computer is,</a:t>
            </a:r>
          </a:p>
          <a:p>
            <a:endParaRPr lang="en-US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Hack computer has a simpler architecture that allows newcomers to comprehend basic computing concepts. It is a 16-bit machine with a proprietary instruction set and a straightforward hardware design. </a:t>
            </a:r>
            <a:endParaRPr lang="en-US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Hack computer platform consists of a hardware emulator and the Hack Assembly </a:t>
            </a:r>
            <a:r>
              <a:rPr lang="en-US" sz="16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assembly</a:t>
            </a: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language</a:t>
            </a: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They provide a hands-on experience that enables students to explore the inner workings of a computer and gain insights into key concepts like machine language, computer organization, and programming.</a:t>
            </a:r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terminology - Does the Hack computer from &quot;The Elements of Computing  Systems&quot; use Von Neumann architecture? - Computer Science Stack Exchan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t="6259" r="4558" b="8130"/>
          <a:stretch/>
        </p:blipFill>
        <p:spPr bwMode="auto">
          <a:xfrm>
            <a:off x="4222507" y="3726435"/>
            <a:ext cx="4375638" cy="285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127513" y="4862427"/>
            <a:ext cx="2042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Simple Hack computer architecture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4197" y="4265035"/>
            <a:ext cx="55127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Components of Hack computer:</a:t>
            </a:r>
          </a:p>
          <a:p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Memory(Data &amp; Instruction Memory)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External Input &amp; Output(I/O)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Hack CPU</a:t>
            </a:r>
          </a:p>
          <a:p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Let’s </a:t>
            </a: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see briefly about each component,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15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78424" y="717960"/>
            <a:ext cx="2332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is of two types: </a:t>
            </a:r>
          </a:p>
          <a:p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10555" y="261288"/>
            <a:ext cx="2892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MEMORY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0" name="Picture 2" descr="verilog - Data memory unit - Stack Overflow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4054" r="4206" b="12079"/>
          <a:stretch/>
        </p:blipFill>
        <p:spPr bwMode="auto">
          <a:xfrm>
            <a:off x="7678617" y="826910"/>
            <a:ext cx="3880338" cy="325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lements of Computing Systems, Nisan &amp; Schocken, MIT Press, Chapter 5:  Computer Architecture slide 1www.nand2tetris.org Building a. - ppt download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7" t="10916" r="24757" b="46370"/>
          <a:stretch/>
        </p:blipFill>
        <p:spPr bwMode="auto">
          <a:xfrm>
            <a:off x="500062" y="4382154"/>
            <a:ext cx="3426203" cy="202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086225" y="4382154"/>
            <a:ext cx="77350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INSTRUCTION MEMORY</a:t>
            </a:r>
          </a:p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a computer system, instructions are often stored as binary code, which represents machine language instructions particular to the computer's architecture.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These instructions specify the actions the CPU will conduct, such as arithmetic computations, logical operations, memory access, and control flow.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424" y="1570026"/>
            <a:ext cx="70807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DATA MEMORY </a:t>
            </a:r>
          </a:p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memory is a storage space in a computer system for variables, arrays, structures, and other data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utilized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 a programme.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memory is used when a programme is running to store values that are altered, modified, or accessed by the program's instructions.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74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Showing the differences and similatries between input and output. |  Computer hardware, Output device, Touch screen compute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r="-1" b="13196"/>
          <a:stretch/>
        </p:blipFill>
        <p:spPr bwMode="auto">
          <a:xfrm>
            <a:off x="2322993" y="3070164"/>
            <a:ext cx="7171717" cy="358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92040" y="292065"/>
            <a:ext cx="344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INPUT &amp; OUTPUT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1960" y="556654"/>
            <a:ext cx="113903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Here's </a:t>
            </a: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brief overview of the external input and output capabilities of the Hack computer</a:t>
            </a: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en-US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3788" y="1181130"/>
            <a:ext cx="54650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External Input:</a:t>
            </a:r>
          </a:p>
          <a:p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Hack computer can take input from external devices, most notably a keyboard. When a user inputs on the keyboard, the input is sent to the Hack computer, which can then process and reply to the input.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5471" y="1181130"/>
            <a:ext cx="547024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External Output:</a:t>
            </a:r>
          </a:p>
          <a:p>
            <a:pPr lvl="1"/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Hack computer may output to external devices, most notably a screen or display. The output of a computer is often visual information presented on the screen, allowing users to observe the outcomes of programme execution or other desired output.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15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74920" y="292065"/>
            <a:ext cx="2679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Hack CPU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905256"/>
            <a:ext cx="48737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CPU itself has following three components:</a:t>
            </a:r>
          </a:p>
          <a:p>
            <a:endParaRPr lang="en-US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Memory or Storage unit:</a:t>
            </a:r>
          </a:p>
          <a:p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</a:t>
            </a:r>
            <a:r>
              <a: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 also known as internal storage unit or the main memory or the primary storage or Random Access Memory (RAM).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5"/>
          <a:stretch/>
        </p:blipFill>
        <p:spPr bwMode="auto">
          <a:xfrm>
            <a:off x="6414516" y="929721"/>
            <a:ext cx="4329684" cy="27590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3027201"/>
            <a:ext cx="5445345" cy="34786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6315456" y="3864799"/>
            <a:ext cx="6096000" cy="2810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Control </a:t>
            </a: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unit: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unit controls the operations of all parts of the computer but does not carry out any actual data processing operations.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ALU(Arithmetic Logic </a:t>
            </a: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Unit: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lnSpc>
                <a:spcPct val="107000"/>
              </a:lnSpc>
              <a:spcBef>
                <a:spcPts val="600"/>
              </a:spcBef>
              <a:spcAft>
                <a:spcPts val="720"/>
              </a:spcAft>
            </a:pPr>
            <a:r>
              <a: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unit consists of two subsections namely,</a:t>
            </a:r>
          </a:p>
          <a:p>
            <a:pPr marL="800100" lvl="1" indent="-342900" algn="just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Arithmetic Section</a:t>
            </a:r>
          </a:p>
          <a:p>
            <a:pPr marL="800100" lvl="1" indent="-342900" algn="just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Logic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510" y="6505843"/>
            <a:ext cx="2163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Block diagram of CPU</a:t>
            </a:r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75264" y="2008049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Components</a:t>
            </a:r>
          </a:p>
          <a:p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 CPU</a:t>
            </a:r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1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4" y="935820"/>
            <a:ext cx="9059488" cy="18737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30261" y="292065"/>
            <a:ext cx="2470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HDL code </a:t>
            </a:r>
          </a:p>
        </p:txBody>
      </p:sp>
      <p:pic>
        <p:nvPicPr>
          <p:cNvPr id="4098" name="Picture 2" descr="cpu - &quot;Hack computer&quot; from Nand2Tetris registers, any real world examples  of similar design? - Computer Science Stack Exchan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937" y="2991689"/>
            <a:ext cx="5380894" cy="362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49595" y="4480126"/>
            <a:ext cx="2936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is how Hack CPU works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17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55576" y="292065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 script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1" y="931984"/>
            <a:ext cx="83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have built a test script for finding whether a number is even or odd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83" y="1934307"/>
            <a:ext cx="5901293" cy="4220308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231" y="1934307"/>
            <a:ext cx="5301762" cy="42203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600" y="6251331"/>
            <a:ext cx="230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TST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58200" y="6251331"/>
            <a:ext cx="143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 test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34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914900" y="292065"/>
            <a:ext cx="3042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Asm</a:t>
            </a:r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&amp; Hack file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46" y="1643958"/>
            <a:ext cx="6080454" cy="45546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183" y="2004451"/>
            <a:ext cx="2327976" cy="38336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12788" y="6357928"/>
            <a:ext cx="9833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dirty="0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Asm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9530776" y="5988596"/>
            <a:ext cx="7264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.Hack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412788" y="1043795"/>
            <a:ext cx="6167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Hack code to find whether a number is even or odd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7095392" y="3991708"/>
            <a:ext cx="101038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7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910137" y="278234"/>
            <a:ext cx="237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 for Even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2" y="2255065"/>
            <a:ext cx="4892464" cy="16917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291" y="4548417"/>
            <a:ext cx="4907705" cy="1668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3630" y="1007169"/>
            <a:ext cx="660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an even number (both positive and negative) the output will be zero(0)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894" y="1527292"/>
            <a:ext cx="2819644" cy="48391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3291" y="2784380"/>
            <a:ext cx="136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solidFill>
                  <a:schemeClr val="bg1"/>
                </a:solidFill>
              </a:rPr>
              <a:t>+</a:t>
            </a:r>
            <a:r>
              <a:rPr lang="en-IN" sz="2400" dirty="0" err="1" smtClean="0">
                <a:solidFill>
                  <a:schemeClr val="bg1"/>
                </a:solidFill>
              </a:rPr>
              <a:t>Ve</a:t>
            </a:r>
            <a:r>
              <a:rPr lang="en-IN" sz="2400" dirty="0" smtClean="0">
                <a:solidFill>
                  <a:schemeClr val="bg1"/>
                </a:solidFill>
              </a:rPr>
              <a:t>   </a:t>
            </a:r>
            <a:r>
              <a:rPr lang="en-IN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3291" y="5152046"/>
            <a:ext cx="136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-</a:t>
            </a:r>
            <a:r>
              <a:rPr lang="en-IN" sz="2400" dirty="0" err="1" smtClean="0">
                <a:solidFill>
                  <a:schemeClr val="bg1"/>
                </a:solidFill>
              </a:rPr>
              <a:t>Ve</a:t>
            </a:r>
            <a:r>
              <a:rPr lang="en-IN" sz="2400" dirty="0" smtClean="0">
                <a:solidFill>
                  <a:schemeClr val="bg1"/>
                </a:solidFill>
              </a:rPr>
              <a:t>   </a:t>
            </a:r>
            <a:r>
              <a:rPr lang="en-IN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74215" y="3358661"/>
            <a:ext cx="1450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Generated Output file </a:t>
            </a:r>
          </a:p>
          <a:p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16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51510" y="340620"/>
            <a:ext cx="237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 for Odd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525" y="1413825"/>
            <a:ext cx="2834886" cy="48619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592" y="2206374"/>
            <a:ext cx="4968671" cy="16384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8075" y="4511365"/>
            <a:ext cx="4938188" cy="16536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3630" y="1007169"/>
            <a:ext cx="660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odd number (both positive and negative) the output will be zero(0)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3291" y="2784380"/>
            <a:ext cx="136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solidFill>
                  <a:schemeClr val="bg1"/>
                </a:solidFill>
              </a:rPr>
              <a:t>+</a:t>
            </a:r>
            <a:r>
              <a:rPr lang="en-IN" sz="2400" dirty="0" err="1" smtClean="0">
                <a:solidFill>
                  <a:schemeClr val="bg1"/>
                </a:solidFill>
              </a:rPr>
              <a:t>Ve</a:t>
            </a:r>
            <a:r>
              <a:rPr lang="en-IN" sz="2400" dirty="0" smtClean="0">
                <a:solidFill>
                  <a:schemeClr val="bg1"/>
                </a:solidFill>
              </a:rPr>
              <a:t>   </a:t>
            </a:r>
            <a:r>
              <a:rPr lang="en-IN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3291" y="5152046"/>
            <a:ext cx="136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-</a:t>
            </a:r>
            <a:r>
              <a:rPr lang="en-IN" sz="2400" dirty="0" err="1" smtClean="0">
                <a:solidFill>
                  <a:schemeClr val="bg1"/>
                </a:solidFill>
              </a:rPr>
              <a:t>Ve</a:t>
            </a:r>
            <a:r>
              <a:rPr lang="en-IN" sz="2400" dirty="0" smtClean="0">
                <a:solidFill>
                  <a:schemeClr val="bg1"/>
                </a:solidFill>
              </a:rPr>
              <a:t>   </a:t>
            </a:r>
            <a:r>
              <a:rPr lang="en-IN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74215" y="3358661"/>
            <a:ext cx="1450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Generated Output file </a:t>
            </a:r>
          </a:p>
          <a:p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Isosceles Triangle 12">
            <a:hlinkClick r:id="rId6" action="ppaction://hlinksldjump"/>
          </p:cNvPr>
          <p:cNvSpPr/>
          <p:nvPr/>
        </p:nvSpPr>
        <p:spPr>
          <a:xfrm rot="5400000">
            <a:off x="10885990" y="5296531"/>
            <a:ext cx="1097280" cy="1180631"/>
          </a:xfrm>
          <a:prstGeom prst="triangl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95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7820" y="292065"/>
            <a:ext cx="1216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 B 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110" y="1338833"/>
            <a:ext cx="43946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SYMBOL TABLE 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is </a:t>
            </a: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important data structure in computer language compilers and interpreters. It serves as a database for locating and storing variables, constants, and other forms of programme identifiers</a:t>
            </a: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54" y="1273086"/>
            <a:ext cx="4468036" cy="26124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65582" y="1273086"/>
            <a:ext cx="264799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facilitates efficient identifier lookup, allowing quick retrieval of attributes like type and role (reserved word, variable name, type name, procedure name).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0305" y="4201155"/>
            <a:ext cx="84985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JACK ?</a:t>
            </a:r>
          </a:p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Fictional High-Level Programming </a:t>
            </a: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Helps in the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construction of a complete computer system, starting from a high-level language down to machine-level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Jack incorporates object-oriented programming principles</a:t>
            </a:r>
            <a:endParaRPr lang="en-IN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0294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18614" y="292065"/>
            <a:ext cx="249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CODE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50" y="1010043"/>
            <a:ext cx="2663099" cy="16894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24" y="3292121"/>
            <a:ext cx="7234951" cy="33063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739" y="818382"/>
            <a:ext cx="3736731" cy="21782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08729" y="1316180"/>
            <a:ext cx="16969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Declaring array’s and </a:t>
            </a:r>
          </a:p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variables</a:t>
            </a:r>
          </a:p>
          <a:p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3944" y="1538987"/>
            <a:ext cx="474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71639" y="1184235"/>
            <a:ext cx="18639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Comparing the length of two strings and each letter in the word</a:t>
            </a:r>
            <a:endParaRPr lang="en-IN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9946" y="1538178"/>
            <a:ext cx="896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1069" y="4185139"/>
            <a:ext cx="2883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Creating arrays with  size 50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Creating strings using functions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10954" y="4530298"/>
            <a:ext cx="630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25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18614" y="292065"/>
            <a:ext cx="249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CODE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24" y="885614"/>
            <a:ext cx="6438066" cy="359846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260" y="2606649"/>
            <a:ext cx="5015140" cy="40027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9646" y="1079711"/>
            <a:ext cx="2892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Symbol table for </a:t>
            </a:r>
          </a:p>
          <a:p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Reserved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Variable name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72300" y="1495209"/>
            <a:ext cx="74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92645" y="495875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Symbol table for </a:t>
            </a:r>
          </a:p>
          <a:p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 name 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Procedure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 name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1190" y="551274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38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18614" y="292065"/>
            <a:ext cx="249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CODE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0" y="1222130"/>
            <a:ext cx="6195371" cy="48006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003" y="2831607"/>
            <a:ext cx="5705415" cy="14150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71237" y="1030921"/>
            <a:ext cx="34993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main function we declare some variables and take input from the user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call the functions which we defined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70175" y="4524068"/>
            <a:ext cx="29014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While loop runs until the given condition is not satisfied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Finally, it returns the values which required for the symbol table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22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3" action="ppaction://hlinksldjump"/>
          </p:cNvPr>
          <p:cNvSpPr/>
          <p:nvPr/>
        </p:nvSpPr>
        <p:spPr>
          <a:xfrm rot="5400000">
            <a:off x="11072813" y="5586414"/>
            <a:ext cx="965396" cy="80405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6095" y="300858"/>
            <a:ext cx="3050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795" y="1978270"/>
            <a:ext cx="23211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When we compile the Jack code it is converted into VM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run the generated VM code using VM emulator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964" y="1187839"/>
            <a:ext cx="8005511" cy="4817307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24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8697" y="292065"/>
            <a:ext cx="1134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 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22944" y="1206576"/>
            <a:ext cx="489145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Encryption</a:t>
            </a: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en-IN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Encryption </a:t>
            </a: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the process of transforming plain, readable data (called plaintext) into coded or unreadable data (called </a:t>
            </a:r>
            <a:r>
              <a:rPr lang="en-IN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ciphertext</a:t>
            </a: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63303" y="1206576"/>
            <a:ext cx="47742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Decryption:</a:t>
            </a:r>
          </a:p>
          <a:p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Decryption is the opposite of encryption. It is the process of returning encrypted or coded data (</a:t>
            </a:r>
            <a:r>
              <a:rPr lang="en-IN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ciphertext</a:t>
            </a:r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to its original, readable form (plaintext).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3857" y="4198216"/>
            <a:ext cx="36242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 are using two methods for Encryption &amp; Decryption: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MORSE CODE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CAESER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CIPHER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08" y="4198216"/>
            <a:ext cx="3617645" cy="2097008"/>
          </a:xfrm>
          <a:prstGeom prst="rect">
            <a:avLst/>
          </a:prstGeom>
        </p:spPr>
      </p:pic>
      <p:pic>
        <p:nvPicPr>
          <p:cNvPr id="1034" name="Picture 10" descr="Caesar cipher - Wikipe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340" y="4198216"/>
            <a:ext cx="3842483" cy="209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7112071" y="5583210"/>
            <a:ext cx="118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 rot="10800000">
            <a:off x="3302073" y="5062054"/>
            <a:ext cx="118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762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394293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94293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11" y="727353"/>
            <a:ext cx="4717075" cy="58928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612" y="727353"/>
            <a:ext cx="2502821" cy="58928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8659" y="727353"/>
            <a:ext cx="2443556" cy="589288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62062" y="209627"/>
            <a:ext cx="34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MORSE </a:t>
            </a: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: ENCRYPTION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53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054" y="753730"/>
            <a:ext cx="2633417" cy="58512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339" y="1576045"/>
            <a:ext cx="6835732" cy="42066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6769" y="338232"/>
            <a:ext cx="34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MORSE </a:t>
            </a: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: ENCRYPTION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83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44477" y="338232"/>
            <a:ext cx="34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MORSE </a:t>
            </a: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: DECRYPTION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4" y="1155100"/>
            <a:ext cx="4854361" cy="48467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559" y="927736"/>
            <a:ext cx="2508735" cy="5538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9488" y="853149"/>
            <a:ext cx="3116587" cy="568744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35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44477" y="338232"/>
            <a:ext cx="34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MORSE </a:t>
            </a: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: DECRYPTION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98" y="923192"/>
            <a:ext cx="4382746" cy="53774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943" y="2233137"/>
            <a:ext cx="5273497" cy="251481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8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96095" y="300858"/>
            <a:ext cx="3050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13" y="1183530"/>
            <a:ext cx="5916002" cy="2479607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518" y="4084144"/>
            <a:ext cx="5896513" cy="2457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47026" y="2054001"/>
            <a:ext cx="2936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ENCRYPTION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 rot="10800000">
            <a:off x="6066692" y="2054001"/>
            <a:ext cx="184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43112" y="5128144"/>
            <a:ext cx="2936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DECRYPTION</a:t>
            </a: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</a:t>
            </a: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20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411853" y="338232"/>
            <a:ext cx="3368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CAESER CIPHER</a:t>
            </a: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ENCRYPTION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150" y="955190"/>
            <a:ext cx="6233700" cy="556308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36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411853" y="338232"/>
            <a:ext cx="3370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CAESER CIPHER</a:t>
            </a: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DECRYPTION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51" y="1697929"/>
            <a:ext cx="5006774" cy="36731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916" y="1019908"/>
            <a:ext cx="6631608" cy="523302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5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411853" y="338232"/>
            <a:ext cx="3370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CAESER CIPHER</a:t>
            </a: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DECRYPTION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42" y="858854"/>
            <a:ext cx="5528684" cy="42758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1" y="2131482"/>
            <a:ext cx="5708342" cy="4208778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78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93" y="1197480"/>
            <a:ext cx="7272828" cy="50450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346" y="2788292"/>
            <a:ext cx="4390822" cy="20826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1853" y="338232"/>
            <a:ext cx="3370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CAESER CIPHER</a:t>
            </a:r>
            <a:r>
              <a:rPr lang="en-US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DECRYPTION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6095" y="300858"/>
            <a:ext cx="3050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32726" y="2015697"/>
            <a:ext cx="2936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ENCRYPTION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10800000">
            <a:off x="5898368" y="2054000"/>
            <a:ext cx="184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29874" y="4885377"/>
            <a:ext cx="2936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DECRYPTION</a:t>
            </a: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</a:t>
            </a:r>
            <a:r>
              <a:rPr lang="en-IN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endParaRPr lang="en-US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645672" y="1327005"/>
            <a:ext cx="5731510" cy="219265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4878997" y="4084142"/>
            <a:ext cx="5731510" cy="2232025"/>
          </a:xfrm>
          <a:prstGeom prst="rect">
            <a:avLst/>
          </a:prstGeom>
        </p:spPr>
      </p:pic>
      <p:sp>
        <p:nvSpPr>
          <p:cNvPr id="12" name="Isosceles Triangle 11">
            <a:hlinkClick r:id="rId5" action="ppaction://hlinksldjump"/>
          </p:cNvPr>
          <p:cNvSpPr/>
          <p:nvPr/>
        </p:nvSpPr>
        <p:spPr>
          <a:xfrm rot="5400000">
            <a:off x="10781723" y="5211319"/>
            <a:ext cx="1264337" cy="98178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CAC1-8966-4CA9-A273-158F103A28F8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51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1"/>
          <p:cNvSpPr txBox="1">
            <a:spLocks noGrp="1"/>
          </p:cNvSpPr>
          <p:nvPr>
            <p:ph type="title" idx="4294967295"/>
          </p:nvPr>
        </p:nvSpPr>
        <p:spPr>
          <a:xfrm>
            <a:off x="730833" y="790833"/>
            <a:ext cx="8222800" cy="528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Contributions </a:t>
            </a:r>
            <a:endParaRPr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1" name="Google Shape;551;p41"/>
          <p:cNvSpPr/>
          <p:nvPr/>
        </p:nvSpPr>
        <p:spPr>
          <a:xfrm>
            <a:off x="768500" y="1817867"/>
            <a:ext cx="5230000" cy="2112800"/>
          </a:xfrm>
          <a:prstGeom prst="rect">
            <a:avLst/>
          </a:prstGeom>
          <a:solidFill>
            <a:srgbClr val="FFFFFF">
              <a:alpha val="17320"/>
            </a:srgbClr>
          </a:solidFill>
          <a:ln>
            <a:noFill/>
          </a:ln>
        </p:spPr>
        <p:txBody>
          <a:bodyPr spcFirstLastPara="1" wrap="square" lIns="121900" tIns="121900" rIns="1828800" bIns="121900" anchor="t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MITHIN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CB.EN.U4AIE22132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PART C - </a:t>
            </a: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CAESER CIPHER: 	Encryption &amp; 	Decryption</a:t>
            </a:r>
            <a:endParaRPr lang="en" sz="16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</p:txBody>
      </p:sp>
      <p:sp>
        <p:nvSpPr>
          <p:cNvPr id="552" name="Google Shape;552;p41"/>
          <p:cNvSpPr/>
          <p:nvPr/>
        </p:nvSpPr>
        <p:spPr>
          <a:xfrm>
            <a:off x="6214943" y="1817867"/>
            <a:ext cx="5230000" cy="2112800"/>
          </a:xfrm>
          <a:prstGeom prst="rect">
            <a:avLst/>
          </a:prstGeom>
          <a:solidFill>
            <a:srgbClr val="FFFFFF">
              <a:alpha val="17320"/>
            </a:srgbClr>
          </a:solidFill>
          <a:ln>
            <a:noFill/>
          </a:ln>
        </p:spPr>
        <p:txBody>
          <a:bodyPr spcFirstLastPara="1" wrap="square" lIns="1828800" tIns="121900" rIns="121900" bIns="121900" anchor="t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CHARAN</a:t>
            </a:r>
          </a:p>
          <a:p>
            <a:pPr algn="r">
              <a:spcBef>
                <a:spcPts val="800"/>
              </a:spcBef>
              <a:spcAft>
                <a:spcPts val="800"/>
              </a:spcAft>
            </a:pPr>
            <a:r>
              <a:rPr lang="en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CB.EN.U4AIE22119</a:t>
            </a:r>
          </a:p>
          <a:p>
            <a:pPr algn="r">
              <a:spcBef>
                <a:spcPts val="800"/>
              </a:spcBef>
              <a:spcAft>
                <a:spcPts val="800"/>
              </a:spcAft>
            </a:pPr>
            <a:r>
              <a:rPr lang="en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PART A - Computer Test script(odd/even)</a:t>
            </a:r>
          </a:p>
          <a:p>
            <a:pPr algn="r">
              <a:spcBef>
                <a:spcPts val="800"/>
              </a:spcBef>
              <a:spcAft>
                <a:spcPts val="800"/>
              </a:spcAft>
            </a:pPr>
            <a:r>
              <a:rPr lang="en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PART B – type,procedure,string name and comparing two strings </a:t>
            </a:r>
            <a:endParaRPr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</p:txBody>
      </p:sp>
      <p:sp>
        <p:nvSpPr>
          <p:cNvPr id="553" name="Google Shape;553;p41"/>
          <p:cNvSpPr/>
          <p:nvPr/>
        </p:nvSpPr>
        <p:spPr>
          <a:xfrm>
            <a:off x="768500" y="4162533"/>
            <a:ext cx="5230000" cy="2112800"/>
          </a:xfrm>
          <a:prstGeom prst="rect">
            <a:avLst/>
          </a:prstGeom>
          <a:solidFill>
            <a:srgbClr val="FFFFFF">
              <a:alpha val="17320"/>
            </a:srgbClr>
          </a:solidFill>
          <a:ln>
            <a:noFill/>
          </a:ln>
        </p:spPr>
        <p:txBody>
          <a:bodyPr spcFirstLastPara="1" wrap="square" lIns="121900" tIns="121900" rIns="1828800" bIns="121900" anchor="b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PART B – reserved word, variable name,    	while loop</a:t>
            </a:r>
            <a:endParaRPr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CB.EN.U4AIE22135</a:t>
            </a:r>
            <a:endParaRPr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n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CHARISH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</p:txBody>
      </p:sp>
      <p:sp>
        <p:nvSpPr>
          <p:cNvPr id="554" name="Google Shape;554;p41"/>
          <p:cNvSpPr/>
          <p:nvPr/>
        </p:nvSpPr>
        <p:spPr>
          <a:xfrm>
            <a:off x="6214943" y="4162533"/>
            <a:ext cx="5230000" cy="2112800"/>
          </a:xfrm>
          <a:prstGeom prst="rect">
            <a:avLst/>
          </a:prstGeom>
          <a:solidFill>
            <a:srgbClr val="FFFFFF">
              <a:alpha val="17320"/>
            </a:srgbClr>
          </a:solidFill>
          <a:ln>
            <a:noFill/>
          </a:ln>
        </p:spPr>
        <p:txBody>
          <a:bodyPr spcFirstLastPara="1" wrap="square" lIns="1828800" tIns="121900" rIns="121900" bIns="121900" anchor="b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endParaRPr lang="en-US" sz="14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endParaRPr lang="en-US" sz="14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r>
              <a:rPr lang="en-US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PART A – Computer.hdl code</a:t>
            </a:r>
          </a:p>
          <a:p>
            <a:pPr algn="r">
              <a:buClr>
                <a:schemeClr val="dk1"/>
              </a:buClr>
              <a:buSzPts val="1100"/>
            </a:pPr>
            <a:endParaRPr lang="en-US" sz="1400" dirty="0" smtClean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r>
              <a:rPr lang="en-US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PART C – MORSE CODE: Encryption &amp; Decryption</a:t>
            </a:r>
          </a:p>
          <a:p>
            <a:pPr algn="r">
              <a:buClr>
                <a:schemeClr val="dk1"/>
              </a:buClr>
              <a:buSzPts val="1100"/>
            </a:pP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buClr>
                <a:schemeClr val="dk1"/>
              </a:buClr>
              <a:buSzPts val="1100"/>
            </a:pPr>
            <a:r>
              <a:rPr lang="en-US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CB.EN.U4AIE22156</a:t>
            </a:r>
            <a:endParaRPr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  <a:p>
            <a:pPr algn="r">
              <a:spcBef>
                <a:spcPts val="800"/>
              </a:spcBef>
              <a:spcAft>
                <a:spcPts val="800"/>
              </a:spcAft>
            </a:pPr>
            <a:r>
              <a:rPr lang="en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Nunito"/>
                <a:sym typeface="Nunito"/>
              </a:rPr>
              <a:t>VIKASH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Nunito"/>
              <a:sym typeface="Nunito"/>
            </a:endParaRPr>
          </a:p>
        </p:txBody>
      </p:sp>
      <p:sp>
        <p:nvSpPr>
          <p:cNvPr id="555" name="Google Shape;555;p41"/>
          <p:cNvSpPr/>
          <p:nvPr/>
        </p:nvSpPr>
        <p:spPr>
          <a:xfrm>
            <a:off x="4380833" y="2317852"/>
            <a:ext cx="3222800" cy="32228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6" name="Google Shape;556;p41"/>
          <p:cNvSpPr/>
          <p:nvPr/>
        </p:nvSpPr>
        <p:spPr>
          <a:xfrm rot="5400000">
            <a:off x="4613172" y="2317852"/>
            <a:ext cx="3222800" cy="32228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7" name="Google Shape;557;p41"/>
          <p:cNvSpPr/>
          <p:nvPr/>
        </p:nvSpPr>
        <p:spPr>
          <a:xfrm rot="10800000">
            <a:off x="4613172" y="2552008"/>
            <a:ext cx="3222800" cy="32228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8" name="Google Shape;558;p41"/>
          <p:cNvSpPr/>
          <p:nvPr/>
        </p:nvSpPr>
        <p:spPr>
          <a:xfrm rot="-5400000">
            <a:off x="4380833" y="2552008"/>
            <a:ext cx="3222800" cy="32228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9" name="Google Shape;559;p41"/>
          <p:cNvSpPr/>
          <p:nvPr/>
        </p:nvSpPr>
        <p:spPr>
          <a:xfrm>
            <a:off x="5122800" y="2990103"/>
            <a:ext cx="492443" cy="65877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0" name="Google Shape;560;p41"/>
          <p:cNvSpPr/>
          <p:nvPr/>
        </p:nvSpPr>
        <p:spPr>
          <a:xfrm>
            <a:off x="6476960" y="3000397"/>
            <a:ext cx="887715" cy="62418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1" name="Google Shape;561;p41"/>
          <p:cNvSpPr/>
          <p:nvPr/>
        </p:nvSpPr>
        <p:spPr>
          <a:xfrm>
            <a:off x="5076684" y="4465270"/>
            <a:ext cx="583027" cy="63489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2" name="Google Shape;562;p41"/>
          <p:cNvSpPr/>
          <p:nvPr/>
        </p:nvSpPr>
        <p:spPr>
          <a:xfrm>
            <a:off x="6629306" y="4475563"/>
            <a:ext cx="578909" cy="61348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984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49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1104</Words>
  <Application>Microsoft Office PowerPoint</Application>
  <PresentationFormat>Widescreen</PresentationFormat>
  <Paragraphs>260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Book Antiqua</vt:lpstr>
      <vt:lpstr>Calibri</vt:lpstr>
      <vt:lpstr>Calibri Light</vt:lpstr>
      <vt:lpstr>Cambria</vt:lpstr>
      <vt:lpstr>Nunito</vt:lpstr>
      <vt:lpstr>Symbol</vt:lpstr>
      <vt:lpstr>Times New Roman</vt:lpstr>
      <vt:lpstr>Wingdings</vt:lpstr>
      <vt:lpstr>Office Theme</vt:lpstr>
      <vt:lpstr>PowerPoint Presentation</vt:lpstr>
      <vt:lpstr>Group members</vt:lpstr>
      <vt:lpstr>PowerPoint Presentation</vt:lpstr>
      <vt:lpstr>PowerPoint Presentation</vt:lpstr>
      <vt:lpstr>Project analysis slide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Contributions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CHARAN</dc:creator>
  <cp:lastModifiedBy>CHARAN</cp:lastModifiedBy>
  <cp:revision>72</cp:revision>
  <dcterms:created xsi:type="dcterms:W3CDTF">2023-06-28T18:53:58Z</dcterms:created>
  <dcterms:modified xsi:type="dcterms:W3CDTF">2023-07-02T16:14:42Z</dcterms:modified>
</cp:coreProperties>
</file>