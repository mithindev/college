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3" r:id="rId7"/>
    <p:sldId id="294" r:id="rId8"/>
    <p:sldId id="264" r:id="rId9"/>
    <p:sldId id="295" r:id="rId10"/>
    <p:sldId id="296" r:id="rId11"/>
    <p:sldId id="298" r:id="rId12"/>
    <p:sldId id="297" r:id="rId13"/>
    <p:sldId id="309" r:id="rId14"/>
    <p:sldId id="265" r:id="rId15"/>
    <p:sldId id="268" r:id="rId16"/>
    <p:sldId id="269" r:id="rId17"/>
    <p:sldId id="270" r:id="rId18"/>
    <p:sldId id="271" r:id="rId19"/>
    <p:sldId id="272" r:id="rId20"/>
    <p:sldId id="273" r:id="rId21"/>
    <p:sldId id="274" r:id="rId22"/>
    <p:sldId id="275" r:id="rId23"/>
    <p:sldId id="276" r:id="rId24"/>
    <p:sldId id="278" r:id="rId25"/>
    <p:sldId id="279" r:id="rId26"/>
    <p:sldId id="280" r:id="rId27"/>
    <p:sldId id="281" r:id="rId28"/>
    <p:sldId id="282" r:id="rId29"/>
    <p:sldId id="300" r:id="rId30"/>
    <p:sldId id="299" r:id="rId31"/>
    <p:sldId id="301" r:id="rId32"/>
    <p:sldId id="302" r:id="rId33"/>
    <p:sldId id="293" r:id="rId34"/>
    <p:sldId id="308" r:id="rId35"/>
    <p:sldId id="285" r:id="rId36"/>
    <p:sldId id="286" r:id="rId37"/>
    <p:sldId id="287" r:id="rId38"/>
    <p:sldId id="288" r:id="rId39"/>
    <p:sldId id="289" r:id="rId40"/>
    <p:sldId id="290" r:id="rId41"/>
    <p:sldId id="291" r:id="rId42"/>
    <p:sldId id="292" r:id="rId43"/>
    <p:sldId id="277" r:id="rId44"/>
    <p:sldId id="267" r:id="rId45"/>
    <p:sldId id="260" r:id="rId46"/>
    <p:sldId id="261" r:id="rId47"/>
    <p:sldId id="266" r:id="rId48"/>
    <p:sldId id="307" r:id="rId49"/>
    <p:sldId id="303" r:id="rId50"/>
    <p:sldId id="304" r:id="rId51"/>
    <p:sldId id="305" r:id="rId52"/>
    <p:sldId id="306"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10" autoAdjust="0"/>
    <p:restoredTop sz="94291" autoAdjust="0"/>
  </p:normalViewPr>
  <p:slideViewPr>
    <p:cSldViewPr snapToGrid="0">
      <p:cViewPr varScale="1">
        <p:scale>
          <a:sx n="78" d="100"/>
          <a:sy n="78" d="100"/>
        </p:scale>
        <p:origin x="696" y="58"/>
      </p:cViewPr>
      <p:guideLst/>
    </p:cSldViewPr>
  </p:slideViewPr>
  <p:notesTextViewPr>
    <p:cViewPr>
      <p:scale>
        <a:sx n="1" d="1"/>
        <a:sy n="1" d="1"/>
      </p:scale>
      <p:origin x="0" y="0"/>
    </p:cViewPr>
  </p:notesTextViewPr>
  <p:sorterViewPr>
    <p:cViewPr>
      <p:scale>
        <a:sx n="75" d="100"/>
        <a:sy n="75" d="100"/>
      </p:scale>
      <p:origin x="0" y="-814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66009-29B1-441A-A92D-E0718A6A38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EC2F6BB-F716-40CC-855C-CA82472220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CFB8D0-0E52-42C0-B91E-09E77D124145}"/>
              </a:ext>
            </a:extLst>
          </p:cNvPr>
          <p:cNvSpPr>
            <a:spLocks noGrp="1"/>
          </p:cNvSpPr>
          <p:nvPr>
            <p:ph type="dt" sz="half" idx="10"/>
          </p:nvPr>
        </p:nvSpPr>
        <p:spPr/>
        <p:txBody>
          <a:bodyPr/>
          <a:lstStyle/>
          <a:p>
            <a:fld id="{EF6350CF-9B78-434F-B746-ACB457D313EB}" type="datetimeFigureOut">
              <a:rPr lang="en-IN" smtClean="0"/>
              <a:t>21-10-2022</a:t>
            </a:fld>
            <a:endParaRPr lang="en-IN"/>
          </a:p>
        </p:txBody>
      </p:sp>
      <p:sp>
        <p:nvSpPr>
          <p:cNvPr id="5" name="Footer Placeholder 4">
            <a:extLst>
              <a:ext uri="{FF2B5EF4-FFF2-40B4-BE49-F238E27FC236}">
                <a16:creationId xmlns:a16="http://schemas.microsoft.com/office/drawing/2014/main" id="{24C57A42-2A3F-40B4-B113-0EDED333C4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2D88D9-63E4-404B-8056-F729EE9A65CC}"/>
              </a:ext>
            </a:extLst>
          </p:cNvPr>
          <p:cNvSpPr>
            <a:spLocks noGrp="1"/>
          </p:cNvSpPr>
          <p:nvPr>
            <p:ph type="sldNum" sz="quarter" idx="12"/>
          </p:nvPr>
        </p:nvSpPr>
        <p:spPr/>
        <p:txBody>
          <a:bodyPr/>
          <a:lstStyle/>
          <a:p>
            <a:fld id="{5A2B72F7-F3F7-40F0-B96A-F988254CC20F}" type="slidenum">
              <a:rPr lang="en-IN" smtClean="0"/>
              <a:t>‹#›</a:t>
            </a:fld>
            <a:endParaRPr lang="en-IN"/>
          </a:p>
        </p:txBody>
      </p:sp>
    </p:spTree>
    <p:extLst>
      <p:ext uri="{BB962C8B-B14F-4D97-AF65-F5344CB8AC3E}">
        <p14:creationId xmlns:p14="http://schemas.microsoft.com/office/powerpoint/2010/main" val="3405571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15F6B-E1F7-464C-BA0B-3E735A01E1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F4675A-BECD-48F4-9252-CC6064E690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6BA341-EF7F-469F-982E-CB2CD6005FDC}"/>
              </a:ext>
            </a:extLst>
          </p:cNvPr>
          <p:cNvSpPr>
            <a:spLocks noGrp="1"/>
          </p:cNvSpPr>
          <p:nvPr>
            <p:ph type="dt" sz="half" idx="10"/>
          </p:nvPr>
        </p:nvSpPr>
        <p:spPr/>
        <p:txBody>
          <a:bodyPr/>
          <a:lstStyle/>
          <a:p>
            <a:fld id="{EF6350CF-9B78-434F-B746-ACB457D313EB}" type="datetimeFigureOut">
              <a:rPr lang="en-IN" smtClean="0"/>
              <a:t>21-10-2022</a:t>
            </a:fld>
            <a:endParaRPr lang="en-IN"/>
          </a:p>
        </p:txBody>
      </p:sp>
      <p:sp>
        <p:nvSpPr>
          <p:cNvPr id="5" name="Footer Placeholder 4">
            <a:extLst>
              <a:ext uri="{FF2B5EF4-FFF2-40B4-BE49-F238E27FC236}">
                <a16:creationId xmlns:a16="http://schemas.microsoft.com/office/drawing/2014/main" id="{E9E9F221-672B-4659-9B26-95AA54DD1D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09B3E7-66A2-4A2E-819D-01EAD7D5CFE1}"/>
              </a:ext>
            </a:extLst>
          </p:cNvPr>
          <p:cNvSpPr>
            <a:spLocks noGrp="1"/>
          </p:cNvSpPr>
          <p:nvPr>
            <p:ph type="sldNum" sz="quarter" idx="12"/>
          </p:nvPr>
        </p:nvSpPr>
        <p:spPr/>
        <p:txBody>
          <a:bodyPr/>
          <a:lstStyle/>
          <a:p>
            <a:fld id="{5A2B72F7-F3F7-40F0-B96A-F988254CC20F}" type="slidenum">
              <a:rPr lang="en-IN" smtClean="0"/>
              <a:t>‹#›</a:t>
            </a:fld>
            <a:endParaRPr lang="en-IN"/>
          </a:p>
        </p:txBody>
      </p:sp>
    </p:spTree>
    <p:extLst>
      <p:ext uri="{BB962C8B-B14F-4D97-AF65-F5344CB8AC3E}">
        <p14:creationId xmlns:p14="http://schemas.microsoft.com/office/powerpoint/2010/main" val="1553877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2225A-7D32-4460-91C6-6EFA10DA44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481238A-E4F1-469A-BE61-EC8FEF30D1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792888-CDC1-4ED9-86E0-FEA17E1054C3}"/>
              </a:ext>
            </a:extLst>
          </p:cNvPr>
          <p:cNvSpPr>
            <a:spLocks noGrp="1"/>
          </p:cNvSpPr>
          <p:nvPr>
            <p:ph type="dt" sz="half" idx="10"/>
          </p:nvPr>
        </p:nvSpPr>
        <p:spPr/>
        <p:txBody>
          <a:bodyPr/>
          <a:lstStyle/>
          <a:p>
            <a:fld id="{EF6350CF-9B78-434F-B746-ACB457D313EB}" type="datetimeFigureOut">
              <a:rPr lang="en-IN" smtClean="0"/>
              <a:t>21-10-2022</a:t>
            </a:fld>
            <a:endParaRPr lang="en-IN"/>
          </a:p>
        </p:txBody>
      </p:sp>
      <p:sp>
        <p:nvSpPr>
          <p:cNvPr id="5" name="Footer Placeholder 4">
            <a:extLst>
              <a:ext uri="{FF2B5EF4-FFF2-40B4-BE49-F238E27FC236}">
                <a16:creationId xmlns:a16="http://schemas.microsoft.com/office/drawing/2014/main" id="{48CD2128-51B5-4CE4-A9AB-D0A7F74381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F4A23B-4915-42CF-BC08-5789DA5DC7F3}"/>
              </a:ext>
            </a:extLst>
          </p:cNvPr>
          <p:cNvSpPr>
            <a:spLocks noGrp="1"/>
          </p:cNvSpPr>
          <p:nvPr>
            <p:ph type="sldNum" sz="quarter" idx="12"/>
          </p:nvPr>
        </p:nvSpPr>
        <p:spPr/>
        <p:txBody>
          <a:bodyPr/>
          <a:lstStyle/>
          <a:p>
            <a:fld id="{5A2B72F7-F3F7-40F0-B96A-F988254CC20F}" type="slidenum">
              <a:rPr lang="en-IN" smtClean="0"/>
              <a:t>‹#›</a:t>
            </a:fld>
            <a:endParaRPr lang="en-IN"/>
          </a:p>
        </p:txBody>
      </p:sp>
    </p:spTree>
    <p:extLst>
      <p:ext uri="{BB962C8B-B14F-4D97-AF65-F5344CB8AC3E}">
        <p14:creationId xmlns:p14="http://schemas.microsoft.com/office/powerpoint/2010/main" val="2661679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B6BB0-CFA0-4ABC-9630-8366F11EA5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C4D7EF-440D-460E-82F5-033806193A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E54B0F-BE9D-4041-BF2D-7447478839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9883C15-5B01-4B77-91D9-EC0FDEA5BCD6}"/>
              </a:ext>
            </a:extLst>
          </p:cNvPr>
          <p:cNvSpPr>
            <a:spLocks noGrp="1"/>
          </p:cNvSpPr>
          <p:nvPr>
            <p:ph type="dt" sz="half" idx="10"/>
          </p:nvPr>
        </p:nvSpPr>
        <p:spPr/>
        <p:txBody>
          <a:bodyPr/>
          <a:lstStyle/>
          <a:p>
            <a:fld id="{EF6350CF-9B78-434F-B746-ACB457D313EB}" type="datetimeFigureOut">
              <a:rPr lang="en-IN" smtClean="0"/>
              <a:t>21-10-2022</a:t>
            </a:fld>
            <a:endParaRPr lang="en-IN"/>
          </a:p>
        </p:txBody>
      </p:sp>
      <p:sp>
        <p:nvSpPr>
          <p:cNvPr id="6" name="Footer Placeholder 5">
            <a:extLst>
              <a:ext uri="{FF2B5EF4-FFF2-40B4-BE49-F238E27FC236}">
                <a16:creationId xmlns:a16="http://schemas.microsoft.com/office/drawing/2014/main" id="{FC901A91-9AE2-4FFB-9CB5-F44D627233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FE63D24-C553-4DAB-82DA-56F3FD1F9A08}"/>
              </a:ext>
            </a:extLst>
          </p:cNvPr>
          <p:cNvSpPr>
            <a:spLocks noGrp="1"/>
          </p:cNvSpPr>
          <p:nvPr>
            <p:ph type="sldNum" sz="quarter" idx="12"/>
          </p:nvPr>
        </p:nvSpPr>
        <p:spPr/>
        <p:txBody>
          <a:bodyPr/>
          <a:lstStyle/>
          <a:p>
            <a:fld id="{5A2B72F7-F3F7-40F0-B96A-F988254CC20F}" type="slidenum">
              <a:rPr lang="en-IN" smtClean="0"/>
              <a:t>‹#›</a:t>
            </a:fld>
            <a:endParaRPr lang="en-IN"/>
          </a:p>
        </p:txBody>
      </p:sp>
    </p:spTree>
    <p:extLst>
      <p:ext uri="{BB962C8B-B14F-4D97-AF65-F5344CB8AC3E}">
        <p14:creationId xmlns:p14="http://schemas.microsoft.com/office/powerpoint/2010/main" val="224169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EDF78-9BAF-438B-B774-732C81DB1D8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4A21305-EBC6-406C-8500-4A0A7C082B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76CC5D-675A-43F2-9BAD-8100550156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40527E9-D120-46C9-814F-01A371163C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DD3E96-43BA-411C-80E0-F8F2B0D8BC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1C8774B-7798-4A7E-AACF-D881BD0AF038}"/>
              </a:ext>
            </a:extLst>
          </p:cNvPr>
          <p:cNvSpPr>
            <a:spLocks noGrp="1"/>
          </p:cNvSpPr>
          <p:nvPr>
            <p:ph type="dt" sz="half" idx="10"/>
          </p:nvPr>
        </p:nvSpPr>
        <p:spPr/>
        <p:txBody>
          <a:bodyPr/>
          <a:lstStyle/>
          <a:p>
            <a:fld id="{EF6350CF-9B78-434F-B746-ACB457D313EB}" type="datetimeFigureOut">
              <a:rPr lang="en-IN" smtClean="0"/>
              <a:t>21-10-2022</a:t>
            </a:fld>
            <a:endParaRPr lang="en-IN"/>
          </a:p>
        </p:txBody>
      </p:sp>
      <p:sp>
        <p:nvSpPr>
          <p:cNvPr id="8" name="Footer Placeholder 7">
            <a:extLst>
              <a:ext uri="{FF2B5EF4-FFF2-40B4-BE49-F238E27FC236}">
                <a16:creationId xmlns:a16="http://schemas.microsoft.com/office/drawing/2014/main" id="{7C2DCA8F-B6BE-4C5E-B01C-0ABBFCDB737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A2855D7-97BD-4D4C-A266-C5DEA1E2E4F8}"/>
              </a:ext>
            </a:extLst>
          </p:cNvPr>
          <p:cNvSpPr>
            <a:spLocks noGrp="1"/>
          </p:cNvSpPr>
          <p:nvPr>
            <p:ph type="sldNum" sz="quarter" idx="12"/>
          </p:nvPr>
        </p:nvSpPr>
        <p:spPr/>
        <p:txBody>
          <a:bodyPr/>
          <a:lstStyle/>
          <a:p>
            <a:fld id="{5A2B72F7-F3F7-40F0-B96A-F988254CC20F}" type="slidenum">
              <a:rPr lang="en-IN" smtClean="0"/>
              <a:t>‹#›</a:t>
            </a:fld>
            <a:endParaRPr lang="en-IN"/>
          </a:p>
        </p:txBody>
      </p:sp>
    </p:spTree>
    <p:extLst>
      <p:ext uri="{BB962C8B-B14F-4D97-AF65-F5344CB8AC3E}">
        <p14:creationId xmlns:p14="http://schemas.microsoft.com/office/powerpoint/2010/main" val="2609828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84158-9AF2-49A3-A168-8CF9E6C5001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DBDAB46-D0FA-4C26-8875-7C19FB3EA161}"/>
              </a:ext>
            </a:extLst>
          </p:cNvPr>
          <p:cNvSpPr>
            <a:spLocks noGrp="1"/>
          </p:cNvSpPr>
          <p:nvPr>
            <p:ph type="dt" sz="half" idx="10"/>
          </p:nvPr>
        </p:nvSpPr>
        <p:spPr/>
        <p:txBody>
          <a:bodyPr/>
          <a:lstStyle/>
          <a:p>
            <a:fld id="{EF6350CF-9B78-434F-B746-ACB457D313EB}" type="datetimeFigureOut">
              <a:rPr lang="en-IN" smtClean="0"/>
              <a:t>21-10-2022</a:t>
            </a:fld>
            <a:endParaRPr lang="en-IN"/>
          </a:p>
        </p:txBody>
      </p:sp>
      <p:sp>
        <p:nvSpPr>
          <p:cNvPr id="4" name="Footer Placeholder 3">
            <a:extLst>
              <a:ext uri="{FF2B5EF4-FFF2-40B4-BE49-F238E27FC236}">
                <a16:creationId xmlns:a16="http://schemas.microsoft.com/office/drawing/2014/main" id="{B0B43039-60A7-4DED-960F-158EFCFE919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3679065-26EB-4903-9558-B385484F1860}"/>
              </a:ext>
            </a:extLst>
          </p:cNvPr>
          <p:cNvSpPr>
            <a:spLocks noGrp="1"/>
          </p:cNvSpPr>
          <p:nvPr>
            <p:ph type="sldNum" sz="quarter" idx="12"/>
          </p:nvPr>
        </p:nvSpPr>
        <p:spPr/>
        <p:txBody>
          <a:bodyPr/>
          <a:lstStyle/>
          <a:p>
            <a:fld id="{5A2B72F7-F3F7-40F0-B96A-F988254CC20F}" type="slidenum">
              <a:rPr lang="en-IN" smtClean="0"/>
              <a:t>‹#›</a:t>
            </a:fld>
            <a:endParaRPr lang="en-IN"/>
          </a:p>
        </p:txBody>
      </p:sp>
    </p:spTree>
    <p:extLst>
      <p:ext uri="{BB962C8B-B14F-4D97-AF65-F5344CB8AC3E}">
        <p14:creationId xmlns:p14="http://schemas.microsoft.com/office/powerpoint/2010/main" val="754765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3E6CE7-2A7C-43EF-8439-BBD29BC95071}"/>
              </a:ext>
            </a:extLst>
          </p:cNvPr>
          <p:cNvSpPr>
            <a:spLocks noGrp="1"/>
          </p:cNvSpPr>
          <p:nvPr>
            <p:ph type="dt" sz="half" idx="10"/>
          </p:nvPr>
        </p:nvSpPr>
        <p:spPr/>
        <p:txBody>
          <a:bodyPr/>
          <a:lstStyle/>
          <a:p>
            <a:fld id="{EF6350CF-9B78-434F-B746-ACB457D313EB}" type="datetimeFigureOut">
              <a:rPr lang="en-IN" smtClean="0"/>
              <a:t>21-10-2022</a:t>
            </a:fld>
            <a:endParaRPr lang="en-IN"/>
          </a:p>
        </p:txBody>
      </p:sp>
      <p:sp>
        <p:nvSpPr>
          <p:cNvPr id="3" name="Footer Placeholder 2">
            <a:extLst>
              <a:ext uri="{FF2B5EF4-FFF2-40B4-BE49-F238E27FC236}">
                <a16:creationId xmlns:a16="http://schemas.microsoft.com/office/drawing/2014/main" id="{328072F4-63FE-4D73-A159-1B5430F9F9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D1DF245-410F-4998-AFDE-FBA4B2DE5D3C}"/>
              </a:ext>
            </a:extLst>
          </p:cNvPr>
          <p:cNvSpPr>
            <a:spLocks noGrp="1"/>
          </p:cNvSpPr>
          <p:nvPr>
            <p:ph type="sldNum" sz="quarter" idx="12"/>
          </p:nvPr>
        </p:nvSpPr>
        <p:spPr/>
        <p:txBody>
          <a:bodyPr/>
          <a:lstStyle/>
          <a:p>
            <a:fld id="{5A2B72F7-F3F7-40F0-B96A-F988254CC20F}" type="slidenum">
              <a:rPr lang="en-IN" smtClean="0"/>
              <a:t>‹#›</a:t>
            </a:fld>
            <a:endParaRPr lang="en-IN"/>
          </a:p>
        </p:txBody>
      </p:sp>
    </p:spTree>
    <p:extLst>
      <p:ext uri="{BB962C8B-B14F-4D97-AF65-F5344CB8AC3E}">
        <p14:creationId xmlns:p14="http://schemas.microsoft.com/office/powerpoint/2010/main" val="3230003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9F55D-3920-499F-A08F-F86F7C15B5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D6F7D99-50B4-497B-983E-45E7AFACCB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32BB621-9C7B-4865-95EB-1EE975091C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DE822C-2546-475B-B415-AA38B50A4362}"/>
              </a:ext>
            </a:extLst>
          </p:cNvPr>
          <p:cNvSpPr>
            <a:spLocks noGrp="1"/>
          </p:cNvSpPr>
          <p:nvPr>
            <p:ph type="dt" sz="half" idx="10"/>
          </p:nvPr>
        </p:nvSpPr>
        <p:spPr/>
        <p:txBody>
          <a:bodyPr/>
          <a:lstStyle/>
          <a:p>
            <a:fld id="{EF6350CF-9B78-434F-B746-ACB457D313EB}" type="datetimeFigureOut">
              <a:rPr lang="en-IN" smtClean="0"/>
              <a:t>21-10-2022</a:t>
            </a:fld>
            <a:endParaRPr lang="en-IN"/>
          </a:p>
        </p:txBody>
      </p:sp>
      <p:sp>
        <p:nvSpPr>
          <p:cNvPr id="6" name="Footer Placeholder 5">
            <a:extLst>
              <a:ext uri="{FF2B5EF4-FFF2-40B4-BE49-F238E27FC236}">
                <a16:creationId xmlns:a16="http://schemas.microsoft.com/office/drawing/2014/main" id="{134E2804-2792-4599-88C8-D207A8226A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7B14D2-67E8-4534-A54F-E12CF2CB1AC9}"/>
              </a:ext>
            </a:extLst>
          </p:cNvPr>
          <p:cNvSpPr>
            <a:spLocks noGrp="1"/>
          </p:cNvSpPr>
          <p:nvPr>
            <p:ph type="sldNum" sz="quarter" idx="12"/>
          </p:nvPr>
        </p:nvSpPr>
        <p:spPr/>
        <p:txBody>
          <a:bodyPr/>
          <a:lstStyle/>
          <a:p>
            <a:fld id="{5A2B72F7-F3F7-40F0-B96A-F988254CC20F}" type="slidenum">
              <a:rPr lang="en-IN" smtClean="0"/>
              <a:t>‹#›</a:t>
            </a:fld>
            <a:endParaRPr lang="en-IN"/>
          </a:p>
        </p:txBody>
      </p:sp>
    </p:spTree>
    <p:extLst>
      <p:ext uri="{BB962C8B-B14F-4D97-AF65-F5344CB8AC3E}">
        <p14:creationId xmlns:p14="http://schemas.microsoft.com/office/powerpoint/2010/main" val="1247539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FA00D-3283-4EBF-BBE4-5F0BE92BC9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4436B83-C031-4D0B-B5C0-05D36F9283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D9A83BA-286A-416A-9EF3-50220A910B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BB0841-9DAD-4A36-867A-DD9D4F90D824}"/>
              </a:ext>
            </a:extLst>
          </p:cNvPr>
          <p:cNvSpPr>
            <a:spLocks noGrp="1"/>
          </p:cNvSpPr>
          <p:nvPr>
            <p:ph type="dt" sz="half" idx="10"/>
          </p:nvPr>
        </p:nvSpPr>
        <p:spPr/>
        <p:txBody>
          <a:bodyPr/>
          <a:lstStyle/>
          <a:p>
            <a:fld id="{EF6350CF-9B78-434F-B746-ACB457D313EB}" type="datetimeFigureOut">
              <a:rPr lang="en-IN" smtClean="0"/>
              <a:t>21-10-2022</a:t>
            </a:fld>
            <a:endParaRPr lang="en-IN"/>
          </a:p>
        </p:txBody>
      </p:sp>
      <p:sp>
        <p:nvSpPr>
          <p:cNvPr id="6" name="Footer Placeholder 5">
            <a:extLst>
              <a:ext uri="{FF2B5EF4-FFF2-40B4-BE49-F238E27FC236}">
                <a16:creationId xmlns:a16="http://schemas.microsoft.com/office/drawing/2014/main" id="{4BA8BAEC-9610-499D-821A-5E8B1DC319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EEB523-E7FB-463F-8BC2-8666802BD538}"/>
              </a:ext>
            </a:extLst>
          </p:cNvPr>
          <p:cNvSpPr>
            <a:spLocks noGrp="1"/>
          </p:cNvSpPr>
          <p:nvPr>
            <p:ph type="sldNum" sz="quarter" idx="12"/>
          </p:nvPr>
        </p:nvSpPr>
        <p:spPr/>
        <p:txBody>
          <a:bodyPr/>
          <a:lstStyle/>
          <a:p>
            <a:fld id="{5A2B72F7-F3F7-40F0-B96A-F988254CC20F}" type="slidenum">
              <a:rPr lang="en-IN" smtClean="0"/>
              <a:t>‹#›</a:t>
            </a:fld>
            <a:endParaRPr lang="en-IN"/>
          </a:p>
        </p:txBody>
      </p:sp>
    </p:spTree>
    <p:extLst>
      <p:ext uri="{BB962C8B-B14F-4D97-AF65-F5344CB8AC3E}">
        <p14:creationId xmlns:p14="http://schemas.microsoft.com/office/powerpoint/2010/main" val="210046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806D6-FAEF-42C0-A34B-DACAC82052E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CD993A-C0D5-4363-B421-F5D05A3388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A774BA-7583-4614-8105-662D0F0600F0}"/>
              </a:ext>
            </a:extLst>
          </p:cNvPr>
          <p:cNvSpPr>
            <a:spLocks noGrp="1"/>
          </p:cNvSpPr>
          <p:nvPr>
            <p:ph type="dt" sz="half" idx="10"/>
          </p:nvPr>
        </p:nvSpPr>
        <p:spPr/>
        <p:txBody>
          <a:bodyPr/>
          <a:lstStyle/>
          <a:p>
            <a:fld id="{EF6350CF-9B78-434F-B746-ACB457D313EB}" type="datetimeFigureOut">
              <a:rPr lang="en-IN" smtClean="0"/>
              <a:t>21-10-2022</a:t>
            </a:fld>
            <a:endParaRPr lang="en-IN"/>
          </a:p>
        </p:txBody>
      </p:sp>
      <p:sp>
        <p:nvSpPr>
          <p:cNvPr id="5" name="Footer Placeholder 4">
            <a:extLst>
              <a:ext uri="{FF2B5EF4-FFF2-40B4-BE49-F238E27FC236}">
                <a16:creationId xmlns:a16="http://schemas.microsoft.com/office/drawing/2014/main" id="{083CFF65-6652-440B-85A2-3A4AD3E3D8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40CCAF-CFAD-4411-891A-822D7C055846}"/>
              </a:ext>
            </a:extLst>
          </p:cNvPr>
          <p:cNvSpPr>
            <a:spLocks noGrp="1"/>
          </p:cNvSpPr>
          <p:nvPr>
            <p:ph type="sldNum" sz="quarter" idx="12"/>
          </p:nvPr>
        </p:nvSpPr>
        <p:spPr/>
        <p:txBody>
          <a:bodyPr/>
          <a:lstStyle/>
          <a:p>
            <a:fld id="{5A2B72F7-F3F7-40F0-B96A-F988254CC20F}" type="slidenum">
              <a:rPr lang="en-IN" smtClean="0"/>
              <a:t>‹#›</a:t>
            </a:fld>
            <a:endParaRPr lang="en-IN"/>
          </a:p>
        </p:txBody>
      </p:sp>
    </p:spTree>
    <p:extLst>
      <p:ext uri="{BB962C8B-B14F-4D97-AF65-F5344CB8AC3E}">
        <p14:creationId xmlns:p14="http://schemas.microsoft.com/office/powerpoint/2010/main" val="1791400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FB5138-EBAD-410E-A9FA-1563F9A25B9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9AF59B-9F8F-472B-9550-2E70352C97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621D7D-08F5-42B8-85A2-0E041A3A03AA}"/>
              </a:ext>
            </a:extLst>
          </p:cNvPr>
          <p:cNvSpPr>
            <a:spLocks noGrp="1"/>
          </p:cNvSpPr>
          <p:nvPr>
            <p:ph type="dt" sz="half" idx="10"/>
          </p:nvPr>
        </p:nvSpPr>
        <p:spPr/>
        <p:txBody>
          <a:bodyPr/>
          <a:lstStyle/>
          <a:p>
            <a:fld id="{EF6350CF-9B78-434F-B746-ACB457D313EB}" type="datetimeFigureOut">
              <a:rPr lang="en-IN" smtClean="0"/>
              <a:t>21-10-2022</a:t>
            </a:fld>
            <a:endParaRPr lang="en-IN"/>
          </a:p>
        </p:txBody>
      </p:sp>
      <p:sp>
        <p:nvSpPr>
          <p:cNvPr id="5" name="Footer Placeholder 4">
            <a:extLst>
              <a:ext uri="{FF2B5EF4-FFF2-40B4-BE49-F238E27FC236}">
                <a16:creationId xmlns:a16="http://schemas.microsoft.com/office/drawing/2014/main" id="{2BC7B3DA-C97D-493D-A146-93EACC53F7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8DA7B8-1AC6-4449-81F0-394B6C16C558}"/>
              </a:ext>
            </a:extLst>
          </p:cNvPr>
          <p:cNvSpPr>
            <a:spLocks noGrp="1"/>
          </p:cNvSpPr>
          <p:nvPr>
            <p:ph type="sldNum" sz="quarter" idx="12"/>
          </p:nvPr>
        </p:nvSpPr>
        <p:spPr/>
        <p:txBody>
          <a:bodyPr/>
          <a:lstStyle/>
          <a:p>
            <a:fld id="{5A2B72F7-F3F7-40F0-B96A-F988254CC20F}" type="slidenum">
              <a:rPr lang="en-IN" smtClean="0"/>
              <a:t>‹#›</a:t>
            </a:fld>
            <a:endParaRPr lang="en-IN"/>
          </a:p>
        </p:txBody>
      </p:sp>
    </p:spTree>
    <p:extLst>
      <p:ext uri="{BB962C8B-B14F-4D97-AF65-F5344CB8AC3E}">
        <p14:creationId xmlns:p14="http://schemas.microsoft.com/office/powerpoint/2010/main" val="2841317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4BAD03-B822-4C04-98A4-220EE05305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D7ADFE-647D-433F-A521-E810AE67AE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12C180-79B0-4DC2-BC19-F6F07910DA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6350CF-9B78-434F-B746-ACB457D313EB}" type="datetimeFigureOut">
              <a:rPr lang="en-IN" smtClean="0"/>
              <a:t>21-10-2022</a:t>
            </a:fld>
            <a:endParaRPr lang="en-IN"/>
          </a:p>
        </p:txBody>
      </p:sp>
      <p:sp>
        <p:nvSpPr>
          <p:cNvPr id="5" name="Footer Placeholder 4">
            <a:extLst>
              <a:ext uri="{FF2B5EF4-FFF2-40B4-BE49-F238E27FC236}">
                <a16:creationId xmlns:a16="http://schemas.microsoft.com/office/drawing/2014/main" id="{36FA1FD9-05FD-4995-827E-168049C631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CADB257-7F8C-47A7-A839-E28DD00E7C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2B72F7-F3F7-40F0-B96A-F988254CC20F}" type="slidenum">
              <a:rPr lang="en-IN" smtClean="0"/>
              <a:t>‹#›</a:t>
            </a:fld>
            <a:endParaRPr lang="en-IN"/>
          </a:p>
        </p:txBody>
      </p:sp>
    </p:spTree>
    <p:extLst>
      <p:ext uri="{BB962C8B-B14F-4D97-AF65-F5344CB8AC3E}">
        <p14:creationId xmlns:p14="http://schemas.microsoft.com/office/powerpoint/2010/main" val="2108630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9.wmf"/></Relationships>
</file>

<file path=ppt/slides/_rels/slide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wmf"/><Relationship Id="rId7" Type="http://schemas.openxmlformats.org/officeDocument/2006/relationships/image" Target="../media/image13.wmf"/><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oleObject" Target="../embeddings/oleObject5.bin"/><Relationship Id="rId5" Type="http://schemas.openxmlformats.org/officeDocument/2006/relationships/image" Target="../media/image12.wmf"/><Relationship Id="rId4"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4.wmf"/><Relationship Id="rId7" Type="http://schemas.openxmlformats.org/officeDocument/2006/relationships/image" Target="../media/image16.wmf"/><Relationship Id="rId2" Type="http://schemas.openxmlformats.org/officeDocument/2006/relationships/oleObject" Target="../embeddings/oleObject6.bin"/><Relationship Id="rId1" Type="http://schemas.openxmlformats.org/officeDocument/2006/relationships/slideLayout" Target="../slideLayouts/slideLayout7.xml"/><Relationship Id="rId6" Type="http://schemas.openxmlformats.org/officeDocument/2006/relationships/oleObject" Target="../embeddings/oleObject8.bin"/><Relationship Id="rId5" Type="http://schemas.openxmlformats.org/officeDocument/2006/relationships/image" Target="../media/image15.wmf"/><Relationship Id="rId4" Type="http://schemas.openxmlformats.org/officeDocument/2006/relationships/oleObject" Target="../embeddings/oleObject7.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19.wmf"/></Relationships>
</file>

<file path=ppt/slides/_rels/slide13.xml.rels><?xml version="1.0" encoding="UTF-8" standalone="yes"?>
<Relationships xmlns="http://schemas.openxmlformats.org/package/2006/relationships"><Relationship Id="rId3" Type="http://schemas.openxmlformats.org/officeDocument/2006/relationships/image" Target="../media/image20.wmf"/><Relationship Id="rId7" Type="http://schemas.openxmlformats.org/officeDocument/2006/relationships/image" Target="../media/image22.wmf"/><Relationship Id="rId2" Type="http://schemas.openxmlformats.org/officeDocument/2006/relationships/oleObject" Target="../embeddings/oleObject10.bin"/><Relationship Id="rId1" Type="http://schemas.openxmlformats.org/officeDocument/2006/relationships/slideLayout" Target="../slideLayouts/slideLayout7.xml"/><Relationship Id="rId6" Type="http://schemas.openxmlformats.org/officeDocument/2006/relationships/oleObject" Target="../embeddings/oleObject12.bin"/><Relationship Id="rId5" Type="http://schemas.openxmlformats.org/officeDocument/2006/relationships/image" Target="../media/image21.wmf"/><Relationship Id="rId4" Type="http://schemas.openxmlformats.org/officeDocument/2006/relationships/oleObject" Target="../embeddings/oleObject11.bin"/></Relationships>
</file>

<file path=ppt/slides/_rels/slide14.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13.bin"/><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0.wmf"/><Relationship Id="rId7" Type="http://schemas.openxmlformats.org/officeDocument/2006/relationships/image" Target="../media/image42.wmf"/><Relationship Id="rId2" Type="http://schemas.openxmlformats.org/officeDocument/2006/relationships/oleObject" Target="../embeddings/oleObject14.bin"/><Relationship Id="rId1" Type="http://schemas.openxmlformats.org/officeDocument/2006/relationships/slideLayout" Target="../slideLayouts/slideLayout7.xml"/><Relationship Id="rId6" Type="http://schemas.openxmlformats.org/officeDocument/2006/relationships/oleObject" Target="../embeddings/oleObject16.bin"/><Relationship Id="rId5" Type="http://schemas.openxmlformats.org/officeDocument/2006/relationships/image" Target="../media/image41.wmf"/><Relationship Id="rId4" Type="http://schemas.openxmlformats.org/officeDocument/2006/relationships/oleObject" Target="../embeddings/oleObject15.bin"/></Relationships>
</file>

<file path=ppt/slides/_rels/slide31.xml.rels><?xml version="1.0" encoding="UTF-8" standalone="yes"?>
<Relationships xmlns="http://schemas.openxmlformats.org/package/2006/relationships"><Relationship Id="rId3" Type="http://schemas.openxmlformats.org/officeDocument/2006/relationships/image" Target="../media/image43.wmf"/><Relationship Id="rId7" Type="http://schemas.openxmlformats.org/officeDocument/2006/relationships/image" Target="../media/image45.wmf"/><Relationship Id="rId2" Type="http://schemas.openxmlformats.org/officeDocument/2006/relationships/oleObject" Target="../embeddings/oleObject17.bin"/><Relationship Id="rId1" Type="http://schemas.openxmlformats.org/officeDocument/2006/relationships/slideLayout" Target="../slideLayouts/slideLayout7.xml"/><Relationship Id="rId6" Type="http://schemas.openxmlformats.org/officeDocument/2006/relationships/oleObject" Target="../embeddings/oleObject19.bin"/><Relationship Id="rId5" Type="http://schemas.openxmlformats.org/officeDocument/2006/relationships/image" Target="../media/image44.wmf"/><Relationship Id="rId4" Type="http://schemas.openxmlformats.org/officeDocument/2006/relationships/oleObject" Target="../embeddings/oleObject18.bin"/></Relationships>
</file>

<file path=ppt/slides/_rels/slide32.xml.rels><?xml version="1.0" encoding="UTF-8" standalone="yes"?>
<Relationships xmlns="http://schemas.openxmlformats.org/package/2006/relationships"><Relationship Id="rId3" Type="http://schemas.openxmlformats.org/officeDocument/2006/relationships/image" Target="../media/image46.wmf"/><Relationship Id="rId7" Type="http://schemas.openxmlformats.org/officeDocument/2006/relationships/image" Target="../media/image48.wmf"/><Relationship Id="rId2" Type="http://schemas.openxmlformats.org/officeDocument/2006/relationships/oleObject" Target="../embeddings/oleObject20.bin"/><Relationship Id="rId1" Type="http://schemas.openxmlformats.org/officeDocument/2006/relationships/slideLayout" Target="../slideLayouts/slideLayout7.xml"/><Relationship Id="rId6" Type="http://schemas.openxmlformats.org/officeDocument/2006/relationships/oleObject" Target="../embeddings/oleObject22.bin"/><Relationship Id="rId5" Type="http://schemas.openxmlformats.org/officeDocument/2006/relationships/image" Target="../media/image47.wmf"/><Relationship Id="rId4" Type="http://schemas.openxmlformats.org/officeDocument/2006/relationships/oleObject" Target="../embeddings/oleObject21.bin"/></Relationships>
</file>

<file path=ppt/slides/_rels/slide33.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23.bin"/><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hyperlink" Target="https://gruber.yale.edu/rosalind-franklin-young-investigator-award" TargetMode="Externa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hyperlink" Target="https://www.youtube.com/watch?time_continue=21&amp;v=u6Gc0nvN9xs&amp;feature=emb_logo" TargetMode="External"/><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oleObject" Target="../embeddings/oleObject24.bin"/><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89E1EE-B77C-438C-A464-8EEFF2E2FBEE}"/>
              </a:ext>
            </a:extLst>
          </p:cNvPr>
          <p:cNvPicPr>
            <a:picLocks noChangeAspect="1"/>
          </p:cNvPicPr>
          <p:nvPr/>
        </p:nvPicPr>
        <p:blipFill>
          <a:blip r:embed="rId2"/>
          <a:stretch>
            <a:fillRect/>
          </a:stretch>
        </p:blipFill>
        <p:spPr>
          <a:xfrm>
            <a:off x="1061209" y="1307063"/>
            <a:ext cx="10509199" cy="3821527"/>
          </a:xfrm>
          <a:prstGeom prst="rect">
            <a:avLst/>
          </a:prstGeom>
        </p:spPr>
      </p:pic>
      <p:sp>
        <p:nvSpPr>
          <p:cNvPr id="6" name="Rectangle 5">
            <a:extLst>
              <a:ext uri="{FF2B5EF4-FFF2-40B4-BE49-F238E27FC236}">
                <a16:creationId xmlns:a16="http://schemas.microsoft.com/office/drawing/2014/main" id="{31DD67ED-19BC-43C4-9037-437EC19AAD53}"/>
              </a:ext>
            </a:extLst>
          </p:cNvPr>
          <p:cNvSpPr/>
          <p:nvPr/>
        </p:nvSpPr>
        <p:spPr>
          <a:xfrm>
            <a:off x="7324848" y="1880656"/>
            <a:ext cx="3597460" cy="923330"/>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5400" b="1" cap="none" spc="0" dirty="0">
                <a:ln/>
                <a:solidFill>
                  <a:schemeClr val="accent4"/>
                </a:solidFill>
                <a:effectLst/>
              </a:rPr>
              <a:t>Principle of </a:t>
            </a:r>
          </a:p>
        </p:txBody>
      </p:sp>
    </p:spTree>
    <p:extLst>
      <p:ext uri="{BB962C8B-B14F-4D97-AF65-F5344CB8AC3E}">
        <p14:creationId xmlns:p14="http://schemas.microsoft.com/office/powerpoint/2010/main" val="3874537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E6CBD78-8FFF-4640-A205-2A5415962B27}"/>
              </a:ext>
            </a:extLst>
          </p:cNvPr>
          <p:cNvPicPr>
            <a:picLocks noChangeAspect="1"/>
          </p:cNvPicPr>
          <p:nvPr/>
        </p:nvPicPr>
        <p:blipFill>
          <a:blip r:embed="rId2"/>
          <a:stretch>
            <a:fillRect/>
          </a:stretch>
        </p:blipFill>
        <p:spPr>
          <a:xfrm>
            <a:off x="196231" y="0"/>
            <a:ext cx="11936239" cy="6665843"/>
          </a:xfrm>
          <a:prstGeom prst="rect">
            <a:avLst/>
          </a:prstGeom>
        </p:spPr>
      </p:pic>
    </p:spTree>
    <p:extLst>
      <p:ext uri="{BB962C8B-B14F-4D97-AF65-F5344CB8AC3E}">
        <p14:creationId xmlns:p14="http://schemas.microsoft.com/office/powerpoint/2010/main" val="269385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642B33-F77F-4873-9495-8BA8573F8672}"/>
              </a:ext>
            </a:extLst>
          </p:cNvPr>
          <p:cNvPicPr>
            <a:picLocks noChangeAspect="1"/>
          </p:cNvPicPr>
          <p:nvPr/>
        </p:nvPicPr>
        <p:blipFill>
          <a:blip r:embed="rId2"/>
          <a:stretch>
            <a:fillRect/>
          </a:stretch>
        </p:blipFill>
        <p:spPr>
          <a:xfrm>
            <a:off x="0" y="0"/>
            <a:ext cx="10601739" cy="6858000"/>
          </a:xfrm>
          <a:prstGeom prst="rect">
            <a:avLst/>
          </a:prstGeom>
        </p:spPr>
      </p:pic>
      <p:pic>
        <p:nvPicPr>
          <p:cNvPr id="3" name="Picture 2">
            <a:extLst>
              <a:ext uri="{FF2B5EF4-FFF2-40B4-BE49-F238E27FC236}">
                <a16:creationId xmlns:a16="http://schemas.microsoft.com/office/drawing/2014/main" id="{D34177BF-7861-4505-93F9-2B9F9FA256A3}"/>
              </a:ext>
            </a:extLst>
          </p:cNvPr>
          <p:cNvPicPr>
            <a:picLocks noChangeAspect="1"/>
          </p:cNvPicPr>
          <p:nvPr/>
        </p:nvPicPr>
        <p:blipFill>
          <a:blip r:embed="rId3"/>
          <a:stretch>
            <a:fillRect/>
          </a:stretch>
        </p:blipFill>
        <p:spPr>
          <a:xfrm>
            <a:off x="10730873" y="293025"/>
            <a:ext cx="1305488" cy="895641"/>
          </a:xfrm>
          <a:prstGeom prst="rect">
            <a:avLst/>
          </a:prstGeom>
        </p:spPr>
      </p:pic>
    </p:spTree>
    <p:extLst>
      <p:ext uri="{BB962C8B-B14F-4D97-AF65-F5344CB8AC3E}">
        <p14:creationId xmlns:p14="http://schemas.microsoft.com/office/powerpoint/2010/main" val="3883389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1F4BD-7E83-4688-8386-EE2145658282}"/>
              </a:ext>
            </a:extLst>
          </p:cNvPr>
          <p:cNvPicPr>
            <a:picLocks noChangeAspect="1"/>
          </p:cNvPicPr>
          <p:nvPr/>
        </p:nvPicPr>
        <p:blipFill>
          <a:blip r:embed="rId2"/>
          <a:stretch>
            <a:fillRect/>
          </a:stretch>
        </p:blipFill>
        <p:spPr>
          <a:xfrm>
            <a:off x="0" y="-731520"/>
            <a:ext cx="12192000" cy="6858000"/>
          </a:xfrm>
          <a:prstGeom prst="rect">
            <a:avLst/>
          </a:prstGeom>
        </p:spPr>
      </p:pic>
    </p:spTree>
    <p:extLst>
      <p:ext uri="{BB962C8B-B14F-4D97-AF65-F5344CB8AC3E}">
        <p14:creationId xmlns:p14="http://schemas.microsoft.com/office/powerpoint/2010/main" val="2409302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D4D5F4D-0A8F-4CE1-BE89-E414982AFFCF}"/>
              </a:ext>
            </a:extLst>
          </p:cNvPr>
          <p:cNvPicPr>
            <a:picLocks noChangeAspect="1"/>
          </p:cNvPicPr>
          <p:nvPr/>
        </p:nvPicPr>
        <p:blipFill>
          <a:blip r:embed="rId2"/>
          <a:stretch>
            <a:fillRect/>
          </a:stretch>
        </p:blipFill>
        <p:spPr>
          <a:xfrm>
            <a:off x="0" y="-885118"/>
            <a:ext cx="12192000" cy="6745357"/>
          </a:xfrm>
          <a:prstGeom prst="rect">
            <a:avLst/>
          </a:prstGeom>
        </p:spPr>
      </p:pic>
      <p:sp>
        <p:nvSpPr>
          <p:cNvPr id="4" name="Oval 3">
            <a:extLst>
              <a:ext uri="{FF2B5EF4-FFF2-40B4-BE49-F238E27FC236}">
                <a16:creationId xmlns:a16="http://schemas.microsoft.com/office/drawing/2014/main" id="{6124A8BE-22B6-422C-B41D-499AD2B53015}"/>
              </a:ext>
            </a:extLst>
          </p:cNvPr>
          <p:cNvSpPr/>
          <p:nvPr/>
        </p:nvSpPr>
        <p:spPr>
          <a:xfrm>
            <a:off x="154324" y="3859161"/>
            <a:ext cx="2266122" cy="200107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8562746A-622F-4D40-88BE-8C42371B8F61}"/>
              </a:ext>
            </a:extLst>
          </p:cNvPr>
          <p:cNvSpPr/>
          <p:nvPr/>
        </p:nvSpPr>
        <p:spPr>
          <a:xfrm>
            <a:off x="1441709" y="3859161"/>
            <a:ext cx="2266122" cy="200107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3641D41-1F8A-4840-B190-4EEEE1603902}"/>
              </a:ext>
            </a:extLst>
          </p:cNvPr>
          <p:cNvSpPr txBox="1"/>
          <p:nvPr/>
        </p:nvSpPr>
        <p:spPr>
          <a:xfrm>
            <a:off x="840658" y="4424516"/>
            <a:ext cx="393056" cy="584775"/>
          </a:xfrm>
          <a:prstGeom prst="rect">
            <a:avLst/>
          </a:prstGeom>
          <a:noFill/>
        </p:spPr>
        <p:txBody>
          <a:bodyPr wrap="none" rtlCol="0">
            <a:spAutoFit/>
          </a:bodyPr>
          <a:lstStyle/>
          <a:p>
            <a:r>
              <a:rPr lang="en-IN" sz="3200" b="1" dirty="0"/>
              <a:t>1</a:t>
            </a:r>
          </a:p>
        </p:txBody>
      </p:sp>
      <p:sp>
        <p:nvSpPr>
          <p:cNvPr id="7" name="TextBox 6">
            <a:extLst>
              <a:ext uri="{FF2B5EF4-FFF2-40B4-BE49-F238E27FC236}">
                <a16:creationId xmlns:a16="http://schemas.microsoft.com/office/drawing/2014/main" id="{521B0380-AE7B-4961-BF0C-9DBD96B4591A}"/>
              </a:ext>
            </a:extLst>
          </p:cNvPr>
          <p:cNvSpPr txBox="1"/>
          <p:nvPr/>
        </p:nvSpPr>
        <p:spPr>
          <a:xfrm>
            <a:off x="840658" y="5235677"/>
            <a:ext cx="393056" cy="584775"/>
          </a:xfrm>
          <a:prstGeom prst="rect">
            <a:avLst/>
          </a:prstGeom>
          <a:noFill/>
        </p:spPr>
        <p:txBody>
          <a:bodyPr wrap="none" rtlCol="0">
            <a:spAutoFit/>
          </a:bodyPr>
          <a:lstStyle/>
          <a:p>
            <a:r>
              <a:rPr lang="en-IN" sz="3200" dirty="0"/>
              <a:t>2</a:t>
            </a:r>
          </a:p>
        </p:txBody>
      </p:sp>
      <p:sp>
        <p:nvSpPr>
          <p:cNvPr id="8" name="TextBox 7">
            <a:extLst>
              <a:ext uri="{FF2B5EF4-FFF2-40B4-BE49-F238E27FC236}">
                <a16:creationId xmlns:a16="http://schemas.microsoft.com/office/drawing/2014/main" id="{87902CC0-66EB-4D3D-B08F-6F01CEDE557D}"/>
              </a:ext>
            </a:extLst>
          </p:cNvPr>
          <p:cNvSpPr txBox="1"/>
          <p:nvPr/>
        </p:nvSpPr>
        <p:spPr>
          <a:xfrm>
            <a:off x="1917290" y="4793848"/>
            <a:ext cx="367408" cy="523220"/>
          </a:xfrm>
          <a:prstGeom prst="rect">
            <a:avLst/>
          </a:prstGeom>
          <a:noFill/>
        </p:spPr>
        <p:txBody>
          <a:bodyPr wrap="none" rtlCol="0">
            <a:spAutoFit/>
          </a:bodyPr>
          <a:lstStyle/>
          <a:p>
            <a:r>
              <a:rPr lang="en-IN" sz="2800" dirty="0"/>
              <a:t>3</a:t>
            </a:r>
          </a:p>
        </p:txBody>
      </p:sp>
      <p:sp>
        <p:nvSpPr>
          <p:cNvPr id="9" name="TextBox 8">
            <a:extLst>
              <a:ext uri="{FF2B5EF4-FFF2-40B4-BE49-F238E27FC236}">
                <a16:creationId xmlns:a16="http://schemas.microsoft.com/office/drawing/2014/main" id="{D3C408EA-5A59-4C63-A58A-F411C2D54B59}"/>
              </a:ext>
            </a:extLst>
          </p:cNvPr>
          <p:cNvSpPr txBox="1"/>
          <p:nvPr/>
        </p:nvSpPr>
        <p:spPr>
          <a:xfrm>
            <a:off x="1689285" y="4424516"/>
            <a:ext cx="393056" cy="584775"/>
          </a:xfrm>
          <a:prstGeom prst="rect">
            <a:avLst/>
          </a:prstGeom>
          <a:noFill/>
        </p:spPr>
        <p:txBody>
          <a:bodyPr wrap="none" rtlCol="0">
            <a:spAutoFit/>
          </a:bodyPr>
          <a:lstStyle/>
          <a:p>
            <a:r>
              <a:rPr lang="en-IN" sz="3200" dirty="0"/>
              <a:t>4</a:t>
            </a:r>
          </a:p>
        </p:txBody>
      </p:sp>
      <p:sp>
        <p:nvSpPr>
          <p:cNvPr id="10" name="TextBox 9">
            <a:extLst>
              <a:ext uri="{FF2B5EF4-FFF2-40B4-BE49-F238E27FC236}">
                <a16:creationId xmlns:a16="http://schemas.microsoft.com/office/drawing/2014/main" id="{C9A99D3A-5A31-44E2-A967-3F231ED9E09A}"/>
              </a:ext>
            </a:extLst>
          </p:cNvPr>
          <p:cNvSpPr txBox="1"/>
          <p:nvPr/>
        </p:nvSpPr>
        <p:spPr>
          <a:xfrm>
            <a:off x="2719811" y="4424516"/>
            <a:ext cx="393056" cy="584775"/>
          </a:xfrm>
          <a:prstGeom prst="rect">
            <a:avLst/>
          </a:prstGeom>
          <a:noFill/>
        </p:spPr>
        <p:txBody>
          <a:bodyPr wrap="none" rtlCol="0">
            <a:spAutoFit/>
          </a:bodyPr>
          <a:lstStyle/>
          <a:p>
            <a:r>
              <a:rPr lang="en-IN" sz="3200" dirty="0"/>
              <a:t>5</a:t>
            </a:r>
          </a:p>
        </p:txBody>
      </p:sp>
      <p:sp>
        <p:nvSpPr>
          <p:cNvPr id="11" name="TextBox 10">
            <a:extLst>
              <a:ext uri="{FF2B5EF4-FFF2-40B4-BE49-F238E27FC236}">
                <a16:creationId xmlns:a16="http://schemas.microsoft.com/office/drawing/2014/main" id="{6688A897-15CB-4D41-8E1B-89CD4951750E}"/>
              </a:ext>
            </a:extLst>
          </p:cNvPr>
          <p:cNvSpPr txBox="1"/>
          <p:nvPr/>
        </p:nvSpPr>
        <p:spPr>
          <a:xfrm>
            <a:off x="2719811" y="5235677"/>
            <a:ext cx="367408" cy="523220"/>
          </a:xfrm>
          <a:prstGeom prst="rect">
            <a:avLst/>
          </a:prstGeom>
          <a:noFill/>
        </p:spPr>
        <p:txBody>
          <a:bodyPr wrap="none" rtlCol="0">
            <a:spAutoFit/>
          </a:bodyPr>
          <a:lstStyle/>
          <a:p>
            <a:r>
              <a:rPr lang="en-IN" sz="2800" dirty="0"/>
              <a:t>6</a:t>
            </a:r>
          </a:p>
        </p:txBody>
      </p:sp>
      <p:sp>
        <p:nvSpPr>
          <p:cNvPr id="12" name="Rectangle 11">
            <a:extLst>
              <a:ext uri="{FF2B5EF4-FFF2-40B4-BE49-F238E27FC236}">
                <a16:creationId xmlns:a16="http://schemas.microsoft.com/office/drawing/2014/main" id="{65CAA3F6-A358-4708-9714-F389450FA36F}"/>
              </a:ext>
            </a:extLst>
          </p:cNvPr>
          <p:cNvSpPr/>
          <p:nvPr/>
        </p:nvSpPr>
        <p:spPr>
          <a:xfrm>
            <a:off x="459586" y="3455825"/>
            <a:ext cx="585417"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A</a:t>
            </a:r>
          </a:p>
        </p:txBody>
      </p:sp>
      <p:sp>
        <p:nvSpPr>
          <p:cNvPr id="13" name="Rectangle 12">
            <a:extLst>
              <a:ext uri="{FF2B5EF4-FFF2-40B4-BE49-F238E27FC236}">
                <a16:creationId xmlns:a16="http://schemas.microsoft.com/office/drawing/2014/main" id="{EA762A20-D61B-4999-9C08-F5DD0A1EDE65}"/>
              </a:ext>
            </a:extLst>
          </p:cNvPr>
          <p:cNvSpPr/>
          <p:nvPr/>
        </p:nvSpPr>
        <p:spPr>
          <a:xfrm>
            <a:off x="2437205" y="3387993"/>
            <a:ext cx="561371"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B</a:t>
            </a:r>
          </a:p>
        </p:txBody>
      </p:sp>
    </p:spTree>
    <p:extLst>
      <p:ext uri="{BB962C8B-B14F-4D97-AF65-F5344CB8AC3E}">
        <p14:creationId xmlns:p14="http://schemas.microsoft.com/office/powerpoint/2010/main" val="2769497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2B594B4-9D40-485D-920C-2C519E841462}"/>
              </a:ext>
            </a:extLst>
          </p:cNvPr>
          <p:cNvPicPr>
            <a:picLocks noChangeAspect="1"/>
          </p:cNvPicPr>
          <p:nvPr/>
        </p:nvPicPr>
        <p:blipFill>
          <a:blip r:embed="rId2"/>
          <a:stretch>
            <a:fillRect/>
          </a:stretch>
        </p:blipFill>
        <p:spPr>
          <a:xfrm>
            <a:off x="518829" y="0"/>
            <a:ext cx="11345412" cy="5446644"/>
          </a:xfrm>
          <a:prstGeom prst="rect">
            <a:avLst/>
          </a:prstGeom>
        </p:spPr>
      </p:pic>
      <p:sp>
        <p:nvSpPr>
          <p:cNvPr id="4" name="Rectangle 3">
            <a:extLst>
              <a:ext uri="{FF2B5EF4-FFF2-40B4-BE49-F238E27FC236}">
                <a16:creationId xmlns:a16="http://schemas.microsoft.com/office/drawing/2014/main" id="{6836CD39-3FD5-4263-9D6C-75732B5561D7}"/>
              </a:ext>
            </a:extLst>
          </p:cNvPr>
          <p:cNvSpPr/>
          <p:nvPr/>
        </p:nvSpPr>
        <p:spPr>
          <a:xfrm>
            <a:off x="89845" y="5596770"/>
            <a:ext cx="11608884" cy="954107"/>
          </a:xfrm>
          <a:prstGeom prst="rect">
            <a:avLst/>
          </a:prstGeom>
          <a:noFill/>
        </p:spPr>
        <p:txBody>
          <a:bodyPr wrap="none" lIns="91440" tIns="45720" rIns="91440" bIns="45720">
            <a:spAutoFit/>
          </a:bodyPr>
          <a:lstStyle/>
          <a:p>
            <a:pPr algn="ctr"/>
            <a:r>
              <a:rPr lang="en-US" sz="2800" b="1" cap="none" spc="0" dirty="0">
                <a:ln w="0"/>
                <a:solidFill>
                  <a:schemeClr val="tx1"/>
                </a:solidFill>
                <a:effectLst>
                  <a:outerShdw blurRad="38100" dist="19050" dir="2700000" algn="tl" rotWithShape="0">
                    <a:schemeClr val="dk1">
                      <a:alpha val="40000"/>
                    </a:schemeClr>
                  </a:outerShdw>
                </a:effectLst>
              </a:rPr>
              <a:t>The number written shows how may times </a:t>
            </a:r>
            <a:r>
              <a:rPr lang="en-US" sz="2800" b="1" cap="none" spc="0" dirty="0">
                <a:ln w="0"/>
                <a:solidFill>
                  <a:srgbClr val="FF0000"/>
                </a:solidFill>
                <a:effectLst>
                  <a:outerShdw blurRad="38100" dist="19050" dir="2700000" algn="tl" rotWithShape="0">
                    <a:schemeClr val="dk1">
                      <a:alpha val="40000"/>
                    </a:schemeClr>
                  </a:outerShdw>
                </a:effectLst>
              </a:rPr>
              <a:t>cardinality of the subset </a:t>
            </a:r>
            <a:r>
              <a:rPr lang="en-US" sz="2800" b="1" cap="none" spc="0" dirty="0">
                <a:ln w="0"/>
                <a:solidFill>
                  <a:schemeClr val="tx1"/>
                </a:solidFill>
                <a:effectLst>
                  <a:outerShdw blurRad="38100" dist="19050" dir="2700000" algn="tl" rotWithShape="0">
                    <a:schemeClr val="dk1">
                      <a:alpha val="40000"/>
                    </a:schemeClr>
                  </a:outerShdw>
                </a:effectLst>
              </a:rPr>
              <a:t>counted </a:t>
            </a:r>
          </a:p>
          <a:p>
            <a:pPr algn="ctr"/>
            <a:r>
              <a:rPr lang="en-US" sz="2800" b="1" cap="none" spc="0" dirty="0">
                <a:ln w="0"/>
                <a:solidFill>
                  <a:schemeClr val="tx1"/>
                </a:solidFill>
                <a:effectLst>
                  <a:outerShdw blurRad="38100" dist="19050" dir="2700000" algn="tl" rotWithShape="0">
                    <a:schemeClr val="dk1">
                      <a:alpha val="40000"/>
                    </a:schemeClr>
                  </a:outerShdw>
                </a:effectLst>
              </a:rPr>
              <a:t>on successive inclusion and exclusion</a:t>
            </a:r>
          </a:p>
        </p:txBody>
      </p:sp>
    </p:spTree>
    <p:extLst>
      <p:ext uri="{BB962C8B-B14F-4D97-AF65-F5344CB8AC3E}">
        <p14:creationId xmlns:p14="http://schemas.microsoft.com/office/powerpoint/2010/main" val="1655806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7B3DEE1-AF57-40E7-AAEB-D516E8F3678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954542" y="-14426"/>
            <a:ext cx="10700088" cy="4943911"/>
          </a:xfrm>
          <a:prstGeom prst="rect">
            <a:avLst/>
          </a:prstGeom>
          <a:noFill/>
          <a:ln>
            <a:noFill/>
          </a:ln>
        </p:spPr>
      </p:pic>
      <p:sp>
        <p:nvSpPr>
          <p:cNvPr id="3" name="Rectangle 2">
            <a:extLst>
              <a:ext uri="{FF2B5EF4-FFF2-40B4-BE49-F238E27FC236}">
                <a16:creationId xmlns:a16="http://schemas.microsoft.com/office/drawing/2014/main" id="{032F37FA-017C-4A72-B131-5DDB882F5921}"/>
              </a:ext>
            </a:extLst>
          </p:cNvPr>
          <p:cNvSpPr>
            <a:spLocks noChangeArrowheads="1"/>
          </p:cNvSpPr>
          <p:nvPr/>
        </p:nvSpPr>
        <p:spPr bwMode="auto">
          <a:xfrm>
            <a:off x="752167" y="604683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4" name="Object 3">
            <a:extLst>
              <a:ext uri="{FF2B5EF4-FFF2-40B4-BE49-F238E27FC236}">
                <a16:creationId xmlns:a16="http://schemas.microsoft.com/office/drawing/2014/main" id="{84BD4A93-04BD-41D9-A350-AF56237FA87D}"/>
              </a:ext>
            </a:extLst>
          </p:cNvPr>
          <p:cNvGraphicFramePr>
            <a:graphicFrameLocks noChangeAspect="1"/>
          </p:cNvGraphicFramePr>
          <p:nvPr>
            <p:extLst>
              <p:ext uri="{D42A27DB-BD31-4B8C-83A1-F6EECF244321}">
                <p14:modId xmlns:p14="http://schemas.microsoft.com/office/powerpoint/2010/main" val="3793897231"/>
              </p:ext>
            </p:extLst>
          </p:nvPr>
        </p:nvGraphicFramePr>
        <p:xfrm>
          <a:off x="189270" y="5884615"/>
          <a:ext cx="11813459" cy="973385"/>
        </p:xfrm>
        <a:graphic>
          <a:graphicData uri="http://schemas.openxmlformats.org/presentationml/2006/ole">
            <mc:AlternateContent xmlns:mc="http://schemas.openxmlformats.org/markup-compatibility/2006">
              <mc:Choice xmlns:v="urn:schemas-microsoft-com:vml" Requires="v">
                <p:oleObj name="Equation" r:id="rId3" imgW="5676900" imgH="457200" progId="Equation.DSMT4">
                  <p:embed/>
                </p:oleObj>
              </mc:Choice>
              <mc:Fallback>
                <p:oleObj name="Equation" r:id="rId3" imgW="5676900" imgH="4572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270" y="5884615"/>
                        <a:ext cx="11813459" cy="973385"/>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7C169AB8-275F-4B72-820B-D78A6570F5ED}"/>
              </a:ext>
            </a:extLst>
          </p:cNvPr>
          <p:cNvSpPr/>
          <p:nvPr/>
        </p:nvSpPr>
        <p:spPr>
          <a:xfrm>
            <a:off x="1311736" y="5073455"/>
            <a:ext cx="7869654" cy="523220"/>
          </a:xfrm>
          <a:prstGeom prst="rect">
            <a:avLst/>
          </a:prstGeom>
          <a:noFill/>
        </p:spPr>
        <p:txBody>
          <a:bodyPr wrap="none" lIns="91440" tIns="45720" rIns="91440" bIns="45720">
            <a:spAutoFit/>
          </a:bodyPr>
          <a:lstStyle/>
          <a:p>
            <a:pPr algn="ctr"/>
            <a:r>
              <a:rPr lang="en-US" sz="2800" b="1" cap="none" spc="0" dirty="0">
                <a:ln w="0"/>
                <a:solidFill>
                  <a:schemeClr val="tx1"/>
                </a:solidFill>
                <a:effectLst>
                  <a:outerShdw blurRad="38100" dist="19050" dir="2700000" algn="tl" rotWithShape="0">
                    <a:schemeClr val="dk1">
                      <a:alpha val="40000"/>
                    </a:schemeClr>
                  </a:outerShdw>
                </a:effectLst>
              </a:rPr>
              <a:t>The number written shows </a:t>
            </a:r>
            <a:r>
              <a:rPr lang="en-US" sz="2800" b="1" cap="none" spc="0" dirty="0">
                <a:ln w="0"/>
                <a:solidFill>
                  <a:srgbClr val="FF0000"/>
                </a:solidFill>
                <a:effectLst>
                  <a:outerShdw blurRad="38100" dist="19050" dir="2700000" algn="tl" rotWithShape="0">
                    <a:schemeClr val="dk1">
                      <a:alpha val="40000"/>
                    </a:schemeClr>
                  </a:outerShdw>
                </a:effectLst>
              </a:rPr>
              <a:t>cardinality of the subset</a:t>
            </a:r>
            <a:endParaRPr lang="en-US" sz="2800" b="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001535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325F35BE-18A3-4776-BCD0-DB350D8FB67B}"/>
              </a:ext>
            </a:extLst>
          </p:cNvPr>
          <p:cNvGraphicFramePr>
            <a:graphicFrameLocks noChangeAspect="1"/>
          </p:cNvGraphicFramePr>
          <p:nvPr>
            <p:extLst>
              <p:ext uri="{D42A27DB-BD31-4B8C-83A1-F6EECF244321}">
                <p14:modId xmlns:p14="http://schemas.microsoft.com/office/powerpoint/2010/main" val="1282418492"/>
              </p:ext>
            </p:extLst>
          </p:nvPr>
        </p:nvGraphicFramePr>
        <p:xfrm>
          <a:off x="530467" y="2498529"/>
          <a:ext cx="9752943" cy="2901949"/>
        </p:xfrm>
        <a:graphic>
          <a:graphicData uri="http://schemas.openxmlformats.org/presentationml/2006/ole">
            <mc:AlternateContent xmlns:mc="http://schemas.openxmlformats.org/markup-compatibility/2006">
              <mc:Choice xmlns:v="urn:schemas-microsoft-com:vml" Requires="v">
                <p:oleObj name="Equation" r:id="rId2" imgW="4140000" imgH="1231560" progId="Equation.DSMT4">
                  <p:embed/>
                </p:oleObj>
              </mc:Choice>
              <mc:Fallback>
                <p:oleObj name="Equation" r:id="rId2" imgW="4140000" imgH="1231560" progId="Equation.DSMT4">
                  <p:embed/>
                  <p:pic>
                    <p:nvPicPr>
                      <p:cNvPr id="0" name=""/>
                      <p:cNvPicPr/>
                      <p:nvPr/>
                    </p:nvPicPr>
                    <p:blipFill>
                      <a:blip r:embed="rId3"/>
                      <a:stretch>
                        <a:fillRect/>
                      </a:stretch>
                    </p:blipFill>
                    <p:spPr>
                      <a:xfrm>
                        <a:off x="530467" y="2498529"/>
                        <a:ext cx="9752943" cy="2901949"/>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0A8AAA78-94FA-444F-9370-7B51BD00559A}"/>
              </a:ext>
            </a:extLst>
          </p:cNvPr>
          <p:cNvSpPr/>
          <p:nvPr/>
        </p:nvSpPr>
        <p:spPr>
          <a:xfrm>
            <a:off x="808733" y="995857"/>
            <a:ext cx="2599879"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N=4 sets</a:t>
            </a:r>
          </a:p>
        </p:txBody>
      </p:sp>
    </p:spTree>
    <p:extLst>
      <p:ext uri="{BB962C8B-B14F-4D97-AF65-F5344CB8AC3E}">
        <p14:creationId xmlns:p14="http://schemas.microsoft.com/office/powerpoint/2010/main" val="3473246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C5819FA-F42E-445A-AE5D-4004FA86B73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3" name="Object 2">
            <a:extLst>
              <a:ext uri="{FF2B5EF4-FFF2-40B4-BE49-F238E27FC236}">
                <a16:creationId xmlns:a16="http://schemas.microsoft.com/office/drawing/2014/main" id="{21FE7CA4-9F10-4E2E-81C5-8F44DB2A9B28}"/>
              </a:ext>
            </a:extLst>
          </p:cNvPr>
          <p:cNvGraphicFramePr>
            <a:graphicFrameLocks noChangeAspect="1"/>
          </p:cNvGraphicFramePr>
          <p:nvPr>
            <p:extLst>
              <p:ext uri="{D42A27DB-BD31-4B8C-83A1-F6EECF244321}">
                <p14:modId xmlns:p14="http://schemas.microsoft.com/office/powerpoint/2010/main" val="2983321320"/>
              </p:ext>
            </p:extLst>
          </p:nvPr>
        </p:nvGraphicFramePr>
        <p:xfrm>
          <a:off x="176980" y="246184"/>
          <a:ext cx="11422116" cy="1607557"/>
        </p:xfrm>
        <a:graphic>
          <a:graphicData uri="http://schemas.openxmlformats.org/presentationml/2006/ole">
            <mc:AlternateContent xmlns:mc="http://schemas.openxmlformats.org/markup-compatibility/2006">
              <mc:Choice xmlns:v="urn:schemas-microsoft-com:vml" Requires="v">
                <p:oleObj name="Equation" r:id="rId2" imgW="5143500" imgH="723900" progId="Equation.DSMT4">
                  <p:embed/>
                </p:oleObj>
              </mc:Choice>
              <mc:Fallback>
                <p:oleObj name="Equation" r:id="rId2" imgW="5143500" imgH="723900"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980" y="246184"/>
                        <a:ext cx="11422116" cy="1607557"/>
                      </a:xfrm>
                      <a:prstGeom prst="rect">
                        <a:avLst/>
                      </a:prstGeom>
                      <a:noFill/>
                    </p:spPr>
                  </p:pic>
                </p:oleObj>
              </mc:Fallback>
            </mc:AlternateContent>
          </a:graphicData>
        </a:graphic>
      </p:graphicFrame>
      <p:sp>
        <p:nvSpPr>
          <p:cNvPr id="4" name="Rectangle 3">
            <a:extLst>
              <a:ext uri="{FF2B5EF4-FFF2-40B4-BE49-F238E27FC236}">
                <a16:creationId xmlns:a16="http://schemas.microsoft.com/office/drawing/2014/main" id="{0188CD98-6B0B-4C12-8114-F15660332AC6}"/>
              </a:ext>
            </a:extLst>
          </p:cNvPr>
          <p:cNvSpPr/>
          <p:nvPr/>
        </p:nvSpPr>
        <p:spPr>
          <a:xfrm>
            <a:off x="350858" y="1879138"/>
            <a:ext cx="2316788"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For n=3</a:t>
            </a:r>
          </a:p>
        </p:txBody>
      </p:sp>
      <p:sp>
        <p:nvSpPr>
          <p:cNvPr id="5" name="Rectangle 4">
            <a:extLst>
              <a:ext uri="{FF2B5EF4-FFF2-40B4-BE49-F238E27FC236}">
                <a16:creationId xmlns:a16="http://schemas.microsoft.com/office/drawing/2014/main" id="{69BDCB86-16AD-40E6-9D4E-9CF2FC5D3B1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6" name="Object 5">
            <a:extLst>
              <a:ext uri="{FF2B5EF4-FFF2-40B4-BE49-F238E27FC236}">
                <a16:creationId xmlns:a16="http://schemas.microsoft.com/office/drawing/2014/main" id="{E99CFC0B-6135-4C56-A659-7CE9473316D5}"/>
              </a:ext>
            </a:extLst>
          </p:cNvPr>
          <p:cNvGraphicFramePr>
            <a:graphicFrameLocks noChangeAspect="1"/>
          </p:cNvGraphicFramePr>
          <p:nvPr>
            <p:extLst>
              <p:ext uri="{D42A27DB-BD31-4B8C-83A1-F6EECF244321}">
                <p14:modId xmlns:p14="http://schemas.microsoft.com/office/powerpoint/2010/main" val="223509866"/>
              </p:ext>
            </p:extLst>
          </p:nvPr>
        </p:nvGraphicFramePr>
        <p:xfrm>
          <a:off x="884904" y="2945083"/>
          <a:ext cx="9300200" cy="1308285"/>
        </p:xfrm>
        <a:graphic>
          <a:graphicData uri="http://schemas.openxmlformats.org/presentationml/2006/ole">
            <mc:AlternateContent xmlns:mc="http://schemas.openxmlformats.org/markup-compatibility/2006">
              <mc:Choice xmlns:v="urn:schemas-microsoft-com:vml" Requires="v">
                <p:oleObj name="Equation" r:id="rId4" imgW="3111500" imgH="431800" progId="Equation.DSMT4">
                  <p:embed/>
                </p:oleObj>
              </mc:Choice>
              <mc:Fallback>
                <p:oleObj name="Equation" r:id="rId4" imgW="3111500" imgH="4318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4904" y="2945083"/>
                        <a:ext cx="9300200" cy="1308285"/>
                      </a:xfrm>
                      <a:prstGeom prst="rect">
                        <a:avLst/>
                      </a:prstGeom>
                      <a:noFill/>
                    </p:spPr>
                  </p:pic>
                </p:oleObj>
              </mc:Fallback>
            </mc:AlternateContent>
          </a:graphicData>
        </a:graphic>
      </p:graphicFrame>
      <p:sp>
        <p:nvSpPr>
          <p:cNvPr id="7" name="Rectangle 6">
            <a:extLst>
              <a:ext uri="{FF2B5EF4-FFF2-40B4-BE49-F238E27FC236}">
                <a16:creationId xmlns:a16="http://schemas.microsoft.com/office/drawing/2014/main" id="{07D3B75B-7C3B-462C-B33E-4B3094515A61}"/>
              </a:ext>
            </a:extLst>
          </p:cNvPr>
          <p:cNvSpPr/>
          <p:nvPr/>
        </p:nvSpPr>
        <p:spPr>
          <a:xfrm>
            <a:off x="612528" y="4395983"/>
            <a:ext cx="2316788"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For n=4</a:t>
            </a:r>
          </a:p>
        </p:txBody>
      </p:sp>
      <p:sp>
        <p:nvSpPr>
          <p:cNvPr id="8" name="Rectangle 6">
            <a:extLst>
              <a:ext uri="{FF2B5EF4-FFF2-40B4-BE49-F238E27FC236}">
                <a16:creationId xmlns:a16="http://schemas.microsoft.com/office/drawing/2014/main" id="{05594EFF-35FB-4312-B610-AB708A798BB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9" name="Object 8">
            <a:extLst>
              <a:ext uri="{FF2B5EF4-FFF2-40B4-BE49-F238E27FC236}">
                <a16:creationId xmlns:a16="http://schemas.microsoft.com/office/drawing/2014/main" id="{69F7A20B-475E-40A5-91A7-7242411C4494}"/>
              </a:ext>
            </a:extLst>
          </p:cNvPr>
          <p:cNvGraphicFramePr>
            <a:graphicFrameLocks noChangeAspect="1"/>
          </p:cNvGraphicFramePr>
          <p:nvPr>
            <p:extLst>
              <p:ext uri="{D42A27DB-BD31-4B8C-83A1-F6EECF244321}">
                <p14:modId xmlns:p14="http://schemas.microsoft.com/office/powerpoint/2010/main" val="2545243131"/>
              </p:ext>
            </p:extLst>
          </p:nvPr>
        </p:nvGraphicFramePr>
        <p:xfrm>
          <a:off x="0" y="5461928"/>
          <a:ext cx="12019935" cy="1149883"/>
        </p:xfrm>
        <a:graphic>
          <a:graphicData uri="http://schemas.openxmlformats.org/presentationml/2006/ole">
            <mc:AlternateContent xmlns:mc="http://schemas.openxmlformats.org/markup-compatibility/2006">
              <mc:Choice xmlns:v="urn:schemas-microsoft-com:vml" Requires="v">
                <p:oleObj name="Equation" r:id="rId6" imgW="5397500" imgH="431800" progId="Equation.DSMT4">
                  <p:embed/>
                </p:oleObj>
              </mc:Choice>
              <mc:Fallback>
                <p:oleObj name="Equation" r:id="rId6" imgW="5397500" imgH="4318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5461928"/>
                        <a:ext cx="12019935" cy="1149883"/>
                      </a:xfrm>
                      <a:prstGeom prst="rect">
                        <a:avLst/>
                      </a:prstGeom>
                      <a:noFill/>
                    </p:spPr>
                  </p:pic>
                </p:oleObj>
              </mc:Fallback>
            </mc:AlternateContent>
          </a:graphicData>
        </a:graphic>
      </p:graphicFrame>
    </p:spTree>
    <p:extLst>
      <p:ext uri="{BB962C8B-B14F-4D97-AF65-F5344CB8AC3E}">
        <p14:creationId xmlns:p14="http://schemas.microsoft.com/office/powerpoint/2010/main" val="2227697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9970A6F-F172-41BD-AC5A-F5DC2311724B}"/>
              </a:ext>
            </a:extLst>
          </p:cNvPr>
          <p:cNvSpPr>
            <a:spLocks noChangeArrowheads="1"/>
          </p:cNvSpPr>
          <p:nvPr/>
        </p:nvSpPr>
        <p:spPr bwMode="auto">
          <a:xfrm>
            <a:off x="1312607" y="275794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3" name="Object 2">
            <a:extLst>
              <a:ext uri="{FF2B5EF4-FFF2-40B4-BE49-F238E27FC236}">
                <a16:creationId xmlns:a16="http://schemas.microsoft.com/office/drawing/2014/main" id="{7BBFBB4F-200B-41B3-A474-D63A49CDBE83}"/>
              </a:ext>
            </a:extLst>
          </p:cNvPr>
          <p:cNvGraphicFramePr>
            <a:graphicFrameLocks noChangeAspect="1"/>
          </p:cNvGraphicFramePr>
          <p:nvPr>
            <p:extLst>
              <p:ext uri="{D42A27DB-BD31-4B8C-83A1-F6EECF244321}">
                <p14:modId xmlns:p14="http://schemas.microsoft.com/office/powerpoint/2010/main" val="668713201"/>
              </p:ext>
            </p:extLst>
          </p:nvPr>
        </p:nvGraphicFramePr>
        <p:xfrm>
          <a:off x="383459" y="3907953"/>
          <a:ext cx="10394957" cy="2403973"/>
        </p:xfrm>
        <a:graphic>
          <a:graphicData uri="http://schemas.openxmlformats.org/presentationml/2006/ole">
            <mc:AlternateContent xmlns:mc="http://schemas.openxmlformats.org/markup-compatibility/2006">
              <mc:Choice xmlns:v="urn:schemas-microsoft-com:vml" Requires="v">
                <p:oleObj name="Equation" r:id="rId2" imgW="4445000" imgH="1028700" progId="Equation.DSMT4">
                  <p:embed/>
                </p:oleObj>
              </mc:Choice>
              <mc:Fallback>
                <p:oleObj name="Equation" r:id="rId2" imgW="4445000" imgH="1028700"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459" y="3907953"/>
                        <a:ext cx="10394957" cy="2403973"/>
                      </a:xfrm>
                      <a:prstGeom prst="rect">
                        <a:avLst/>
                      </a:prstGeom>
                      <a:noFill/>
                    </p:spPr>
                  </p:pic>
                </p:oleObj>
              </mc:Fallback>
            </mc:AlternateContent>
          </a:graphicData>
        </a:graphic>
      </p:graphicFrame>
      <p:sp>
        <p:nvSpPr>
          <p:cNvPr id="4" name="Rectangle 3">
            <a:extLst>
              <a:ext uri="{FF2B5EF4-FFF2-40B4-BE49-F238E27FC236}">
                <a16:creationId xmlns:a16="http://schemas.microsoft.com/office/drawing/2014/main" id="{06C728F6-0EE2-463A-A486-24EA59727D0E}"/>
              </a:ext>
            </a:extLst>
          </p:cNvPr>
          <p:cNvSpPr/>
          <p:nvPr/>
        </p:nvSpPr>
        <p:spPr>
          <a:xfrm>
            <a:off x="2626659" y="150393"/>
            <a:ext cx="5613588"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Simplified Notation</a:t>
            </a:r>
          </a:p>
        </p:txBody>
      </p:sp>
      <p:sp>
        <p:nvSpPr>
          <p:cNvPr id="5" name="Rectangle 4">
            <a:extLst>
              <a:ext uri="{FF2B5EF4-FFF2-40B4-BE49-F238E27FC236}">
                <a16:creationId xmlns:a16="http://schemas.microsoft.com/office/drawing/2014/main" id="{C8F0C89D-C0C9-4F0A-A1A9-E8732883D8C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6" name="Object 5">
            <a:extLst>
              <a:ext uri="{FF2B5EF4-FFF2-40B4-BE49-F238E27FC236}">
                <a16:creationId xmlns:a16="http://schemas.microsoft.com/office/drawing/2014/main" id="{11F8FB45-53AC-4206-B246-2CEB3ED12BCC}"/>
              </a:ext>
            </a:extLst>
          </p:cNvPr>
          <p:cNvGraphicFramePr>
            <a:graphicFrameLocks noChangeAspect="1"/>
          </p:cNvGraphicFramePr>
          <p:nvPr>
            <p:extLst>
              <p:ext uri="{D42A27DB-BD31-4B8C-83A1-F6EECF244321}">
                <p14:modId xmlns:p14="http://schemas.microsoft.com/office/powerpoint/2010/main" val="4117068605"/>
              </p:ext>
            </p:extLst>
          </p:nvPr>
        </p:nvGraphicFramePr>
        <p:xfrm>
          <a:off x="383459" y="1297670"/>
          <a:ext cx="6156325" cy="773113"/>
        </p:xfrm>
        <a:graphic>
          <a:graphicData uri="http://schemas.openxmlformats.org/presentationml/2006/ole">
            <mc:AlternateContent xmlns:mc="http://schemas.openxmlformats.org/markup-compatibility/2006">
              <mc:Choice xmlns:v="urn:schemas-microsoft-com:vml" Requires="v">
                <p:oleObj name="Equation" r:id="rId4" imgW="2082600" imgH="253800" progId="Equation.DSMT4">
                  <p:embed/>
                </p:oleObj>
              </mc:Choice>
              <mc:Fallback>
                <p:oleObj name="Equation" r:id="rId4" imgW="2082600" imgH="253800" progId="Equation.DSMT4">
                  <p:embed/>
                  <p:pic>
                    <p:nvPicPr>
                      <p:cNvPr id="0" name="Object 3"/>
                      <p:cNvPicPr>
                        <a:picLocks noChangeAspect="1" noChangeArrowheads="1"/>
                      </p:cNvPicPr>
                      <p:nvPr/>
                    </p:nvPicPr>
                    <p:blipFill>
                      <a:blip r:embed="rId5"/>
                      <a:srcRect/>
                      <a:stretch>
                        <a:fillRect/>
                      </a:stretch>
                    </p:blipFill>
                    <p:spPr bwMode="auto">
                      <a:xfrm>
                        <a:off x="383459" y="1297670"/>
                        <a:ext cx="6156325" cy="773113"/>
                      </a:xfrm>
                      <a:prstGeom prst="rect">
                        <a:avLst/>
                      </a:prstGeom>
                      <a:noFill/>
                    </p:spPr>
                  </p:pic>
                </p:oleObj>
              </mc:Fallback>
            </mc:AlternateContent>
          </a:graphicData>
        </a:graphic>
      </p:graphicFrame>
      <p:sp>
        <p:nvSpPr>
          <p:cNvPr id="7" name="Rectangle 6">
            <a:extLst>
              <a:ext uri="{FF2B5EF4-FFF2-40B4-BE49-F238E27FC236}">
                <a16:creationId xmlns:a16="http://schemas.microsoft.com/office/drawing/2014/main" id="{1C0140C3-6E73-42A2-8595-74EEA315606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8" name="Object 7">
            <a:extLst>
              <a:ext uri="{FF2B5EF4-FFF2-40B4-BE49-F238E27FC236}">
                <a16:creationId xmlns:a16="http://schemas.microsoft.com/office/drawing/2014/main" id="{92B4ACB9-FB66-4D54-98FB-2D2597575EB5}"/>
              </a:ext>
            </a:extLst>
          </p:cNvPr>
          <p:cNvGraphicFramePr>
            <a:graphicFrameLocks noChangeAspect="1"/>
          </p:cNvGraphicFramePr>
          <p:nvPr>
            <p:extLst>
              <p:ext uri="{D42A27DB-BD31-4B8C-83A1-F6EECF244321}">
                <p14:modId xmlns:p14="http://schemas.microsoft.com/office/powerpoint/2010/main" val="145231997"/>
              </p:ext>
            </p:extLst>
          </p:nvPr>
        </p:nvGraphicFramePr>
        <p:xfrm>
          <a:off x="601147" y="2221192"/>
          <a:ext cx="2860474" cy="773101"/>
        </p:xfrm>
        <a:graphic>
          <a:graphicData uri="http://schemas.openxmlformats.org/presentationml/2006/ole">
            <mc:AlternateContent xmlns:mc="http://schemas.openxmlformats.org/markup-compatibility/2006">
              <mc:Choice xmlns:v="urn:schemas-microsoft-com:vml" Requires="v">
                <p:oleObj name="Equation" r:id="rId6" imgW="1054100" imgH="279400" progId="Equation.DSMT4">
                  <p:embed/>
                </p:oleObj>
              </mc:Choice>
              <mc:Fallback>
                <p:oleObj name="Equation" r:id="rId6" imgW="1054100" imgH="2794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1147" y="2221192"/>
                        <a:ext cx="2860474" cy="773101"/>
                      </a:xfrm>
                      <a:prstGeom prst="rect">
                        <a:avLst/>
                      </a:prstGeom>
                      <a:noFill/>
                    </p:spPr>
                  </p:pic>
                </p:oleObj>
              </mc:Fallback>
            </mc:AlternateContent>
          </a:graphicData>
        </a:graphic>
      </p:graphicFrame>
      <p:pic>
        <p:nvPicPr>
          <p:cNvPr id="9" name="Picture 8">
            <a:extLst>
              <a:ext uri="{FF2B5EF4-FFF2-40B4-BE49-F238E27FC236}">
                <a16:creationId xmlns:a16="http://schemas.microsoft.com/office/drawing/2014/main" id="{5373D098-685B-4035-8474-9D69A5A70154}"/>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730381" y="501351"/>
            <a:ext cx="3285013" cy="2256598"/>
          </a:xfrm>
          <a:prstGeom prst="rect">
            <a:avLst/>
          </a:prstGeom>
          <a:noFill/>
          <a:ln>
            <a:noFill/>
          </a:ln>
        </p:spPr>
      </p:pic>
      <p:sp>
        <p:nvSpPr>
          <p:cNvPr id="10" name="Rectangle 9">
            <a:extLst>
              <a:ext uri="{FF2B5EF4-FFF2-40B4-BE49-F238E27FC236}">
                <a16:creationId xmlns:a16="http://schemas.microsoft.com/office/drawing/2014/main" id="{09FE0B12-06E3-48A9-B3AE-8BC53E236DCB}"/>
              </a:ext>
            </a:extLst>
          </p:cNvPr>
          <p:cNvSpPr/>
          <p:nvPr/>
        </p:nvSpPr>
        <p:spPr>
          <a:xfrm>
            <a:off x="5506877" y="5124007"/>
            <a:ext cx="6681702"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More Concise Notation</a:t>
            </a:r>
          </a:p>
        </p:txBody>
      </p:sp>
      <p:sp>
        <p:nvSpPr>
          <p:cNvPr id="11" name="Rectangle 10">
            <a:extLst>
              <a:ext uri="{FF2B5EF4-FFF2-40B4-BE49-F238E27FC236}">
                <a16:creationId xmlns:a16="http://schemas.microsoft.com/office/drawing/2014/main" id="{15C043CA-018B-490E-8F87-D4172617B2CE}"/>
              </a:ext>
            </a:extLst>
          </p:cNvPr>
          <p:cNvSpPr/>
          <p:nvPr/>
        </p:nvSpPr>
        <p:spPr>
          <a:xfrm>
            <a:off x="7408607" y="2950047"/>
            <a:ext cx="4193391" cy="954107"/>
          </a:xfrm>
          <a:prstGeom prst="rect">
            <a:avLst/>
          </a:prstGeom>
          <a:noFill/>
        </p:spPr>
        <p:txBody>
          <a:bodyPr wrap="none" lIns="91440" tIns="45720" rIns="91440" bIns="45720">
            <a:spAutoFit/>
          </a:bodyPr>
          <a:lstStyle/>
          <a:p>
            <a:pPr algn="ctr"/>
            <a:r>
              <a:rPr lang="en-US" sz="2800" b="1" cap="none" spc="0" dirty="0">
                <a:ln w="0"/>
                <a:solidFill>
                  <a:schemeClr val="tx1"/>
                </a:solidFill>
                <a:effectLst>
                  <a:outerShdw blurRad="38100" dist="19050" dir="2700000" algn="tl" rotWithShape="0">
                    <a:schemeClr val="dk1">
                      <a:alpha val="40000"/>
                    </a:schemeClr>
                  </a:outerShdw>
                </a:effectLst>
              </a:rPr>
              <a:t>The number written shows</a:t>
            </a:r>
          </a:p>
          <a:p>
            <a:pPr algn="ctr"/>
            <a:r>
              <a:rPr lang="en-US" sz="2800" b="1" cap="none" spc="0" dirty="0">
                <a:ln w="0"/>
                <a:solidFill>
                  <a:schemeClr val="tx1"/>
                </a:solidFill>
                <a:effectLst>
                  <a:outerShdw blurRad="38100" dist="19050" dir="2700000" algn="tl" rotWithShape="0">
                    <a:schemeClr val="dk1">
                      <a:alpha val="40000"/>
                    </a:schemeClr>
                  </a:outerShdw>
                </a:effectLst>
              </a:rPr>
              <a:t> </a:t>
            </a:r>
            <a:r>
              <a:rPr lang="en-US" sz="2800" b="1" cap="none" spc="0" dirty="0">
                <a:ln w="0"/>
                <a:solidFill>
                  <a:srgbClr val="FF0000"/>
                </a:solidFill>
                <a:effectLst>
                  <a:outerShdw blurRad="38100" dist="19050" dir="2700000" algn="tl" rotWithShape="0">
                    <a:schemeClr val="dk1">
                      <a:alpha val="40000"/>
                    </a:schemeClr>
                  </a:outerShdw>
                </a:effectLst>
              </a:rPr>
              <a:t>cardinality of the subset</a:t>
            </a:r>
            <a:endParaRPr lang="en-US" sz="2800" b="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302528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BA0EC2-BAEF-4D0A-8F41-033301BE3FCE}"/>
              </a:ext>
            </a:extLst>
          </p:cNvPr>
          <p:cNvSpPr/>
          <p:nvPr/>
        </p:nvSpPr>
        <p:spPr>
          <a:xfrm>
            <a:off x="1580538" y="2967335"/>
            <a:ext cx="9030935"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Connecting to De Morgan’s Law</a:t>
            </a:r>
          </a:p>
        </p:txBody>
      </p:sp>
    </p:spTree>
    <p:extLst>
      <p:ext uri="{BB962C8B-B14F-4D97-AF65-F5344CB8AC3E}">
        <p14:creationId xmlns:p14="http://schemas.microsoft.com/office/powerpoint/2010/main" val="2846407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03DAD3-85E0-4517-8C2A-CDC5D9F05CE2}"/>
              </a:ext>
            </a:extLst>
          </p:cNvPr>
          <p:cNvPicPr>
            <a:picLocks noChangeAspect="1"/>
          </p:cNvPicPr>
          <p:nvPr/>
        </p:nvPicPr>
        <p:blipFill>
          <a:blip r:embed="rId2"/>
          <a:stretch>
            <a:fillRect/>
          </a:stretch>
        </p:blipFill>
        <p:spPr>
          <a:xfrm>
            <a:off x="542925" y="390525"/>
            <a:ext cx="11106150" cy="6076950"/>
          </a:xfrm>
          <a:prstGeom prst="rect">
            <a:avLst/>
          </a:prstGeom>
        </p:spPr>
      </p:pic>
      <p:graphicFrame>
        <p:nvGraphicFramePr>
          <p:cNvPr id="2" name="Object 1">
            <a:extLst>
              <a:ext uri="{FF2B5EF4-FFF2-40B4-BE49-F238E27FC236}">
                <a16:creationId xmlns:a16="http://schemas.microsoft.com/office/drawing/2014/main" id="{BA6D14F5-2B0B-4FC8-90DB-602F41FFCCC8}"/>
              </a:ext>
            </a:extLst>
          </p:cNvPr>
          <p:cNvGraphicFramePr>
            <a:graphicFrameLocks noChangeAspect="1"/>
          </p:cNvGraphicFramePr>
          <p:nvPr>
            <p:extLst>
              <p:ext uri="{D42A27DB-BD31-4B8C-83A1-F6EECF244321}">
                <p14:modId xmlns:p14="http://schemas.microsoft.com/office/powerpoint/2010/main" val="2677078315"/>
              </p:ext>
            </p:extLst>
          </p:nvPr>
        </p:nvGraphicFramePr>
        <p:xfrm>
          <a:off x="2230438" y="5619750"/>
          <a:ext cx="4745037" cy="1004888"/>
        </p:xfrm>
        <a:graphic>
          <a:graphicData uri="http://schemas.openxmlformats.org/presentationml/2006/ole">
            <mc:AlternateContent xmlns:mc="http://schemas.openxmlformats.org/markup-compatibility/2006">
              <mc:Choice xmlns:v="urn:schemas-microsoft-com:vml" Requires="v">
                <p:oleObj name="Equation" r:id="rId3" imgW="1498320" imgH="317160" progId="Equation.DSMT4">
                  <p:embed/>
                </p:oleObj>
              </mc:Choice>
              <mc:Fallback>
                <p:oleObj name="Equation" r:id="rId3" imgW="1498320" imgH="317160" progId="Equation.DSMT4">
                  <p:embed/>
                  <p:pic>
                    <p:nvPicPr>
                      <p:cNvPr id="0" name=""/>
                      <p:cNvPicPr/>
                      <p:nvPr/>
                    </p:nvPicPr>
                    <p:blipFill>
                      <a:blip r:embed="rId4"/>
                      <a:stretch>
                        <a:fillRect/>
                      </a:stretch>
                    </p:blipFill>
                    <p:spPr>
                      <a:xfrm>
                        <a:off x="2230438" y="5619750"/>
                        <a:ext cx="4745037" cy="1004888"/>
                      </a:xfrm>
                      <a:prstGeom prst="rect">
                        <a:avLst/>
                      </a:prstGeom>
                    </p:spPr>
                  </p:pic>
                </p:oleObj>
              </mc:Fallback>
            </mc:AlternateContent>
          </a:graphicData>
        </a:graphic>
      </p:graphicFrame>
    </p:spTree>
    <p:extLst>
      <p:ext uri="{BB962C8B-B14F-4D97-AF65-F5344CB8AC3E}">
        <p14:creationId xmlns:p14="http://schemas.microsoft.com/office/powerpoint/2010/main" val="393713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0ABDD1-B276-4CB8-952A-8C5772675720}"/>
              </a:ext>
            </a:extLst>
          </p:cNvPr>
          <p:cNvSpPr/>
          <p:nvPr/>
        </p:nvSpPr>
        <p:spPr>
          <a:xfrm>
            <a:off x="3170903" y="840658"/>
            <a:ext cx="5840362" cy="430652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Oval 1">
            <a:extLst>
              <a:ext uri="{FF2B5EF4-FFF2-40B4-BE49-F238E27FC236}">
                <a16:creationId xmlns:a16="http://schemas.microsoft.com/office/drawing/2014/main" id="{1B5F698A-F2C4-4180-9738-5373B44FA1EE}"/>
              </a:ext>
            </a:extLst>
          </p:cNvPr>
          <p:cNvSpPr/>
          <p:nvPr/>
        </p:nvSpPr>
        <p:spPr>
          <a:xfrm>
            <a:off x="3770142" y="1814732"/>
            <a:ext cx="2602523" cy="2250831"/>
          </a:xfrm>
          <a:prstGeom prst="ellipse">
            <a:avLst/>
          </a:prstGeom>
          <a:solidFill>
            <a:schemeClr val="accent1">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val 2">
            <a:extLst>
              <a:ext uri="{FF2B5EF4-FFF2-40B4-BE49-F238E27FC236}">
                <a16:creationId xmlns:a16="http://schemas.microsoft.com/office/drawing/2014/main" id="{12206E86-ADA0-47CF-9B93-F0A954CAC7C6}"/>
              </a:ext>
            </a:extLst>
          </p:cNvPr>
          <p:cNvSpPr/>
          <p:nvPr/>
        </p:nvSpPr>
        <p:spPr>
          <a:xfrm>
            <a:off x="5385582" y="1814731"/>
            <a:ext cx="2602523" cy="2250831"/>
          </a:xfrm>
          <a:prstGeom prst="ellipse">
            <a:avLst/>
          </a:prstGeom>
          <a:solidFill>
            <a:srgbClr val="FF0000">
              <a:alpha val="4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D94E557-7041-446D-9FD4-7B0E59C27FF8}"/>
              </a:ext>
            </a:extLst>
          </p:cNvPr>
          <p:cNvSpPr/>
          <p:nvPr/>
        </p:nvSpPr>
        <p:spPr>
          <a:xfrm>
            <a:off x="2235303" y="1353066"/>
            <a:ext cx="511679" cy="923330"/>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5400" b="1" cap="none" spc="0" dirty="0">
                <a:ln/>
                <a:solidFill>
                  <a:schemeClr val="accent4"/>
                </a:solidFill>
                <a:effectLst/>
              </a:rPr>
              <a:t>S</a:t>
            </a:r>
          </a:p>
        </p:txBody>
      </p:sp>
      <p:sp>
        <p:nvSpPr>
          <p:cNvPr id="6" name="Rectangle 5">
            <a:extLst>
              <a:ext uri="{FF2B5EF4-FFF2-40B4-BE49-F238E27FC236}">
                <a16:creationId xmlns:a16="http://schemas.microsoft.com/office/drawing/2014/main" id="{BBD2940B-F081-4B53-8BF5-1685F310DB11}"/>
              </a:ext>
            </a:extLst>
          </p:cNvPr>
          <p:cNvSpPr/>
          <p:nvPr/>
        </p:nvSpPr>
        <p:spPr>
          <a:xfrm>
            <a:off x="4042631" y="1427510"/>
            <a:ext cx="604653"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cap="none" spc="0" dirty="0">
                <a:ln/>
                <a:solidFill>
                  <a:srgbClr val="FF0000"/>
                </a:solidFill>
                <a:effectLst/>
              </a:rPr>
              <a:t>A</a:t>
            </a:r>
          </a:p>
        </p:txBody>
      </p:sp>
      <p:sp>
        <p:nvSpPr>
          <p:cNvPr id="7" name="Rectangle 6">
            <a:extLst>
              <a:ext uri="{FF2B5EF4-FFF2-40B4-BE49-F238E27FC236}">
                <a16:creationId xmlns:a16="http://schemas.microsoft.com/office/drawing/2014/main" id="{5F6FA991-1C06-4639-A973-F75534E1338D}"/>
              </a:ext>
            </a:extLst>
          </p:cNvPr>
          <p:cNvSpPr/>
          <p:nvPr/>
        </p:nvSpPr>
        <p:spPr>
          <a:xfrm>
            <a:off x="7640795" y="2327138"/>
            <a:ext cx="572593"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cap="none" spc="0" dirty="0">
                <a:ln/>
                <a:solidFill>
                  <a:srgbClr val="FF0000"/>
                </a:solidFill>
                <a:effectLst/>
              </a:rPr>
              <a:t>B</a:t>
            </a:r>
          </a:p>
        </p:txBody>
      </p:sp>
      <p:graphicFrame>
        <p:nvGraphicFramePr>
          <p:cNvPr id="9" name="Object 8">
            <a:extLst>
              <a:ext uri="{FF2B5EF4-FFF2-40B4-BE49-F238E27FC236}">
                <a16:creationId xmlns:a16="http://schemas.microsoft.com/office/drawing/2014/main" id="{F9575BD6-3A23-4C6B-9673-EDA2F2A04049}"/>
              </a:ext>
            </a:extLst>
          </p:cNvPr>
          <p:cNvGraphicFramePr>
            <a:graphicFrameLocks noChangeAspect="1"/>
          </p:cNvGraphicFramePr>
          <p:nvPr>
            <p:extLst>
              <p:ext uri="{D42A27DB-BD31-4B8C-83A1-F6EECF244321}">
                <p14:modId xmlns:p14="http://schemas.microsoft.com/office/powerpoint/2010/main" val="1383174070"/>
              </p:ext>
            </p:extLst>
          </p:nvPr>
        </p:nvGraphicFramePr>
        <p:xfrm>
          <a:off x="7297251" y="1181447"/>
          <a:ext cx="1381708" cy="633283"/>
        </p:xfrm>
        <a:graphic>
          <a:graphicData uri="http://schemas.openxmlformats.org/presentationml/2006/ole">
            <mc:AlternateContent xmlns:mc="http://schemas.openxmlformats.org/markup-compatibility/2006">
              <mc:Choice xmlns:v="urn:schemas-microsoft-com:vml" Requires="v">
                <p:oleObj name="Equation" r:id="rId2" imgW="609480" imgH="279360" progId="Equation.DSMT4">
                  <p:embed/>
                </p:oleObj>
              </mc:Choice>
              <mc:Fallback>
                <p:oleObj name="Equation" r:id="rId2" imgW="609480" imgH="279360" progId="Equation.DSMT4">
                  <p:embed/>
                  <p:pic>
                    <p:nvPicPr>
                      <p:cNvPr id="0" name=""/>
                      <p:cNvPicPr/>
                      <p:nvPr/>
                    </p:nvPicPr>
                    <p:blipFill>
                      <a:blip r:embed="rId3"/>
                      <a:stretch>
                        <a:fillRect/>
                      </a:stretch>
                    </p:blipFill>
                    <p:spPr>
                      <a:xfrm>
                        <a:off x="7297251" y="1181447"/>
                        <a:ext cx="1381708" cy="633283"/>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368E1466-378F-4185-88FC-9458D1309908}"/>
              </a:ext>
            </a:extLst>
          </p:cNvPr>
          <p:cNvGraphicFramePr>
            <a:graphicFrameLocks noChangeAspect="1"/>
          </p:cNvGraphicFramePr>
          <p:nvPr>
            <p:extLst>
              <p:ext uri="{D42A27DB-BD31-4B8C-83A1-F6EECF244321}">
                <p14:modId xmlns:p14="http://schemas.microsoft.com/office/powerpoint/2010/main" val="1095100771"/>
              </p:ext>
            </p:extLst>
          </p:nvPr>
        </p:nvGraphicFramePr>
        <p:xfrm>
          <a:off x="5385582" y="2757268"/>
          <a:ext cx="950151" cy="336512"/>
        </p:xfrm>
        <a:graphic>
          <a:graphicData uri="http://schemas.openxmlformats.org/presentationml/2006/ole">
            <mc:AlternateContent xmlns:mc="http://schemas.openxmlformats.org/markup-compatibility/2006">
              <mc:Choice xmlns:v="urn:schemas-microsoft-com:vml" Requires="v">
                <p:oleObj name="Equation" r:id="rId4" imgW="609480" imgH="215640" progId="Equation.DSMT4">
                  <p:embed/>
                </p:oleObj>
              </mc:Choice>
              <mc:Fallback>
                <p:oleObj name="Equation" r:id="rId4" imgW="609480" imgH="215640" progId="Equation.DSMT4">
                  <p:embed/>
                  <p:pic>
                    <p:nvPicPr>
                      <p:cNvPr id="0" name=""/>
                      <p:cNvPicPr/>
                      <p:nvPr/>
                    </p:nvPicPr>
                    <p:blipFill>
                      <a:blip r:embed="rId5"/>
                      <a:stretch>
                        <a:fillRect/>
                      </a:stretch>
                    </p:blipFill>
                    <p:spPr>
                      <a:xfrm>
                        <a:off x="5385582" y="2757268"/>
                        <a:ext cx="950151" cy="336512"/>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7323C0C6-87C4-4B10-A515-C4BFE13F3211}"/>
              </a:ext>
            </a:extLst>
          </p:cNvPr>
          <p:cNvGraphicFramePr>
            <a:graphicFrameLocks noChangeAspect="1"/>
          </p:cNvGraphicFramePr>
          <p:nvPr>
            <p:extLst>
              <p:ext uri="{D42A27DB-BD31-4B8C-83A1-F6EECF244321}">
                <p14:modId xmlns:p14="http://schemas.microsoft.com/office/powerpoint/2010/main" val="576486973"/>
              </p:ext>
            </p:extLst>
          </p:nvPr>
        </p:nvGraphicFramePr>
        <p:xfrm>
          <a:off x="341973" y="2716876"/>
          <a:ext cx="2603647" cy="1233847"/>
        </p:xfrm>
        <a:graphic>
          <a:graphicData uri="http://schemas.openxmlformats.org/presentationml/2006/ole">
            <mc:AlternateContent xmlns:mc="http://schemas.openxmlformats.org/markup-compatibility/2006">
              <mc:Choice xmlns:v="urn:schemas-microsoft-com:vml" Requires="v">
                <p:oleObj name="Equation" r:id="rId6" imgW="1422360" imgH="672840" progId="Equation.DSMT4">
                  <p:embed/>
                </p:oleObj>
              </mc:Choice>
              <mc:Fallback>
                <p:oleObj name="Equation" r:id="rId6" imgW="1422360" imgH="672840" progId="Equation.DSMT4">
                  <p:embed/>
                  <p:pic>
                    <p:nvPicPr>
                      <p:cNvPr id="9" name="Object 8">
                        <a:extLst>
                          <a:ext uri="{FF2B5EF4-FFF2-40B4-BE49-F238E27FC236}">
                            <a16:creationId xmlns:a16="http://schemas.microsoft.com/office/drawing/2014/main" id="{F9575BD6-3A23-4C6B-9673-EDA2F2A04049}"/>
                          </a:ext>
                        </a:extLst>
                      </p:cNvPr>
                      <p:cNvPicPr/>
                      <p:nvPr/>
                    </p:nvPicPr>
                    <p:blipFill>
                      <a:blip r:embed="rId7"/>
                      <a:stretch>
                        <a:fillRect/>
                      </a:stretch>
                    </p:blipFill>
                    <p:spPr>
                      <a:xfrm>
                        <a:off x="341973" y="2716876"/>
                        <a:ext cx="2603647" cy="1233847"/>
                      </a:xfrm>
                      <a:prstGeom prst="rect">
                        <a:avLst/>
                      </a:prstGeom>
                    </p:spPr>
                  </p:pic>
                </p:oleObj>
              </mc:Fallback>
            </mc:AlternateContent>
          </a:graphicData>
        </a:graphic>
      </p:graphicFrame>
    </p:spTree>
    <p:extLst>
      <p:ext uri="{BB962C8B-B14F-4D97-AF65-F5344CB8AC3E}">
        <p14:creationId xmlns:p14="http://schemas.microsoft.com/office/powerpoint/2010/main" val="1118342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2BB1BE6-3D60-40CA-B574-F055CB9877D0}"/>
              </a:ext>
            </a:extLst>
          </p:cNvPr>
          <p:cNvPicPr>
            <a:picLocks noChangeAspect="1"/>
          </p:cNvPicPr>
          <p:nvPr/>
        </p:nvPicPr>
        <p:blipFill>
          <a:blip r:embed="rId2"/>
          <a:stretch>
            <a:fillRect/>
          </a:stretch>
        </p:blipFill>
        <p:spPr>
          <a:xfrm>
            <a:off x="106017" y="27321"/>
            <a:ext cx="11966713" cy="6752892"/>
          </a:xfrm>
          <a:prstGeom prst="rect">
            <a:avLst/>
          </a:prstGeom>
        </p:spPr>
      </p:pic>
      <p:sp>
        <p:nvSpPr>
          <p:cNvPr id="3" name="Rectangle 2">
            <a:extLst>
              <a:ext uri="{FF2B5EF4-FFF2-40B4-BE49-F238E27FC236}">
                <a16:creationId xmlns:a16="http://schemas.microsoft.com/office/drawing/2014/main" id="{49AF8EA6-766B-419B-80A0-15A2BB5547CD}"/>
              </a:ext>
            </a:extLst>
          </p:cNvPr>
          <p:cNvSpPr/>
          <p:nvPr/>
        </p:nvSpPr>
        <p:spPr>
          <a:xfrm>
            <a:off x="-115625" y="221974"/>
            <a:ext cx="2824363" cy="2585323"/>
          </a:xfrm>
          <a:prstGeom prst="rect">
            <a:avLst/>
          </a:prstGeom>
          <a:noFill/>
        </p:spPr>
        <p:txBody>
          <a:bodyPr wrap="none" lIns="91440" tIns="45720" rIns="91440" bIns="45720">
            <a:spAutoFit/>
          </a:bodyPr>
          <a:lstStyle/>
          <a:p>
            <a:pPr algn="ctr"/>
            <a:r>
              <a:rPr lang="en-US" sz="5400" dirty="0">
                <a:ln w="0"/>
                <a:solidFill>
                  <a:srgbClr val="FF0000"/>
                </a:solidFill>
                <a:effectLst>
                  <a:outerShdw blurRad="38100" dist="19050" dir="2700000" algn="tl" rotWithShape="0">
                    <a:schemeClr val="dk1">
                      <a:alpha val="40000"/>
                    </a:schemeClr>
                  </a:outerShdw>
                </a:effectLst>
              </a:rPr>
              <a:t>More </a:t>
            </a:r>
          </a:p>
          <a:p>
            <a:pPr algn="ctr"/>
            <a:r>
              <a:rPr lang="en-US" sz="5400" dirty="0">
                <a:ln w="0"/>
                <a:solidFill>
                  <a:srgbClr val="FF0000"/>
                </a:solidFill>
                <a:effectLst>
                  <a:outerShdw blurRad="38100" dist="19050" dir="2700000" algn="tl" rotWithShape="0">
                    <a:schemeClr val="dk1">
                      <a:alpha val="40000"/>
                    </a:schemeClr>
                  </a:outerShdw>
                </a:effectLst>
              </a:rPr>
              <a:t>Explicit</a:t>
            </a:r>
          </a:p>
          <a:p>
            <a:pPr algn="ctr"/>
            <a:r>
              <a:rPr lang="en-US" sz="5400" dirty="0">
                <a:ln w="0"/>
                <a:solidFill>
                  <a:srgbClr val="FF0000"/>
                </a:solidFill>
                <a:effectLst>
                  <a:outerShdw blurRad="38100" dist="19050" dir="2700000" algn="tl" rotWithShape="0">
                    <a:schemeClr val="dk1">
                      <a:alpha val="40000"/>
                    </a:schemeClr>
                  </a:outerShdw>
                </a:effectLst>
              </a:rPr>
              <a:t> </a:t>
            </a:r>
            <a:r>
              <a:rPr lang="en-US" sz="5400" b="0" cap="none" spc="0" dirty="0">
                <a:ln w="0"/>
                <a:solidFill>
                  <a:srgbClr val="FF0000"/>
                </a:solidFill>
                <a:effectLst>
                  <a:outerShdw blurRad="38100" dist="19050" dir="2700000" algn="tl" rotWithShape="0">
                    <a:schemeClr val="dk1">
                      <a:alpha val="40000"/>
                    </a:schemeClr>
                  </a:outerShdw>
                </a:effectLst>
              </a:rPr>
              <a:t>Notation</a:t>
            </a:r>
          </a:p>
        </p:txBody>
      </p:sp>
    </p:spTree>
    <p:extLst>
      <p:ext uri="{BB962C8B-B14F-4D97-AF65-F5344CB8AC3E}">
        <p14:creationId xmlns:p14="http://schemas.microsoft.com/office/powerpoint/2010/main" val="25054905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1D998F8-D611-4EEC-A1FD-2AF271EBD0F0}"/>
              </a:ext>
            </a:extLst>
          </p:cNvPr>
          <p:cNvPicPr>
            <a:picLocks noChangeAspect="1"/>
          </p:cNvPicPr>
          <p:nvPr/>
        </p:nvPicPr>
        <p:blipFill>
          <a:blip r:embed="rId2"/>
          <a:stretch>
            <a:fillRect/>
          </a:stretch>
        </p:blipFill>
        <p:spPr>
          <a:xfrm>
            <a:off x="465178" y="503583"/>
            <a:ext cx="11302752" cy="5777947"/>
          </a:xfrm>
          <a:prstGeom prst="rect">
            <a:avLst/>
          </a:prstGeom>
        </p:spPr>
      </p:pic>
    </p:spTree>
    <p:extLst>
      <p:ext uri="{BB962C8B-B14F-4D97-AF65-F5344CB8AC3E}">
        <p14:creationId xmlns:p14="http://schemas.microsoft.com/office/powerpoint/2010/main" val="881625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102C0C7-1FA7-4155-836D-3AF2F2129C0D}"/>
              </a:ext>
            </a:extLst>
          </p:cNvPr>
          <p:cNvPicPr>
            <a:picLocks noChangeAspect="1"/>
          </p:cNvPicPr>
          <p:nvPr/>
        </p:nvPicPr>
        <p:blipFill>
          <a:blip r:embed="rId2"/>
          <a:stretch>
            <a:fillRect/>
          </a:stretch>
        </p:blipFill>
        <p:spPr>
          <a:xfrm>
            <a:off x="516835" y="516835"/>
            <a:ext cx="11343861" cy="5963478"/>
          </a:xfrm>
          <a:prstGeom prst="rect">
            <a:avLst/>
          </a:prstGeom>
        </p:spPr>
      </p:pic>
    </p:spTree>
    <p:extLst>
      <p:ext uri="{BB962C8B-B14F-4D97-AF65-F5344CB8AC3E}">
        <p14:creationId xmlns:p14="http://schemas.microsoft.com/office/powerpoint/2010/main" val="3916422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AA25A9-F707-452A-88E2-247E213C5B42}"/>
              </a:ext>
            </a:extLst>
          </p:cNvPr>
          <p:cNvPicPr>
            <a:picLocks noChangeAspect="1"/>
          </p:cNvPicPr>
          <p:nvPr/>
        </p:nvPicPr>
        <p:blipFill>
          <a:blip r:embed="rId2"/>
          <a:stretch>
            <a:fillRect/>
          </a:stretch>
        </p:blipFill>
        <p:spPr>
          <a:xfrm>
            <a:off x="1605170" y="1025387"/>
            <a:ext cx="8610600" cy="4038600"/>
          </a:xfrm>
          <a:prstGeom prst="rect">
            <a:avLst/>
          </a:prstGeom>
        </p:spPr>
      </p:pic>
    </p:spTree>
    <p:extLst>
      <p:ext uri="{BB962C8B-B14F-4D97-AF65-F5344CB8AC3E}">
        <p14:creationId xmlns:p14="http://schemas.microsoft.com/office/powerpoint/2010/main" val="11891210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22B7F67-9475-4356-8511-271B64F1C449}"/>
              </a:ext>
            </a:extLst>
          </p:cNvPr>
          <p:cNvPicPr>
            <a:picLocks noChangeAspect="1"/>
          </p:cNvPicPr>
          <p:nvPr/>
        </p:nvPicPr>
        <p:blipFill>
          <a:blip r:embed="rId2"/>
          <a:stretch>
            <a:fillRect/>
          </a:stretch>
        </p:blipFill>
        <p:spPr>
          <a:xfrm>
            <a:off x="1429042" y="926515"/>
            <a:ext cx="9132941" cy="5521260"/>
          </a:xfrm>
          <a:prstGeom prst="rect">
            <a:avLst/>
          </a:prstGeom>
        </p:spPr>
      </p:pic>
    </p:spTree>
    <p:extLst>
      <p:ext uri="{BB962C8B-B14F-4D97-AF65-F5344CB8AC3E}">
        <p14:creationId xmlns:p14="http://schemas.microsoft.com/office/powerpoint/2010/main" val="2408114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B28F522-EB97-4AA3-B287-18D2C59F08F5}"/>
              </a:ext>
            </a:extLst>
          </p:cNvPr>
          <p:cNvSpPr/>
          <p:nvPr/>
        </p:nvSpPr>
        <p:spPr>
          <a:xfrm>
            <a:off x="9371102" y="1764808"/>
            <a:ext cx="830677" cy="646331"/>
          </a:xfrm>
          <a:prstGeom prst="rect">
            <a:avLst/>
          </a:prstGeom>
          <a:solidFill>
            <a:srgbClr val="FFC000"/>
          </a:solid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ace</a:t>
            </a:r>
          </a:p>
        </p:txBody>
      </p:sp>
      <p:sp>
        <p:nvSpPr>
          <p:cNvPr id="4" name="Rectangle 3">
            <a:extLst>
              <a:ext uri="{FF2B5EF4-FFF2-40B4-BE49-F238E27FC236}">
                <a16:creationId xmlns:a16="http://schemas.microsoft.com/office/drawing/2014/main" id="{87B92E1E-4977-4F83-8A24-DD09665CC9DF}"/>
              </a:ext>
            </a:extLst>
          </p:cNvPr>
          <p:cNvSpPr/>
          <p:nvPr/>
        </p:nvSpPr>
        <p:spPr>
          <a:xfrm>
            <a:off x="9371102" y="2573059"/>
            <a:ext cx="567784" cy="646331"/>
          </a:xfrm>
          <a:prstGeom prst="rect">
            <a:avLst/>
          </a:prstGeom>
          <a:solidFill>
            <a:srgbClr val="FFC000"/>
          </a:solid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df</a:t>
            </a:r>
          </a:p>
        </p:txBody>
      </p:sp>
      <p:sp>
        <p:nvSpPr>
          <p:cNvPr id="5" name="Rectangle 4">
            <a:extLst>
              <a:ext uri="{FF2B5EF4-FFF2-40B4-BE49-F238E27FC236}">
                <a16:creationId xmlns:a16="http://schemas.microsoft.com/office/drawing/2014/main" id="{98BCEECF-A18C-4782-A969-60399A3171A7}"/>
              </a:ext>
            </a:extLst>
          </p:cNvPr>
          <p:cNvSpPr/>
          <p:nvPr/>
        </p:nvSpPr>
        <p:spPr>
          <a:xfrm>
            <a:off x="10378955" y="1764808"/>
            <a:ext cx="426720" cy="646331"/>
          </a:xfrm>
          <a:prstGeom prst="rect">
            <a:avLst/>
          </a:prstGeom>
          <a:solidFill>
            <a:srgbClr val="FFC000"/>
          </a:solid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b</a:t>
            </a:r>
          </a:p>
        </p:txBody>
      </p:sp>
      <p:sp>
        <p:nvSpPr>
          <p:cNvPr id="6" name="Rectangle 5">
            <a:extLst>
              <a:ext uri="{FF2B5EF4-FFF2-40B4-BE49-F238E27FC236}">
                <a16:creationId xmlns:a16="http://schemas.microsoft.com/office/drawing/2014/main" id="{6E253108-5A84-460B-AAB4-E2B794B8F41C}"/>
              </a:ext>
            </a:extLst>
          </p:cNvPr>
          <p:cNvSpPr/>
          <p:nvPr/>
        </p:nvSpPr>
        <p:spPr>
          <a:xfrm>
            <a:off x="10967873" y="1764808"/>
            <a:ext cx="426720" cy="646331"/>
          </a:xfrm>
          <a:prstGeom prst="rect">
            <a:avLst/>
          </a:prstGeom>
          <a:solidFill>
            <a:srgbClr val="FFC000"/>
          </a:solid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d</a:t>
            </a:r>
          </a:p>
        </p:txBody>
      </p:sp>
      <p:sp>
        <p:nvSpPr>
          <p:cNvPr id="7" name="Rectangle 6">
            <a:extLst>
              <a:ext uri="{FF2B5EF4-FFF2-40B4-BE49-F238E27FC236}">
                <a16:creationId xmlns:a16="http://schemas.microsoft.com/office/drawing/2014/main" id="{BCBC967B-1147-429B-99F0-F01762C81C90}"/>
              </a:ext>
            </a:extLst>
          </p:cNvPr>
          <p:cNvSpPr/>
          <p:nvPr/>
        </p:nvSpPr>
        <p:spPr>
          <a:xfrm>
            <a:off x="11664721" y="1764808"/>
            <a:ext cx="413896" cy="646331"/>
          </a:xfrm>
          <a:prstGeom prst="rect">
            <a:avLst/>
          </a:prstGeom>
          <a:solidFill>
            <a:srgbClr val="FFC000"/>
          </a:solid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e</a:t>
            </a:r>
          </a:p>
        </p:txBody>
      </p:sp>
      <p:sp>
        <p:nvSpPr>
          <p:cNvPr id="8" name="Rectangle 7">
            <a:extLst>
              <a:ext uri="{FF2B5EF4-FFF2-40B4-BE49-F238E27FC236}">
                <a16:creationId xmlns:a16="http://schemas.microsoft.com/office/drawing/2014/main" id="{32CAFFF9-322E-4363-8A8C-C53D384F5564}"/>
              </a:ext>
            </a:extLst>
          </p:cNvPr>
          <p:cNvSpPr/>
          <p:nvPr/>
        </p:nvSpPr>
        <p:spPr>
          <a:xfrm>
            <a:off x="10153117" y="2565685"/>
            <a:ext cx="439198" cy="646331"/>
          </a:xfrm>
          <a:prstGeom prst="rect">
            <a:avLst/>
          </a:prstGeom>
          <a:solidFill>
            <a:srgbClr val="FFC000"/>
          </a:solidFill>
        </p:spPr>
        <p:txBody>
          <a:bodyPr wrap="square" lIns="91440" tIns="45720" rIns="91440" bIns="45720">
            <a:spAutoFit/>
          </a:bodyPr>
          <a:lstStyle/>
          <a:p>
            <a:pPr algn="ctr"/>
            <a:r>
              <a:rPr lang="en-US" sz="3600" dirty="0">
                <a:ln w="0"/>
                <a:effectLst>
                  <a:outerShdw blurRad="38100" dist="19050" dir="2700000" algn="tl" rotWithShape="0">
                    <a:schemeClr val="dk1">
                      <a:alpha val="40000"/>
                    </a:schemeClr>
                  </a:outerShdw>
                </a:effectLst>
              </a:rPr>
              <a:t>a</a:t>
            </a:r>
            <a:endParaRPr lang="en-US" sz="3600" b="0" cap="none" spc="0" dirty="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0FF0F175-3797-480D-941E-E29C9D29E3DD}"/>
              </a:ext>
            </a:extLst>
          </p:cNvPr>
          <p:cNvSpPr/>
          <p:nvPr/>
        </p:nvSpPr>
        <p:spPr>
          <a:xfrm>
            <a:off x="10642335" y="2576368"/>
            <a:ext cx="439198" cy="646331"/>
          </a:xfrm>
          <a:prstGeom prst="rect">
            <a:avLst/>
          </a:prstGeom>
          <a:solidFill>
            <a:srgbClr val="FFC000"/>
          </a:solidFill>
        </p:spPr>
        <p:txBody>
          <a:bodyPr wrap="square" lIns="91440" tIns="45720" rIns="91440" bIns="45720">
            <a:spAutoFit/>
          </a:bodyPr>
          <a:lstStyle/>
          <a:p>
            <a:pPr algn="ctr"/>
            <a:r>
              <a:rPr lang="en-US" sz="3600" dirty="0">
                <a:ln w="0"/>
                <a:effectLst>
                  <a:outerShdw blurRad="38100" dist="19050" dir="2700000" algn="tl" rotWithShape="0">
                    <a:schemeClr val="dk1">
                      <a:alpha val="40000"/>
                    </a:schemeClr>
                  </a:outerShdw>
                </a:effectLst>
              </a:rPr>
              <a:t>b</a:t>
            </a:r>
            <a:endParaRPr lang="en-US" sz="3600" b="0" cap="none" spc="0" dirty="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240AEDF3-A515-4C50-9B57-1E62F0F04317}"/>
              </a:ext>
            </a:extLst>
          </p:cNvPr>
          <p:cNvSpPr/>
          <p:nvPr/>
        </p:nvSpPr>
        <p:spPr>
          <a:xfrm>
            <a:off x="11181233" y="2573059"/>
            <a:ext cx="439198" cy="646331"/>
          </a:xfrm>
          <a:prstGeom prst="rect">
            <a:avLst/>
          </a:prstGeom>
          <a:solidFill>
            <a:srgbClr val="FFC000"/>
          </a:solidFill>
        </p:spPr>
        <p:txBody>
          <a:bodyPr wrap="square" lIns="91440" tIns="45720" rIns="91440" bIns="45720">
            <a:spAutoFit/>
          </a:bodyPr>
          <a:lstStyle/>
          <a:p>
            <a:pPr algn="ctr"/>
            <a:r>
              <a:rPr lang="en-US" sz="3600" dirty="0">
                <a:ln w="0"/>
                <a:effectLst>
                  <a:outerShdw blurRad="38100" dist="19050" dir="2700000" algn="tl" rotWithShape="0">
                    <a:schemeClr val="dk1">
                      <a:alpha val="40000"/>
                    </a:schemeClr>
                  </a:outerShdw>
                </a:effectLst>
              </a:rPr>
              <a:t>c</a:t>
            </a:r>
            <a:endParaRPr lang="en-US" sz="36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12" name="Object 11">
            <a:extLst>
              <a:ext uri="{FF2B5EF4-FFF2-40B4-BE49-F238E27FC236}">
                <a16:creationId xmlns:a16="http://schemas.microsoft.com/office/drawing/2014/main" id="{8200D02B-8BFF-43CE-939E-07BC44F640E5}"/>
              </a:ext>
            </a:extLst>
          </p:cNvPr>
          <p:cNvGraphicFramePr>
            <a:graphicFrameLocks noChangeAspect="1"/>
          </p:cNvGraphicFramePr>
          <p:nvPr>
            <p:extLst>
              <p:ext uri="{D42A27DB-BD31-4B8C-83A1-F6EECF244321}">
                <p14:modId xmlns:p14="http://schemas.microsoft.com/office/powerpoint/2010/main" val="1463762314"/>
              </p:ext>
            </p:extLst>
          </p:nvPr>
        </p:nvGraphicFramePr>
        <p:xfrm>
          <a:off x="885825" y="3978275"/>
          <a:ext cx="7138988" cy="812800"/>
        </p:xfrm>
        <a:graphic>
          <a:graphicData uri="http://schemas.openxmlformats.org/presentationml/2006/ole">
            <mc:AlternateContent xmlns:mc="http://schemas.openxmlformats.org/markup-compatibility/2006">
              <mc:Choice xmlns:v="urn:schemas-microsoft-com:vml" Requires="v">
                <p:oleObj name="Equation" r:id="rId2" imgW="3009600" imgH="342720" progId="Equation.DSMT4">
                  <p:embed/>
                </p:oleObj>
              </mc:Choice>
              <mc:Fallback>
                <p:oleObj name="Equation" r:id="rId2" imgW="3009600" imgH="342720" progId="Equation.DSMT4">
                  <p:embed/>
                  <p:pic>
                    <p:nvPicPr>
                      <p:cNvPr id="0" name=""/>
                      <p:cNvPicPr/>
                      <p:nvPr/>
                    </p:nvPicPr>
                    <p:blipFill>
                      <a:blip r:embed="rId3"/>
                      <a:stretch>
                        <a:fillRect/>
                      </a:stretch>
                    </p:blipFill>
                    <p:spPr>
                      <a:xfrm>
                        <a:off x="885825" y="3978275"/>
                        <a:ext cx="7138988" cy="812800"/>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BED481C-20BB-440E-8792-18B2EE552D54}"/>
              </a:ext>
            </a:extLst>
          </p:cNvPr>
          <p:cNvSpPr/>
          <p:nvPr/>
        </p:nvSpPr>
        <p:spPr>
          <a:xfrm>
            <a:off x="11724830" y="2573059"/>
            <a:ext cx="439198" cy="646331"/>
          </a:xfrm>
          <a:prstGeom prst="rect">
            <a:avLst/>
          </a:prstGeom>
          <a:solidFill>
            <a:srgbClr val="FFC000"/>
          </a:solidFill>
        </p:spPr>
        <p:txBody>
          <a:bodyPr wrap="square" lIns="91440" tIns="45720" rIns="91440" bIns="45720">
            <a:spAutoFit/>
          </a:bodyPr>
          <a:lstStyle/>
          <a:p>
            <a:pPr algn="ctr"/>
            <a:r>
              <a:rPr lang="en-US" sz="3600" dirty="0">
                <a:ln w="0"/>
                <a:effectLst>
                  <a:outerShdw blurRad="38100" dist="19050" dir="2700000" algn="tl" rotWithShape="0">
                    <a:schemeClr val="dk1">
                      <a:alpha val="40000"/>
                    </a:schemeClr>
                  </a:outerShdw>
                </a:effectLst>
              </a:rPr>
              <a:t>e</a:t>
            </a:r>
            <a:endParaRPr lang="en-US" sz="3600" b="0" cap="none" spc="0" dirty="0">
              <a:ln w="0"/>
              <a:solidFill>
                <a:schemeClr val="tx1"/>
              </a:solidFill>
              <a:effectLst>
                <a:outerShdw blurRad="38100" dist="19050" dir="2700000" algn="tl" rotWithShape="0">
                  <a:schemeClr val="dk1">
                    <a:alpha val="40000"/>
                  </a:schemeClr>
                </a:outerShdw>
              </a:effectLst>
            </a:endParaRPr>
          </a:p>
        </p:txBody>
      </p:sp>
      <p:pic>
        <p:nvPicPr>
          <p:cNvPr id="15" name="Picture 14">
            <a:extLst>
              <a:ext uri="{FF2B5EF4-FFF2-40B4-BE49-F238E27FC236}">
                <a16:creationId xmlns:a16="http://schemas.microsoft.com/office/drawing/2014/main" id="{F2DF9B0F-7505-4BB2-901B-4B63DC7C0C9E}"/>
              </a:ext>
            </a:extLst>
          </p:cNvPr>
          <p:cNvPicPr>
            <a:picLocks noChangeAspect="1"/>
          </p:cNvPicPr>
          <p:nvPr/>
        </p:nvPicPr>
        <p:blipFill>
          <a:blip r:embed="rId4"/>
          <a:stretch>
            <a:fillRect/>
          </a:stretch>
        </p:blipFill>
        <p:spPr>
          <a:xfrm>
            <a:off x="253282" y="525873"/>
            <a:ext cx="9067800" cy="3124200"/>
          </a:xfrm>
          <a:prstGeom prst="rect">
            <a:avLst/>
          </a:prstGeom>
        </p:spPr>
      </p:pic>
      <p:pic>
        <p:nvPicPr>
          <p:cNvPr id="16" name="Picture 15">
            <a:extLst>
              <a:ext uri="{FF2B5EF4-FFF2-40B4-BE49-F238E27FC236}">
                <a16:creationId xmlns:a16="http://schemas.microsoft.com/office/drawing/2014/main" id="{EFE6C79C-2241-4F49-9946-B5C6725FB559}"/>
              </a:ext>
            </a:extLst>
          </p:cNvPr>
          <p:cNvPicPr>
            <a:picLocks noChangeAspect="1"/>
          </p:cNvPicPr>
          <p:nvPr/>
        </p:nvPicPr>
        <p:blipFill>
          <a:blip r:embed="rId5"/>
          <a:stretch>
            <a:fillRect/>
          </a:stretch>
        </p:blipFill>
        <p:spPr>
          <a:xfrm>
            <a:off x="1159719" y="5140143"/>
            <a:ext cx="3333750" cy="685800"/>
          </a:xfrm>
          <a:prstGeom prst="rect">
            <a:avLst/>
          </a:prstGeom>
        </p:spPr>
      </p:pic>
      <p:sp>
        <p:nvSpPr>
          <p:cNvPr id="2" name="Rectangle 1">
            <a:extLst>
              <a:ext uri="{FF2B5EF4-FFF2-40B4-BE49-F238E27FC236}">
                <a16:creationId xmlns:a16="http://schemas.microsoft.com/office/drawing/2014/main" id="{CEB98C32-FCFB-4383-A008-A7385415F0EC}"/>
              </a:ext>
            </a:extLst>
          </p:cNvPr>
          <p:cNvSpPr/>
          <p:nvPr/>
        </p:nvSpPr>
        <p:spPr>
          <a:xfrm>
            <a:off x="6977575" y="1420837"/>
            <a:ext cx="140677" cy="1969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93440C8F-4D09-42DA-BC97-2918A96E820D}"/>
              </a:ext>
            </a:extLst>
          </p:cNvPr>
          <p:cNvSpPr txBox="1"/>
          <p:nvPr/>
        </p:nvSpPr>
        <p:spPr>
          <a:xfrm>
            <a:off x="6738425" y="5825943"/>
            <a:ext cx="4606069" cy="461665"/>
          </a:xfrm>
          <a:prstGeom prst="rect">
            <a:avLst/>
          </a:prstGeom>
          <a:noFill/>
        </p:spPr>
        <p:txBody>
          <a:bodyPr wrap="none" rtlCol="0">
            <a:spAutoFit/>
          </a:bodyPr>
          <a:lstStyle/>
          <a:p>
            <a:r>
              <a:rPr lang="en-IN" sz="2400" b="1" dirty="0">
                <a:solidFill>
                  <a:srgbClr val="FF0000"/>
                </a:solidFill>
              </a:rPr>
              <a:t>Note: g is not there. It is a mistake </a:t>
            </a:r>
          </a:p>
        </p:txBody>
      </p:sp>
      <p:sp>
        <p:nvSpPr>
          <p:cNvPr id="17" name="Rectangle 16">
            <a:extLst>
              <a:ext uri="{FF2B5EF4-FFF2-40B4-BE49-F238E27FC236}">
                <a16:creationId xmlns:a16="http://schemas.microsoft.com/office/drawing/2014/main" id="{D5A59C28-24DC-43DB-A6F6-19DC8283E269}"/>
              </a:ext>
            </a:extLst>
          </p:cNvPr>
          <p:cNvSpPr/>
          <p:nvPr/>
        </p:nvSpPr>
        <p:spPr>
          <a:xfrm>
            <a:off x="9322440" y="3545796"/>
            <a:ext cx="830677" cy="646331"/>
          </a:xfrm>
          <a:prstGeom prst="rect">
            <a:avLst/>
          </a:prstGeom>
          <a:solidFill>
            <a:srgbClr val="FFC000"/>
          </a:solid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ace</a:t>
            </a:r>
          </a:p>
        </p:txBody>
      </p:sp>
      <p:sp>
        <p:nvSpPr>
          <p:cNvPr id="18" name="Rectangle 17">
            <a:extLst>
              <a:ext uri="{FF2B5EF4-FFF2-40B4-BE49-F238E27FC236}">
                <a16:creationId xmlns:a16="http://schemas.microsoft.com/office/drawing/2014/main" id="{B5DD385E-9BFD-40C5-AEA3-3505B513B065}"/>
              </a:ext>
            </a:extLst>
          </p:cNvPr>
          <p:cNvSpPr/>
          <p:nvPr/>
        </p:nvSpPr>
        <p:spPr>
          <a:xfrm>
            <a:off x="10511885" y="3554889"/>
            <a:ext cx="567784" cy="646331"/>
          </a:xfrm>
          <a:prstGeom prst="rect">
            <a:avLst/>
          </a:prstGeom>
          <a:solidFill>
            <a:srgbClr val="FFC000"/>
          </a:solid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df</a:t>
            </a:r>
          </a:p>
        </p:txBody>
      </p:sp>
      <p:sp>
        <p:nvSpPr>
          <p:cNvPr id="19" name="Rectangle 18">
            <a:extLst>
              <a:ext uri="{FF2B5EF4-FFF2-40B4-BE49-F238E27FC236}">
                <a16:creationId xmlns:a16="http://schemas.microsoft.com/office/drawing/2014/main" id="{B44F9B69-85DD-4AE4-B8E7-B55818221CB1}"/>
              </a:ext>
            </a:extLst>
          </p:cNvPr>
          <p:cNvSpPr/>
          <p:nvPr/>
        </p:nvSpPr>
        <p:spPr>
          <a:xfrm>
            <a:off x="11381434" y="3570638"/>
            <a:ext cx="426720" cy="646331"/>
          </a:xfrm>
          <a:prstGeom prst="rect">
            <a:avLst/>
          </a:prstGeom>
          <a:solidFill>
            <a:srgbClr val="FFC000"/>
          </a:solid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b</a:t>
            </a:r>
          </a:p>
        </p:txBody>
      </p:sp>
      <p:cxnSp>
        <p:nvCxnSpPr>
          <p:cNvPr id="20" name="Straight Arrow Connector 19">
            <a:extLst>
              <a:ext uri="{FF2B5EF4-FFF2-40B4-BE49-F238E27FC236}">
                <a16:creationId xmlns:a16="http://schemas.microsoft.com/office/drawing/2014/main" id="{D187DA66-A190-42BA-BD59-3BD64422F00D}"/>
              </a:ext>
            </a:extLst>
          </p:cNvPr>
          <p:cNvCxnSpPr>
            <a:endCxn id="17" idx="1"/>
          </p:cNvCxnSpPr>
          <p:nvPr/>
        </p:nvCxnSpPr>
        <p:spPr>
          <a:xfrm>
            <a:off x="8595360" y="3554889"/>
            <a:ext cx="727080" cy="314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09699C0-14EF-46CA-B9B4-AECD24E04E68}"/>
              </a:ext>
            </a:extLst>
          </p:cNvPr>
          <p:cNvCxnSpPr/>
          <p:nvPr/>
        </p:nvCxnSpPr>
        <p:spPr>
          <a:xfrm>
            <a:off x="8736037" y="2996418"/>
            <a:ext cx="5850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D889216-9015-4793-BDE5-D2CBA8871BE2}"/>
              </a:ext>
            </a:extLst>
          </p:cNvPr>
          <p:cNvCxnSpPr>
            <a:endCxn id="15" idx="3"/>
          </p:cNvCxnSpPr>
          <p:nvPr/>
        </p:nvCxnSpPr>
        <p:spPr>
          <a:xfrm flipV="1">
            <a:off x="8328074" y="2087973"/>
            <a:ext cx="993008" cy="3231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21953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558A8B-C642-4DD7-8CC6-949A46848A3E}"/>
              </a:ext>
            </a:extLst>
          </p:cNvPr>
          <p:cNvPicPr>
            <a:picLocks noChangeAspect="1"/>
          </p:cNvPicPr>
          <p:nvPr/>
        </p:nvPicPr>
        <p:blipFill>
          <a:blip r:embed="rId2"/>
          <a:stretch>
            <a:fillRect/>
          </a:stretch>
        </p:blipFill>
        <p:spPr>
          <a:xfrm>
            <a:off x="615828" y="34150"/>
            <a:ext cx="10708665" cy="5838825"/>
          </a:xfrm>
          <a:prstGeom prst="rect">
            <a:avLst/>
          </a:prstGeom>
        </p:spPr>
      </p:pic>
      <p:sp>
        <p:nvSpPr>
          <p:cNvPr id="2" name="TextBox 1">
            <a:extLst>
              <a:ext uri="{FF2B5EF4-FFF2-40B4-BE49-F238E27FC236}">
                <a16:creationId xmlns:a16="http://schemas.microsoft.com/office/drawing/2014/main" id="{587AF7AE-35D0-4C3C-BFA1-4688D25574E3}"/>
              </a:ext>
            </a:extLst>
          </p:cNvPr>
          <p:cNvSpPr txBox="1"/>
          <p:nvPr/>
        </p:nvSpPr>
        <p:spPr>
          <a:xfrm>
            <a:off x="10200613" y="2563852"/>
            <a:ext cx="1915909" cy="523220"/>
          </a:xfrm>
          <a:prstGeom prst="rect">
            <a:avLst/>
          </a:prstGeom>
          <a:noFill/>
        </p:spPr>
        <p:txBody>
          <a:bodyPr wrap="none" rtlCol="0">
            <a:spAutoFit/>
          </a:bodyPr>
          <a:lstStyle/>
          <a:p>
            <a:r>
              <a:rPr lang="en-IN" sz="2800" b="1" dirty="0"/>
              <a:t>ddddddddd</a:t>
            </a:r>
          </a:p>
        </p:txBody>
      </p:sp>
      <p:sp>
        <p:nvSpPr>
          <p:cNvPr id="4" name="TextBox 3">
            <a:extLst>
              <a:ext uri="{FF2B5EF4-FFF2-40B4-BE49-F238E27FC236}">
                <a16:creationId xmlns:a16="http://schemas.microsoft.com/office/drawing/2014/main" id="{105464B2-1A1A-4535-91CA-FC6A9A09D372}"/>
              </a:ext>
            </a:extLst>
          </p:cNvPr>
          <p:cNvSpPr txBox="1"/>
          <p:nvPr/>
        </p:nvSpPr>
        <p:spPr>
          <a:xfrm>
            <a:off x="109391" y="6120614"/>
            <a:ext cx="6644383" cy="523220"/>
          </a:xfrm>
          <a:prstGeom prst="rect">
            <a:avLst/>
          </a:prstGeom>
          <a:noFill/>
        </p:spPr>
        <p:txBody>
          <a:bodyPr wrap="none" rtlCol="0">
            <a:spAutoFit/>
          </a:bodyPr>
          <a:lstStyle/>
          <a:p>
            <a:r>
              <a:rPr lang="en-IN" sz="2800" b="1" dirty="0"/>
              <a:t>All letters </a:t>
            </a:r>
            <a:r>
              <a:rPr lang="en-IN" sz="2800" b="1" dirty="0" err="1"/>
              <a:t>a,b,c</a:t>
            </a:r>
            <a:r>
              <a:rPr lang="en-IN" sz="2800" b="1" dirty="0"/>
              <a:t> must be there at least once.</a:t>
            </a:r>
          </a:p>
        </p:txBody>
      </p:sp>
      <p:sp>
        <p:nvSpPr>
          <p:cNvPr id="5" name="TextBox 4">
            <a:extLst>
              <a:ext uri="{FF2B5EF4-FFF2-40B4-BE49-F238E27FC236}">
                <a16:creationId xmlns:a16="http://schemas.microsoft.com/office/drawing/2014/main" id="{5DDDD5C7-B977-48B6-B7B5-A5FBD81B39C7}"/>
              </a:ext>
            </a:extLst>
          </p:cNvPr>
          <p:cNvSpPr txBox="1"/>
          <p:nvPr/>
        </p:nvSpPr>
        <p:spPr>
          <a:xfrm>
            <a:off x="8232674" y="5920559"/>
            <a:ext cx="1558440" cy="461665"/>
          </a:xfrm>
          <a:prstGeom prst="rect">
            <a:avLst/>
          </a:prstGeom>
          <a:noFill/>
        </p:spPr>
        <p:txBody>
          <a:bodyPr wrap="none" rtlCol="0">
            <a:spAutoFit/>
          </a:bodyPr>
          <a:lstStyle/>
          <a:p>
            <a:r>
              <a:rPr lang="en-IN" sz="2400" b="1" dirty="0"/>
              <a:t>aabcdabcd</a:t>
            </a:r>
          </a:p>
        </p:txBody>
      </p:sp>
      <p:sp>
        <p:nvSpPr>
          <p:cNvPr id="6" name="TextBox 5">
            <a:extLst>
              <a:ext uri="{FF2B5EF4-FFF2-40B4-BE49-F238E27FC236}">
                <a16:creationId xmlns:a16="http://schemas.microsoft.com/office/drawing/2014/main" id="{ACECCDF3-D718-48DB-A62B-E838F0B816C7}"/>
              </a:ext>
            </a:extLst>
          </p:cNvPr>
          <p:cNvSpPr txBox="1"/>
          <p:nvPr/>
        </p:nvSpPr>
        <p:spPr>
          <a:xfrm>
            <a:off x="8231072" y="6362185"/>
            <a:ext cx="1560042" cy="461665"/>
          </a:xfrm>
          <a:prstGeom prst="rect">
            <a:avLst/>
          </a:prstGeom>
          <a:noFill/>
        </p:spPr>
        <p:txBody>
          <a:bodyPr wrap="none" rtlCol="0">
            <a:spAutoFit/>
          </a:bodyPr>
          <a:lstStyle/>
          <a:p>
            <a:r>
              <a:rPr lang="en-IN" sz="2400" b="1" dirty="0">
                <a:solidFill>
                  <a:srgbClr val="FF0000"/>
                </a:solidFill>
              </a:rPr>
              <a:t>bcdbcdbcd</a:t>
            </a:r>
          </a:p>
        </p:txBody>
      </p:sp>
      <p:sp>
        <p:nvSpPr>
          <p:cNvPr id="7" name="TextBox 6">
            <a:extLst>
              <a:ext uri="{FF2B5EF4-FFF2-40B4-BE49-F238E27FC236}">
                <a16:creationId xmlns:a16="http://schemas.microsoft.com/office/drawing/2014/main" id="{1A298808-9899-4AB6-89FB-9FD8057D64F0}"/>
              </a:ext>
            </a:extLst>
          </p:cNvPr>
          <p:cNvSpPr txBox="1"/>
          <p:nvPr/>
        </p:nvSpPr>
        <p:spPr>
          <a:xfrm>
            <a:off x="9891073" y="6408351"/>
            <a:ext cx="619080" cy="369332"/>
          </a:xfrm>
          <a:prstGeom prst="rect">
            <a:avLst/>
          </a:prstGeom>
          <a:noFill/>
        </p:spPr>
        <p:txBody>
          <a:bodyPr wrap="none" rtlCol="0">
            <a:spAutoFit/>
          </a:bodyPr>
          <a:lstStyle/>
          <a:p>
            <a:r>
              <a:rPr lang="en-IN" dirty="0"/>
              <a:t>No a</a:t>
            </a:r>
          </a:p>
        </p:txBody>
      </p:sp>
      <p:sp>
        <p:nvSpPr>
          <p:cNvPr id="8" name="TextBox 7">
            <a:extLst>
              <a:ext uri="{FF2B5EF4-FFF2-40B4-BE49-F238E27FC236}">
                <a16:creationId xmlns:a16="http://schemas.microsoft.com/office/drawing/2014/main" id="{CF46DFA6-9473-4B68-933A-D6052384EFA7}"/>
              </a:ext>
            </a:extLst>
          </p:cNvPr>
          <p:cNvSpPr txBox="1"/>
          <p:nvPr/>
        </p:nvSpPr>
        <p:spPr>
          <a:xfrm>
            <a:off x="109391" y="4290646"/>
            <a:ext cx="1683794" cy="1015663"/>
          </a:xfrm>
          <a:prstGeom prst="rect">
            <a:avLst/>
          </a:prstGeom>
          <a:noFill/>
        </p:spPr>
        <p:txBody>
          <a:bodyPr wrap="none" rtlCol="0">
            <a:spAutoFit/>
          </a:bodyPr>
          <a:lstStyle/>
          <a:p>
            <a:r>
              <a:rPr lang="en-IN" sz="2000" b="1" dirty="0">
                <a:solidFill>
                  <a:srgbClr val="FF0000"/>
                </a:solidFill>
              </a:rPr>
              <a:t>a is there and </a:t>
            </a:r>
          </a:p>
          <a:p>
            <a:r>
              <a:rPr lang="en-IN" sz="2000" b="1" dirty="0">
                <a:solidFill>
                  <a:srgbClr val="FF0000"/>
                </a:solidFill>
              </a:rPr>
              <a:t>b is there </a:t>
            </a:r>
          </a:p>
          <a:p>
            <a:r>
              <a:rPr lang="en-IN" sz="2000" b="1" dirty="0">
                <a:solidFill>
                  <a:srgbClr val="FF0000"/>
                </a:solidFill>
              </a:rPr>
              <a:t>and c is there</a:t>
            </a:r>
          </a:p>
        </p:txBody>
      </p:sp>
      <p:cxnSp>
        <p:nvCxnSpPr>
          <p:cNvPr id="10" name="Straight Arrow Connector 9">
            <a:extLst>
              <a:ext uri="{FF2B5EF4-FFF2-40B4-BE49-F238E27FC236}">
                <a16:creationId xmlns:a16="http://schemas.microsoft.com/office/drawing/2014/main" id="{A223F8FB-0C99-42D5-945C-4E5E2E5ED1C3}"/>
              </a:ext>
            </a:extLst>
          </p:cNvPr>
          <p:cNvCxnSpPr>
            <a:stCxn id="8" idx="3"/>
          </p:cNvCxnSpPr>
          <p:nvPr/>
        </p:nvCxnSpPr>
        <p:spPr>
          <a:xfrm flipV="1">
            <a:off x="1793185" y="4459458"/>
            <a:ext cx="893744" cy="3390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77EF69E5-360A-45BF-97BF-C0BD12E9AF60}"/>
              </a:ext>
            </a:extLst>
          </p:cNvPr>
          <p:cNvSpPr/>
          <p:nvPr/>
        </p:nvSpPr>
        <p:spPr>
          <a:xfrm>
            <a:off x="2686929" y="1223889"/>
            <a:ext cx="1828800" cy="49236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330282DD-6794-4C2A-A6B0-C3D846CFE5A6}"/>
              </a:ext>
            </a:extLst>
          </p:cNvPr>
          <p:cNvCxnSpPr/>
          <p:nvPr/>
        </p:nvCxnSpPr>
        <p:spPr>
          <a:xfrm flipV="1">
            <a:off x="9594166" y="2953562"/>
            <a:ext cx="1420837" cy="475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56180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29286A4-51FB-4D2D-8C4A-4ED50E4296A1}"/>
              </a:ext>
            </a:extLst>
          </p:cNvPr>
          <p:cNvPicPr>
            <a:picLocks noChangeAspect="1"/>
          </p:cNvPicPr>
          <p:nvPr/>
        </p:nvPicPr>
        <p:blipFill>
          <a:blip r:embed="rId2"/>
          <a:stretch>
            <a:fillRect/>
          </a:stretch>
        </p:blipFill>
        <p:spPr>
          <a:xfrm>
            <a:off x="841602" y="424070"/>
            <a:ext cx="10740798" cy="6095999"/>
          </a:xfrm>
          <a:prstGeom prst="rect">
            <a:avLst/>
          </a:prstGeom>
        </p:spPr>
      </p:pic>
      <p:sp>
        <p:nvSpPr>
          <p:cNvPr id="3" name="TextBox 2">
            <a:extLst>
              <a:ext uri="{FF2B5EF4-FFF2-40B4-BE49-F238E27FC236}">
                <a16:creationId xmlns:a16="http://schemas.microsoft.com/office/drawing/2014/main" id="{833FC3EC-F215-486F-AE6A-0D7461CADF29}"/>
              </a:ext>
            </a:extLst>
          </p:cNvPr>
          <p:cNvSpPr txBox="1"/>
          <p:nvPr/>
        </p:nvSpPr>
        <p:spPr>
          <a:xfrm>
            <a:off x="422031" y="6520069"/>
            <a:ext cx="4895892" cy="369332"/>
          </a:xfrm>
          <a:prstGeom prst="rect">
            <a:avLst/>
          </a:prstGeom>
          <a:noFill/>
        </p:spPr>
        <p:txBody>
          <a:bodyPr wrap="none" rtlCol="0">
            <a:spAutoFit/>
          </a:bodyPr>
          <a:lstStyle/>
          <a:p>
            <a:r>
              <a:rPr lang="en-IN" dirty="0"/>
              <a:t>One prime factor must be less than its square root</a:t>
            </a:r>
          </a:p>
        </p:txBody>
      </p:sp>
    </p:spTree>
    <p:extLst>
      <p:ext uri="{BB962C8B-B14F-4D97-AF65-F5344CB8AC3E}">
        <p14:creationId xmlns:p14="http://schemas.microsoft.com/office/powerpoint/2010/main" val="1570282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9246DA-3E23-4AAD-99FB-73862B7A7A59}"/>
              </a:ext>
            </a:extLst>
          </p:cNvPr>
          <p:cNvPicPr>
            <a:picLocks noChangeAspect="1"/>
          </p:cNvPicPr>
          <p:nvPr/>
        </p:nvPicPr>
        <p:blipFill>
          <a:blip r:embed="rId2"/>
          <a:stretch>
            <a:fillRect/>
          </a:stretch>
        </p:blipFill>
        <p:spPr>
          <a:xfrm>
            <a:off x="1111667" y="633412"/>
            <a:ext cx="10035529" cy="5926414"/>
          </a:xfrm>
          <a:prstGeom prst="rect">
            <a:avLst/>
          </a:prstGeom>
        </p:spPr>
      </p:pic>
    </p:spTree>
    <p:extLst>
      <p:ext uri="{BB962C8B-B14F-4D97-AF65-F5344CB8AC3E}">
        <p14:creationId xmlns:p14="http://schemas.microsoft.com/office/powerpoint/2010/main" val="6657820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1A32FA2-F299-41DE-B9EA-776752503868}"/>
              </a:ext>
            </a:extLst>
          </p:cNvPr>
          <p:cNvPicPr>
            <a:picLocks noChangeAspect="1"/>
          </p:cNvPicPr>
          <p:nvPr/>
        </p:nvPicPr>
        <p:blipFill>
          <a:blip r:embed="rId2"/>
          <a:stretch>
            <a:fillRect/>
          </a:stretch>
        </p:blipFill>
        <p:spPr>
          <a:xfrm>
            <a:off x="158251" y="1786011"/>
            <a:ext cx="10819777" cy="3834579"/>
          </a:xfrm>
          <a:prstGeom prst="rect">
            <a:avLst/>
          </a:prstGeom>
        </p:spPr>
      </p:pic>
      <p:sp>
        <p:nvSpPr>
          <p:cNvPr id="3" name="Rectangle 2">
            <a:extLst>
              <a:ext uri="{FF2B5EF4-FFF2-40B4-BE49-F238E27FC236}">
                <a16:creationId xmlns:a16="http://schemas.microsoft.com/office/drawing/2014/main" id="{5630219E-A5B6-4565-B412-14CD70E66924}"/>
              </a:ext>
            </a:extLst>
          </p:cNvPr>
          <p:cNvSpPr/>
          <p:nvPr/>
        </p:nvSpPr>
        <p:spPr>
          <a:xfrm>
            <a:off x="158251" y="103972"/>
            <a:ext cx="11875495" cy="1754326"/>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Two numbers are relatively prime if there</a:t>
            </a:r>
          </a:p>
          <a:p>
            <a:r>
              <a:rPr lang="en-US" sz="5400" b="0" cap="none" spc="0" dirty="0">
                <a:ln w="0"/>
                <a:solidFill>
                  <a:schemeClr val="tx1"/>
                </a:solidFill>
                <a:effectLst>
                  <a:outerShdw blurRad="38100" dist="19050" dir="2700000" algn="tl" rotWithShape="0">
                    <a:schemeClr val="dk1">
                      <a:alpha val="40000"/>
                    </a:schemeClr>
                  </a:outerShdw>
                </a:effectLst>
              </a:rPr>
              <a:t> is no common divisor </a:t>
            </a:r>
            <a:r>
              <a:rPr lang="en-US" sz="5400" dirty="0">
                <a:ln w="0"/>
                <a:solidFill>
                  <a:srgbClr val="FF0000"/>
                </a:solidFill>
                <a:effectLst>
                  <a:outerShdw blurRad="38100" dist="19050" dir="2700000" algn="tl" rotWithShape="0">
                    <a:schemeClr val="dk1">
                      <a:alpha val="40000"/>
                    </a:schemeClr>
                  </a:outerShdw>
                </a:effectLst>
              </a:rPr>
              <a:t>other than one</a:t>
            </a:r>
            <a:r>
              <a:rPr lang="en-US" sz="5400" b="0" cap="none" spc="0" dirty="0">
                <a:ln w="0"/>
                <a:solidFill>
                  <a:srgbClr val="FF0000"/>
                </a:solidFill>
                <a:effectLst>
                  <a:outerShdw blurRad="38100" dist="19050" dir="2700000" algn="tl" rotWithShape="0">
                    <a:schemeClr val="dk1">
                      <a:alpha val="40000"/>
                    </a:schemeClr>
                  </a:outerShdw>
                </a:effectLst>
              </a:rPr>
              <a:t>  </a:t>
            </a:r>
          </a:p>
        </p:txBody>
      </p:sp>
      <p:sp>
        <p:nvSpPr>
          <p:cNvPr id="4" name="Rectangle 3">
            <a:extLst>
              <a:ext uri="{FF2B5EF4-FFF2-40B4-BE49-F238E27FC236}">
                <a16:creationId xmlns:a16="http://schemas.microsoft.com/office/drawing/2014/main" id="{B9B7AF9F-41B5-46D3-A206-153F68F02031}"/>
              </a:ext>
            </a:extLst>
          </p:cNvPr>
          <p:cNvSpPr/>
          <p:nvPr/>
        </p:nvSpPr>
        <p:spPr>
          <a:xfrm>
            <a:off x="372508" y="5620590"/>
            <a:ext cx="11446980" cy="830997"/>
          </a:xfrm>
          <a:prstGeom prst="rect">
            <a:avLst/>
          </a:prstGeom>
          <a:noFill/>
        </p:spPr>
        <p:txBody>
          <a:bodyPr wrap="none" lIns="91440" tIns="45720" rIns="91440" bIns="45720">
            <a:spAutoFit/>
          </a:bodyPr>
          <a:lstStyle/>
          <a:p>
            <a:pPr algn="ctr"/>
            <a:r>
              <a:rPr lang="en-US" sz="4800" b="0" cap="none" spc="0" dirty="0">
                <a:ln w="0"/>
                <a:solidFill>
                  <a:schemeClr val="accent1"/>
                </a:solidFill>
                <a:effectLst>
                  <a:outerShdw blurRad="38100" dist="25400" dir="5400000" algn="ctr" rotWithShape="0">
                    <a:srgbClr val="6E747A">
                      <a:alpha val="43000"/>
                    </a:srgbClr>
                  </a:outerShdw>
                </a:effectLst>
              </a:rPr>
              <a:t>8=2</a:t>
            </a:r>
            <a:r>
              <a:rPr lang="en-US" sz="4800" b="0" cap="none" spc="0" baseline="30000" dirty="0">
                <a:ln w="0"/>
                <a:solidFill>
                  <a:schemeClr val="accent1"/>
                </a:solidFill>
                <a:effectLst>
                  <a:outerShdw blurRad="38100" dist="25400" dir="5400000" algn="ctr" rotWithShape="0">
                    <a:srgbClr val="6E747A">
                      <a:alpha val="43000"/>
                    </a:srgbClr>
                  </a:outerShdw>
                </a:effectLst>
              </a:rPr>
              <a:t>3</a:t>
            </a:r>
            <a:r>
              <a:rPr lang="en-US" sz="4800" b="0" cap="none" spc="0" dirty="0">
                <a:ln w="0"/>
                <a:solidFill>
                  <a:schemeClr val="accent1"/>
                </a:solidFill>
                <a:effectLst>
                  <a:outerShdw blurRad="38100" dist="25400" dir="5400000" algn="ctr" rotWithShape="0">
                    <a:srgbClr val="6E747A">
                      <a:alpha val="43000"/>
                    </a:srgbClr>
                  </a:outerShdw>
                </a:effectLst>
              </a:rPr>
              <a:t>, so </a:t>
            </a:r>
            <a:r>
              <a:rPr lang="en-US" sz="4800" b="0" cap="none" spc="0" dirty="0">
                <a:ln w="0"/>
                <a:solidFill>
                  <a:srgbClr val="FF0000"/>
                </a:solidFill>
                <a:effectLst>
                  <a:outerShdw blurRad="38100" dist="25400" dir="5400000" algn="ctr" rotWithShape="0">
                    <a:srgbClr val="6E747A">
                      <a:alpha val="43000"/>
                    </a:srgbClr>
                  </a:outerShdw>
                </a:effectLst>
              </a:rPr>
              <a:t>Remove all multiples of 2 to get </a:t>
            </a:r>
            <a:r>
              <a:rPr lang="el-GR" sz="4800" b="0" cap="none" spc="0" dirty="0">
                <a:ln w="0"/>
                <a:solidFill>
                  <a:srgbClr val="FF0000"/>
                </a:solidFill>
                <a:effectLst>
                  <a:outerShdw blurRad="38100" dist="25400" dir="5400000" algn="ctr" rotWithShape="0">
                    <a:srgbClr val="6E747A">
                      <a:alpha val="43000"/>
                    </a:srgbClr>
                  </a:outerShdw>
                </a:effectLst>
              </a:rPr>
              <a:t>φ</a:t>
            </a:r>
            <a:r>
              <a:rPr lang="en-IN" sz="4800" b="0" cap="none" spc="0" dirty="0">
                <a:ln w="0"/>
                <a:solidFill>
                  <a:srgbClr val="FF0000"/>
                </a:solidFill>
                <a:effectLst>
                  <a:outerShdw blurRad="38100" dist="25400" dir="5400000" algn="ctr" rotWithShape="0">
                    <a:srgbClr val="6E747A">
                      <a:alpha val="43000"/>
                    </a:srgbClr>
                  </a:outerShdw>
                </a:effectLst>
              </a:rPr>
              <a:t>(8)</a:t>
            </a:r>
            <a:endParaRPr lang="en-US" sz="4800" b="0" cap="none" spc="0" dirty="0">
              <a:ln w="0"/>
              <a:solidFill>
                <a:srgbClr val="FF0000"/>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826611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A8C058E-3194-4C45-AA78-848EC2290BC4}"/>
              </a:ext>
            </a:extLst>
          </p:cNvPr>
          <p:cNvPicPr>
            <a:picLocks noChangeAspect="1"/>
          </p:cNvPicPr>
          <p:nvPr/>
        </p:nvPicPr>
        <p:blipFill>
          <a:blip r:embed="rId2"/>
          <a:stretch>
            <a:fillRect/>
          </a:stretch>
        </p:blipFill>
        <p:spPr>
          <a:xfrm>
            <a:off x="162232" y="1"/>
            <a:ext cx="12029768" cy="6858000"/>
          </a:xfrm>
          <a:prstGeom prst="rect">
            <a:avLst/>
          </a:prstGeom>
        </p:spPr>
      </p:pic>
    </p:spTree>
    <p:extLst>
      <p:ext uri="{BB962C8B-B14F-4D97-AF65-F5344CB8AC3E}">
        <p14:creationId xmlns:p14="http://schemas.microsoft.com/office/powerpoint/2010/main" val="3097790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732371C-1A3D-4A42-AC8C-5FB781E4774B}"/>
              </a:ext>
            </a:extLst>
          </p:cNvPr>
          <p:cNvPicPr>
            <a:picLocks noChangeAspect="1"/>
          </p:cNvPicPr>
          <p:nvPr/>
        </p:nvPicPr>
        <p:blipFill>
          <a:blip r:embed="rId2"/>
          <a:stretch>
            <a:fillRect/>
          </a:stretch>
        </p:blipFill>
        <p:spPr>
          <a:xfrm>
            <a:off x="523461" y="287471"/>
            <a:ext cx="11145078" cy="5857461"/>
          </a:xfrm>
          <a:prstGeom prst="rect">
            <a:avLst/>
          </a:prstGeom>
        </p:spPr>
      </p:pic>
      <p:sp>
        <p:nvSpPr>
          <p:cNvPr id="3" name="TextBox 2">
            <a:extLst>
              <a:ext uri="{FF2B5EF4-FFF2-40B4-BE49-F238E27FC236}">
                <a16:creationId xmlns:a16="http://schemas.microsoft.com/office/drawing/2014/main" id="{8CC11BF0-7A8A-4CEE-B653-663681F09D51}"/>
              </a:ext>
            </a:extLst>
          </p:cNvPr>
          <p:cNvSpPr txBox="1"/>
          <p:nvPr/>
        </p:nvSpPr>
        <p:spPr>
          <a:xfrm>
            <a:off x="443991" y="5697416"/>
            <a:ext cx="11432938" cy="646331"/>
          </a:xfrm>
          <a:prstGeom prst="rect">
            <a:avLst/>
          </a:prstGeom>
          <a:noFill/>
        </p:spPr>
        <p:txBody>
          <a:bodyPr wrap="none" rtlCol="0">
            <a:spAutoFit/>
          </a:bodyPr>
          <a:lstStyle/>
          <a:p>
            <a:pPr algn="ctr"/>
            <a:r>
              <a:rPr lang="en-IN" sz="3600" b="1" dirty="0"/>
              <a:t>Think of  (x-a)(x-b)(x-c) =  x</a:t>
            </a:r>
            <a:r>
              <a:rPr lang="en-IN" sz="3600" b="1" baseline="30000" dirty="0"/>
              <a:t>3</a:t>
            </a:r>
            <a:r>
              <a:rPr lang="en-IN" sz="3600" b="1" dirty="0"/>
              <a:t> – (a+b+c) x</a:t>
            </a:r>
            <a:r>
              <a:rPr lang="en-IN" sz="3600" b="1" baseline="30000" dirty="0"/>
              <a:t>2</a:t>
            </a:r>
            <a:r>
              <a:rPr lang="en-IN" sz="3600" b="1" dirty="0"/>
              <a:t> + (ab+ac+bc)x-</a:t>
            </a:r>
            <a:r>
              <a:rPr lang="en-IN" sz="3600" b="1" dirty="0" err="1"/>
              <a:t>abc</a:t>
            </a:r>
            <a:r>
              <a:rPr lang="en-IN" sz="3600" b="1" dirty="0"/>
              <a:t>  </a:t>
            </a:r>
          </a:p>
        </p:txBody>
      </p:sp>
    </p:spTree>
    <p:extLst>
      <p:ext uri="{BB962C8B-B14F-4D97-AF65-F5344CB8AC3E}">
        <p14:creationId xmlns:p14="http://schemas.microsoft.com/office/powerpoint/2010/main" val="12535858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23DE4A-21CA-43BE-8E4A-765E16E70861}"/>
              </a:ext>
            </a:extLst>
          </p:cNvPr>
          <p:cNvPicPr>
            <a:picLocks noChangeAspect="1"/>
          </p:cNvPicPr>
          <p:nvPr/>
        </p:nvPicPr>
        <p:blipFill>
          <a:blip r:embed="rId2"/>
          <a:stretch>
            <a:fillRect/>
          </a:stretch>
        </p:blipFill>
        <p:spPr>
          <a:xfrm>
            <a:off x="376237" y="166687"/>
            <a:ext cx="11439525" cy="6524625"/>
          </a:xfrm>
          <a:prstGeom prst="rect">
            <a:avLst/>
          </a:prstGeom>
        </p:spPr>
      </p:pic>
    </p:spTree>
    <p:extLst>
      <p:ext uri="{BB962C8B-B14F-4D97-AF65-F5344CB8AC3E}">
        <p14:creationId xmlns:p14="http://schemas.microsoft.com/office/powerpoint/2010/main" val="4265873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71B2CA-0F18-420D-A2FA-B2469E9461B2}"/>
              </a:ext>
            </a:extLst>
          </p:cNvPr>
          <p:cNvPicPr>
            <a:picLocks noChangeAspect="1"/>
          </p:cNvPicPr>
          <p:nvPr/>
        </p:nvPicPr>
        <p:blipFill>
          <a:blip r:embed="rId2"/>
          <a:stretch>
            <a:fillRect/>
          </a:stretch>
        </p:blipFill>
        <p:spPr>
          <a:xfrm>
            <a:off x="998054" y="1107178"/>
            <a:ext cx="10523435" cy="4511744"/>
          </a:xfrm>
          <a:prstGeom prst="rect">
            <a:avLst/>
          </a:prstGeom>
        </p:spPr>
      </p:pic>
    </p:spTree>
    <p:extLst>
      <p:ext uri="{BB962C8B-B14F-4D97-AF65-F5344CB8AC3E}">
        <p14:creationId xmlns:p14="http://schemas.microsoft.com/office/powerpoint/2010/main" val="15746803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43BCE81-EE23-42C3-85E1-463EAE0F85B4}"/>
              </a:ext>
            </a:extLst>
          </p:cNvPr>
          <p:cNvSpPr/>
          <p:nvPr/>
        </p:nvSpPr>
        <p:spPr>
          <a:xfrm>
            <a:off x="749181" y="4191995"/>
            <a:ext cx="9776715" cy="2585323"/>
          </a:xfrm>
          <a:prstGeom prst="rect">
            <a:avLst/>
          </a:prstGeom>
          <a:noFill/>
        </p:spPr>
        <p:txBody>
          <a:bodyPr wrap="none" lIns="91440" tIns="45720" rIns="91440" bIns="45720">
            <a:spAutoFit/>
          </a:bodyPr>
          <a:lstStyle/>
          <a:p>
            <a:r>
              <a:rPr lang="en-US" sz="5400" b="0" cap="none" spc="0" dirty="0">
                <a:ln w="0"/>
                <a:solidFill>
                  <a:schemeClr val="tx1"/>
                </a:solidFill>
                <a:effectLst>
                  <a:outerShdw blurRad="38100" dist="19050" dir="2700000" algn="tl" rotWithShape="0">
                    <a:schemeClr val="dk1">
                      <a:alpha val="40000"/>
                    </a:schemeClr>
                  </a:outerShdw>
                </a:effectLst>
              </a:rPr>
              <a:t>n= Number of variables=3</a:t>
            </a:r>
          </a:p>
          <a:p>
            <a:r>
              <a:rPr lang="en-US" sz="5400" dirty="0">
                <a:ln w="0"/>
                <a:effectLst>
                  <a:outerShdw blurRad="38100" dist="19050" dir="2700000" algn="tl" rotWithShape="0">
                    <a:schemeClr val="dk1">
                      <a:alpha val="40000"/>
                    </a:schemeClr>
                  </a:outerShdw>
                </a:effectLst>
              </a:rPr>
              <a:t>b=sum=15</a:t>
            </a:r>
          </a:p>
          <a:p>
            <a:r>
              <a:rPr lang="en-US" sz="5400" b="0" cap="none" spc="0" dirty="0">
                <a:ln w="0"/>
                <a:solidFill>
                  <a:schemeClr val="tx1"/>
                </a:solidFill>
                <a:effectLst>
                  <a:outerShdw blurRad="38100" dist="19050" dir="2700000" algn="tl" rotWithShape="0">
                    <a:schemeClr val="dk1">
                      <a:alpha val="40000"/>
                    </a:schemeClr>
                  </a:outerShdw>
                </a:effectLst>
              </a:rPr>
              <a:t>C stands for Combination function</a:t>
            </a:r>
          </a:p>
        </p:txBody>
      </p:sp>
      <p:sp>
        <p:nvSpPr>
          <p:cNvPr id="4" name="Rectangle 3">
            <a:extLst>
              <a:ext uri="{FF2B5EF4-FFF2-40B4-BE49-F238E27FC236}">
                <a16:creationId xmlns:a16="http://schemas.microsoft.com/office/drawing/2014/main" id="{263E22EF-97B6-4DF7-9245-50343EC6A4BE}"/>
              </a:ext>
            </a:extLst>
          </p:cNvPr>
          <p:cNvSpPr/>
          <p:nvPr/>
        </p:nvSpPr>
        <p:spPr>
          <a:xfrm>
            <a:off x="602674" y="177755"/>
            <a:ext cx="10721205" cy="1569660"/>
          </a:xfrm>
          <a:prstGeom prst="rect">
            <a:avLst/>
          </a:prstGeom>
          <a:noFill/>
        </p:spPr>
        <p:txBody>
          <a:bodyPr wrap="none" lIns="91440" tIns="45720" rIns="91440" bIns="45720">
            <a:spAutoFit/>
          </a:bodyPr>
          <a:lstStyle/>
          <a:p>
            <a:pPr algn="ctr"/>
            <a:r>
              <a:rPr lang="en-US" sz="4800" b="0" cap="none" spc="0" dirty="0">
                <a:ln w="0"/>
                <a:solidFill>
                  <a:schemeClr val="tx1"/>
                </a:solidFill>
                <a:effectLst>
                  <a:outerShdw blurRad="38100" dist="19050" dir="2700000" algn="tl" rotWithShape="0">
                    <a:schemeClr val="dk1">
                      <a:alpha val="40000"/>
                    </a:schemeClr>
                  </a:outerShdw>
                </a:effectLst>
              </a:rPr>
              <a:t>Calculate number of non-</a:t>
            </a:r>
            <a:r>
              <a:rPr lang="en-US" sz="4800" dirty="0">
                <a:ln w="0"/>
                <a:effectLst>
                  <a:outerShdw blurRad="38100" dist="19050" dir="2700000" algn="tl" rotWithShape="0">
                    <a:schemeClr val="dk1">
                      <a:alpha val="40000"/>
                    </a:schemeClr>
                  </a:outerShdw>
                </a:effectLst>
              </a:rPr>
              <a:t>negative integer </a:t>
            </a:r>
          </a:p>
          <a:p>
            <a:pPr algn="ctr"/>
            <a:r>
              <a:rPr lang="en-US" sz="4800" dirty="0">
                <a:ln w="0"/>
                <a:effectLst>
                  <a:outerShdw blurRad="38100" dist="19050" dir="2700000" algn="tl" rotWithShape="0">
                    <a:schemeClr val="dk1">
                      <a:alpha val="40000"/>
                    </a:schemeClr>
                  </a:outerShdw>
                </a:effectLst>
              </a:rPr>
              <a:t>solution to </a:t>
            </a:r>
            <a:endParaRPr lang="en-US" sz="4800" b="0" cap="none" spc="0" dirty="0">
              <a:ln w="0"/>
              <a:solidFill>
                <a:schemeClr val="tx1"/>
              </a:solidFill>
              <a:effectLst>
                <a:outerShdw blurRad="38100" dist="19050" dir="2700000" algn="tl" rotWithShape="0">
                  <a:schemeClr val="dk1">
                    <a:alpha val="40000"/>
                  </a:schemeClr>
                </a:outerShdw>
              </a:effectLst>
            </a:endParaRPr>
          </a:p>
        </p:txBody>
      </p:sp>
      <p:sp>
        <p:nvSpPr>
          <p:cNvPr id="5" name="Rectangle 4">
            <a:extLst>
              <a:ext uri="{FF2B5EF4-FFF2-40B4-BE49-F238E27FC236}">
                <a16:creationId xmlns:a16="http://schemas.microsoft.com/office/drawing/2014/main" id="{3E188E9B-7604-4C9B-8B5E-F6DCEC8284C6}"/>
              </a:ext>
            </a:extLst>
          </p:cNvPr>
          <p:cNvSpPr/>
          <p:nvPr/>
        </p:nvSpPr>
        <p:spPr>
          <a:xfrm>
            <a:off x="4308491" y="1677613"/>
            <a:ext cx="3575017" cy="923330"/>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5400" b="1" cap="none" spc="0" dirty="0">
                <a:ln/>
                <a:solidFill>
                  <a:srgbClr val="FF0000"/>
                </a:solidFill>
                <a:effectLst/>
              </a:rPr>
              <a:t>x</a:t>
            </a:r>
            <a:r>
              <a:rPr lang="en-US" sz="5400" b="1" cap="none" spc="0" baseline="-25000" dirty="0">
                <a:ln/>
                <a:solidFill>
                  <a:srgbClr val="FF0000"/>
                </a:solidFill>
                <a:effectLst/>
              </a:rPr>
              <a:t>1</a:t>
            </a:r>
            <a:r>
              <a:rPr lang="en-US" sz="5400" b="1" cap="none" spc="0" dirty="0">
                <a:ln/>
                <a:solidFill>
                  <a:srgbClr val="FF0000"/>
                </a:solidFill>
                <a:effectLst/>
              </a:rPr>
              <a:t>+x</a:t>
            </a:r>
            <a:r>
              <a:rPr lang="en-US" sz="5400" b="1" cap="none" spc="0" baseline="-25000" dirty="0">
                <a:ln/>
                <a:solidFill>
                  <a:srgbClr val="FF0000"/>
                </a:solidFill>
                <a:effectLst/>
              </a:rPr>
              <a:t>2</a:t>
            </a:r>
            <a:r>
              <a:rPr lang="en-US" sz="5400" b="1" cap="none" spc="0" dirty="0">
                <a:ln/>
                <a:solidFill>
                  <a:srgbClr val="FF0000"/>
                </a:solidFill>
                <a:effectLst/>
              </a:rPr>
              <a:t>+x</a:t>
            </a:r>
            <a:r>
              <a:rPr lang="en-US" sz="5400" b="1" cap="none" spc="0" baseline="-25000" dirty="0">
                <a:ln/>
                <a:solidFill>
                  <a:srgbClr val="FF0000"/>
                </a:solidFill>
                <a:effectLst/>
              </a:rPr>
              <a:t>3</a:t>
            </a:r>
            <a:r>
              <a:rPr lang="en-US" sz="5400" b="1" cap="none" spc="0" dirty="0">
                <a:ln/>
                <a:solidFill>
                  <a:srgbClr val="FF0000"/>
                </a:solidFill>
                <a:effectLst/>
              </a:rPr>
              <a:t>=15</a:t>
            </a:r>
          </a:p>
        </p:txBody>
      </p:sp>
      <p:sp>
        <p:nvSpPr>
          <p:cNvPr id="6" name="Rectangle 5">
            <a:extLst>
              <a:ext uri="{FF2B5EF4-FFF2-40B4-BE49-F238E27FC236}">
                <a16:creationId xmlns:a16="http://schemas.microsoft.com/office/drawing/2014/main" id="{DA5A6962-88E2-42F0-A1AC-8D8D74EB81BE}"/>
              </a:ext>
            </a:extLst>
          </p:cNvPr>
          <p:cNvSpPr/>
          <p:nvPr/>
        </p:nvSpPr>
        <p:spPr>
          <a:xfrm>
            <a:off x="749181" y="2934804"/>
            <a:ext cx="7640232"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C(n+b-1, n-1)=C(17,2)=</a:t>
            </a:r>
            <a:r>
              <a:rPr lang="en-US" sz="5400" b="0" cap="none" spc="0" baseline="30000" dirty="0">
                <a:ln w="0"/>
                <a:solidFill>
                  <a:schemeClr val="tx1"/>
                </a:solidFill>
                <a:effectLst>
                  <a:outerShdw blurRad="38100" dist="19050" dir="2700000" algn="tl" rotWithShape="0">
                    <a:schemeClr val="dk1">
                      <a:alpha val="40000"/>
                    </a:schemeClr>
                  </a:outerShdw>
                </a:effectLst>
              </a:rPr>
              <a:t>17</a:t>
            </a:r>
            <a:r>
              <a:rPr lang="en-US" sz="5400" b="0" cap="none" spc="0" dirty="0">
                <a:ln w="0"/>
                <a:solidFill>
                  <a:schemeClr val="tx1"/>
                </a:solidFill>
                <a:effectLst>
                  <a:outerShdw blurRad="38100" dist="19050" dir="2700000" algn="tl" rotWithShape="0">
                    <a:schemeClr val="dk1">
                      <a:alpha val="40000"/>
                    </a:schemeClr>
                  </a:outerShdw>
                </a:effectLst>
              </a:rPr>
              <a:t>C</a:t>
            </a:r>
            <a:r>
              <a:rPr lang="en-US" sz="5400" b="0" cap="none" spc="0" baseline="-25000" dirty="0">
                <a:ln w="0"/>
                <a:solidFill>
                  <a:schemeClr val="tx1"/>
                </a:solidFill>
                <a:effectLst>
                  <a:outerShdw blurRad="38100" dist="19050" dir="2700000" algn="tl" rotWithShape="0">
                    <a:schemeClr val="dk1">
                      <a:alpha val="40000"/>
                    </a:schemeClr>
                  </a:outerShdw>
                </a:effectLst>
              </a:rPr>
              <a:t>2</a:t>
            </a:r>
          </a:p>
        </p:txBody>
      </p:sp>
    </p:spTree>
    <p:extLst>
      <p:ext uri="{BB962C8B-B14F-4D97-AF65-F5344CB8AC3E}">
        <p14:creationId xmlns:p14="http://schemas.microsoft.com/office/powerpoint/2010/main" val="3448966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104B49-8FB1-4660-B1F0-8E7E91C602C3}"/>
              </a:ext>
            </a:extLst>
          </p:cNvPr>
          <p:cNvSpPr/>
          <p:nvPr/>
        </p:nvSpPr>
        <p:spPr>
          <a:xfrm>
            <a:off x="158491" y="18868"/>
            <a:ext cx="11691663"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How will you distribute 5 toffee to 3 kids </a:t>
            </a:r>
          </a:p>
        </p:txBody>
      </p:sp>
      <p:pic>
        <p:nvPicPr>
          <p:cNvPr id="3" name="Picture 2">
            <a:extLst>
              <a:ext uri="{FF2B5EF4-FFF2-40B4-BE49-F238E27FC236}">
                <a16:creationId xmlns:a16="http://schemas.microsoft.com/office/drawing/2014/main" id="{FA514F45-9526-4C73-9334-7F60C2E2138B}"/>
              </a:ext>
            </a:extLst>
          </p:cNvPr>
          <p:cNvPicPr>
            <a:picLocks noChangeAspect="1"/>
          </p:cNvPicPr>
          <p:nvPr/>
        </p:nvPicPr>
        <p:blipFill>
          <a:blip r:embed="rId2"/>
          <a:stretch>
            <a:fillRect/>
          </a:stretch>
        </p:blipFill>
        <p:spPr>
          <a:xfrm>
            <a:off x="11340381" y="4291850"/>
            <a:ext cx="686103" cy="1103657"/>
          </a:xfrm>
          <a:prstGeom prst="rect">
            <a:avLst/>
          </a:prstGeom>
        </p:spPr>
      </p:pic>
      <p:pic>
        <p:nvPicPr>
          <p:cNvPr id="5" name="Picture 4">
            <a:extLst>
              <a:ext uri="{FF2B5EF4-FFF2-40B4-BE49-F238E27FC236}">
                <a16:creationId xmlns:a16="http://schemas.microsoft.com/office/drawing/2014/main" id="{C7106ADC-D3D9-4D59-AE6F-D0C85C275F6F}"/>
              </a:ext>
            </a:extLst>
          </p:cNvPr>
          <p:cNvPicPr>
            <a:picLocks noChangeAspect="1"/>
          </p:cNvPicPr>
          <p:nvPr/>
        </p:nvPicPr>
        <p:blipFill>
          <a:blip r:embed="rId2"/>
          <a:stretch>
            <a:fillRect/>
          </a:stretch>
        </p:blipFill>
        <p:spPr>
          <a:xfrm>
            <a:off x="11270314" y="5682397"/>
            <a:ext cx="944276" cy="997578"/>
          </a:xfrm>
          <a:prstGeom prst="rect">
            <a:avLst/>
          </a:prstGeom>
        </p:spPr>
      </p:pic>
      <p:pic>
        <p:nvPicPr>
          <p:cNvPr id="6" name="Picture 5">
            <a:extLst>
              <a:ext uri="{FF2B5EF4-FFF2-40B4-BE49-F238E27FC236}">
                <a16:creationId xmlns:a16="http://schemas.microsoft.com/office/drawing/2014/main" id="{EBBD8044-8B55-4315-8F70-C311152166B1}"/>
              </a:ext>
            </a:extLst>
          </p:cNvPr>
          <p:cNvPicPr>
            <a:picLocks noChangeAspect="1"/>
          </p:cNvPicPr>
          <p:nvPr/>
        </p:nvPicPr>
        <p:blipFill>
          <a:blip r:embed="rId2"/>
          <a:stretch>
            <a:fillRect/>
          </a:stretch>
        </p:blipFill>
        <p:spPr>
          <a:xfrm>
            <a:off x="9645999" y="3125618"/>
            <a:ext cx="787157" cy="850864"/>
          </a:xfrm>
          <a:prstGeom prst="rect">
            <a:avLst/>
          </a:prstGeom>
        </p:spPr>
      </p:pic>
      <p:pic>
        <p:nvPicPr>
          <p:cNvPr id="7" name="Picture 6">
            <a:extLst>
              <a:ext uri="{FF2B5EF4-FFF2-40B4-BE49-F238E27FC236}">
                <a16:creationId xmlns:a16="http://schemas.microsoft.com/office/drawing/2014/main" id="{E4E31404-A480-43E1-88A1-F095D7E26D85}"/>
              </a:ext>
            </a:extLst>
          </p:cNvPr>
          <p:cNvPicPr>
            <a:picLocks noChangeAspect="1"/>
          </p:cNvPicPr>
          <p:nvPr/>
        </p:nvPicPr>
        <p:blipFill>
          <a:blip r:embed="rId2"/>
          <a:stretch>
            <a:fillRect/>
          </a:stretch>
        </p:blipFill>
        <p:spPr>
          <a:xfrm>
            <a:off x="11164051" y="3473563"/>
            <a:ext cx="686103" cy="1103656"/>
          </a:xfrm>
          <a:prstGeom prst="rect">
            <a:avLst/>
          </a:prstGeom>
        </p:spPr>
      </p:pic>
      <p:pic>
        <p:nvPicPr>
          <p:cNvPr id="8" name="Picture 7">
            <a:extLst>
              <a:ext uri="{FF2B5EF4-FFF2-40B4-BE49-F238E27FC236}">
                <a16:creationId xmlns:a16="http://schemas.microsoft.com/office/drawing/2014/main" id="{50541554-39FD-4F02-8EF0-891A56461981}"/>
              </a:ext>
            </a:extLst>
          </p:cNvPr>
          <p:cNvPicPr>
            <a:picLocks noChangeAspect="1"/>
          </p:cNvPicPr>
          <p:nvPr/>
        </p:nvPicPr>
        <p:blipFill>
          <a:blip r:embed="rId2"/>
          <a:stretch>
            <a:fillRect/>
          </a:stretch>
        </p:blipFill>
        <p:spPr>
          <a:xfrm>
            <a:off x="10676788" y="2779051"/>
            <a:ext cx="686103" cy="1103656"/>
          </a:xfrm>
          <a:prstGeom prst="rect">
            <a:avLst/>
          </a:prstGeom>
        </p:spPr>
      </p:pic>
      <p:sp>
        <p:nvSpPr>
          <p:cNvPr id="4" name="Rectangle 3">
            <a:extLst>
              <a:ext uri="{FF2B5EF4-FFF2-40B4-BE49-F238E27FC236}">
                <a16:creationId xmlns:a16="http://schemas.microsoft.com/office/drawing/2014/main" id="{9027CB62-7514-4C6F-B47B-0EA453E3D374}"/>
              </a:ext>
            </a:extLst>
          </p:cNvPr>
          <p:cNvSpPr/>
          <p:nvPr/>
        </p:nvSpPr>
        <p:spPr>
          <a:xfrm>
            <a:off x="8162763" y="1922206"/>
            <a:ext cx="147484" cy="13716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6D8EC8A4-DA1C-46E2-8371-BABB9171983E}"/>
              </a:ext>
            </a:extLst>
          </p:cNvPr>
          <p:cNvSpPr/>
          <p:nvPr/>
        </p:nvSpPr>
        <p:spPr>
          <a:xfrm>
            <a:off x="2605191" y="1965571"/>
            <a:ext cx="147484" cy="13716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06D5FD51-38C0-456C-9CF6-7B8EEFD21633}"/>
              </a:ext>
            </a:extLst>
          </p:cNvPr>
          <p:cNvSpPr/>
          <p:nvPr/>
        </p:nvSpPr>
        <p:spPr>
          <a:xfrm>
            <a:off x="733964" y="2182755"/>
            <a:ext cx="333441" cy="4277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BE29295A-D6FC-4C0D-B582-D0BA37BC33E9}"/>
              </a:ext>
            </a:extLst>
          </p:cNvPr>
          <p:cNvSpPr/>
          <p:nvPr/>
        </p:nvSpPr>
        <p:spPr>
          <a:xfrm>
            <a:off x="2482079" y="2182754"/>
            <a:ext cx="333441" cy="4277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889FFF08-FF97-4B23-A8B9-F0D9A78D641E}"/>
              </a:ext>
            </a:extLst>
          </p:cNvPr>
          <p:cNvSpPr/>
          <p:nvPr/>
        </p:nvSpPr>
        <p:spPr>
          <a:xfrm>
            <a:off x="4581198" y="2180303"/>
            <a:ext cx="333441" cy="4277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5ABF1A2F-D782-4584-98F1-12AFCD9B1E35}"/>
              </a:ext>
            </a:extLst>
          </p:cNvPr>
          <p:cNvSpPr/>
          <p:nvPr/>
        </p:nvSpPr>
        <p:spPr>
          <a:xfrm>
            <a:off x="6175163" y="2182753"/>
            <a:ext cx="319063" cy="4277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F3FF2546-E23E-47E4-88D8-551A7B1C240E}"/>
              </a:ext>
            </a:extLst>
          </p:cNvPr>
          <p:cNvSpPr/>
          <p:nvPr/>
        </p:nvSpPr>
        <p:spPr>
          <a:xfrm>
            <a:off x="8105754" y="2142973"/>
            <a:ext cx="333441" cy="4277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F7E6B96C-85F9-48A8-8E1D-49910BA4A4A6}"/>
              </a:ext>
            </a:extLst>
          </p:cNvPr>
          <p:cNvSpPr/>
          <p:nvPr/>
        </p:nvSpPr>
        <p:spPr>
          <a:xfrm>
            <a:off x="9922748" y="2180304"/>
            <a:ext cx="333441" cy="4277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D1371F8F-A61D-472A-A77C-77ECF2A493F1}"/>
              </a:ext>
            </a:extLst>
          </p:cNvPr>
          <p:cNvSpPr/>
          <p:nvPr/>
        </p:nvSpPr>
        <p:spPr>
          <a:xfrm>
            <a:off x="11516713" y="2138448"/>
            <a:ext cx="333441" cy="4277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8E85CF3B-4B7B-42B0-8FDD-4CBD6BBF9E18}"/>
              </a:ext>
            </a:extLst>
          </p:cNvPr>
          <p:cNvSpPr/>
          <p:nvPr/>
        </p:nvSpPr>
        <p:spPr>
          <a:xfrm>
            <a:off x="-80869" y="998182"/>
            <a:ext cx="12170383" cy="830997"/>
          </a:xfrm>
          <a:prstGeom prst="rect">
            <a:avLst/>
          </a:prstGeom>
          <a:noFill/>
        </p:spPr>
        <p:txBody>
          <a:bodyPr wrap="none" lIns="91440" tIns="45720" rIns="91440" bIns="45720">
            <a:spAutoFit/>
          </a:bodyPr>
          <a:lstStyle/>
          <a:p>
            <a:pPr algn="ctr"/>
            <a:r>
              <a:rPr lang="en-US" sz="4800" b="0" cap="none" spc="0" dirty="0">
                <a:ln w="0"/>
                <a:solidFill>
                  <a:schemeClr val="tx1"/>
                </a:solidFill>
                <a:effectLst>
                  <a:outerShdw blurRad="38100" dist="19050" dir="2700000" algn="tl" rotWithShape="0">
                    <a:schemeClr val="dk1">
                      <a:alpha val="40000"/>
                    </a:schemeClr>
                  </a:outerShdw>
                </a:effectLst>
              </a:rPr>
              <a:t>Consider 5+3-1  locations(circle) and 3-1=2 bars </a:t>
            </a:r>
          </a:p>
        </p:txBody>
      </p:sp>
      <p:sp>
        <p:nvSpPr>
          <p:cNvPr id="18" name="Rectangle 17">
            <a:extLst>
              <a:ext uri="{FF2B5EF4-FFF2-40B4-BE49-F238E27FC236}">
                <a16:creationId xmlns:a16="http://schemas.microsoft.com/office/drawing/2014/main" id="{D931E0AE-46AC-4E64-9D2B-09CB9879B5BA}"/>
              </a:ext>
            </a:extLst>
          </p:cNvPr>
          <p:cNvSpPr/>
          <p:nvPr/>
        </p:nvSpPr>
        <p:spPr>
          <a:xfrm>
            <a:off x="159826" y="4557595"/>
            <a:ext cx="11705256" cy="1938992"/>
          </a:xfrm>
          <a:prstGeom prst="rect">
            <a:avLst/>
          </a:prstGeom>
          <a:noFill/>
        </p:spPr>
        <p:txBody>
          <a:bodyPr wrap="none" lIns="91440" tIns="45720" rIns="91440" bIns="45720">
            <a:spAutoFit/>
          </a:bodyPr>
          <a:lstStyle/>
          <a:p>
            <a:pPr algn="ctr"/>
            <a:r>
              <a:rPr lang="en-US" sz="4000" b="0" cap="none" spc="0" dirty="0">
                <a:ln w="0"/>
                <a:solidFill>
                  <a:schemeClr val="accent1"/>
                </a:solidFill>
                <a:effectLst>
                  <a:outerShdw blurRad="38100" dist="25400" dir="5400000" algn="ctr" rotWithShape="0">
                    <a:srgbClr val="6E747A">
                      <a:alpha val="43000"/>
                    </a:srgbClr>
                  </a:outerShdw>
                </a:effectLst>
              </a:rPr>
              <a:t>If we place the bars at any of the two locations,</a:t>
            </a:r>
          </a:p>
          <a:p>
            <a:r>
              <a:rPr lang="en-US" sz="4000" dirty="0">
                <a:ln w="0"/>
                <a:solidFill>
                  <a:schemeClr val="accent1"/>
                </a:solidFill>
                <a:effectLst>
                  <a:outerShdw blurRad="38100" dist="25400" dir="5400000" algn="ctr" rotWithShape="0">
                    <a:srgbClr val="6E747A">
                      <a:alpha val="43000"/>
                    </a:srgbClr>
                  </a:outerShdw>
                </a:effectLst>
              </a:rPr>
              <a:t>It will partition 5 into 3 sets. One or two can be null set.</a:t>
            </a:r>
          </a:p>
          <a:p>
            <a:r>
              <a:rPr lang="en-US" sz="4000" dirty="0">
                <a:ln w="0"/>
                <a:solidFill>
                  <a:schemeClr val="accent1"/>
                </a:solidFill>
                <a:effectLst>
                  <a:outerShdw blurRad="38100" dist="25400" dir="5400000" algn="ctr" rotWithShape="0">
                    <a:srgbClr val="6E747A">
                      <a:alpha val="43000"/>
                    </a:srgbClr>
                  </a:outerShdw>
                </a:effectLst>
              </a:rPr>
              <a:t>2 bars can be placed in  </a:t>
            </a:r>
            <a:r>
              <a:rPr lang="en-US" sz="4000" baseline="30000" dirty="0">
                <a:ln w="0"/>
                <a:solidFill>
                  <a:schemeClr val="accent1"/>
                </a:solidFill>
                <a:effectLst>
                  <a:outerShdw blurRad="38100" dist="25400" dir="5400000" algn="ctr" rotWithShape="0">
                    <a:srgbClr val="6E747A">
                      <a:alpha val="43000"/>
                    </a:srgbClr>
                  </a:outerShdw>
                </a:effectLst>
              </a:rPr>
              <a:t>7</a:t>
            </a:r>
            <a:r>
              <a:rPr lang="en-US" sz="4000" dirty="0">
                <a:ln w="0"/>
                <a:solidFill>
                  <a:schemeClr val="accent1"/>
                </a:solidFill>
                <a:effectLst>
                  <a:outerShdw blurRad="38100" dist="25400" dir="5400000" algn="ctr" rotWithShape="0">
                    <a:srgbClr val="6E747A">
                      <a:alpha val="43000"/>
                    </a:srgbClr>
                  </a:outerShdw>
                </a:effectLst>
              </a:rPr>
              <a:t>C</a:t>
            </a:r>
            <a:r>
              <a:rPr lang="en-US" sz="4000" baseline="-25000" dirty="0">
                <a:ln w="0"/>
                <a:solidFill>
                  <a:schemeClr val="accent1"/>
                </a:solidFill>
                <a:effectLst>
                  <a:outerShdw blurRad="38100" dist="25400" dir="5400000" algn="ctr" rotWithShape="0">
                    <a:srgbClr val="6E747A">
                      <a:alpha val="43000"/>
                    </a:srgbClr>
                  </a:outerShdw>
                </a:effectLst>
              </a:rPr>
              <a:t>2</a:t>
            </a:r>
            <a:r>
              <a:rPr lang="en-US" sz="4000" dirty="0">
                <a:ln w="0"/>
                <a:solidFill>
                  <a:schemeClr val="accent1"/>
                </a:solidFill>
                <a:effectLst>
                  <a:outerShdw blurRad="38100" dist="25400" dir="5400000" algn="ctr" rotWithShape="0">
                    <a:srgbClr val="6E747A">
                      <a:alpha val="43000"/>
                    </a:srgbClr>
                  </a:outerShdw>
                </a:effectLst>
              </a:rPr>
              <a:t> ways </a:t>
            </a:r>
            <a:endParaRPr lang="en-US" sz="40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6810198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8DA75B1-CDD8-4CA0-B116-F071E457A280}"/>
              </a:ext>
            </a:extLst>
          </p:cNvPr>
          <p:cNvSpPr/>
          <p:nvPr/>
        </p:nvSpPr>
        <p:spPr>
          <a:xfrm>
            <a:off x="602674" y="177755"/>
            <a:ext cx="10721205" cy="1569660"/>
          </a:xfrm>
          <a:prstGeom prst="rect">
            <a:avLst/>
          </a:prstGeom>
          <a:noFill/>
        </p:spPr>
        <p:txBody>
          <a:bodyPr wrap="none" lIns="91440" tIns="45720" rIns="91440" bIns="45720">
            <a:spAutoFit/>
          </a:bodyPr>
          <a:lstStyle/>
          <a:p>
            <a:pPr algn="ctr"/>
            <a:r>
              <a:rPr lang="en-US" sz="4800" b="0" cap="none" spc="0" dirty="0">
                <a:ln w="0"/>
                <a:solidFill>
                  <a:schemeClr val="tx1"/>
                </a:solidFill>
                <a:effectLst>
                  <a:outerShdw blurRad="38100" dist="19050" dir="2700000" algn="tl" rotWithShape="0">
                    <a:schemeClr val="dk1">
                      <a:alpha val="40000"/>
                    </a:schemeClr>
                  </a:outerShdw>
                </a:effectLst>
              </a:rPr>
              <a:t>Calculate number of non-</a:t>
            </a:r>
            <a:r>
              <a:rPr lang="en-US" sz="4800" dirty="0">
                <a:ln w="0"/>
                <a:effectLst>
                  <a:outerShdw blurRad="38100" dist="19050" dir="2700000" algn="tl" rotWithShape="0">
                    <a:schemeClr val="dk1">
                      <a:alpha val="40000"/>
                    </a:schemeClr>
                  </a:outerShdw>
                </a:effectLst>
              </a:rPr>
              <a:t>negative integer </a:t>
            </a:r>
          </a:p>
          <a:p>
            <a:pPr algn="ctr"/>
            <a:r>
              <a:rPr lang="en-US" sz="4800" dirty="0">
                <a:ln w="0"/>
                <a:effectLst>
                  <a:outerShdw blurRad="38100" dist="19050" dir="2700000" algn="tl" rotWithShape="0">
                    <a:schemeClr val="dk1">
                      <a:alpha val="40000"/>
                    </a:schemeClr>
                  </a:outerShdw>
                </a:effectLst>
              </a:rPr>
              <a:t>solution to </a:t>
            </a:r>
            <a:endParaRPr lang="en-US" sz="4800" b="0" cap="none" spc="0" dirty="0">
              <a:ln w="0"/>
              <a:solidFill>
                <a:schemeClr val="tx1"/>
              </a:solidFill>
              <a:effectLst>
                <a:outerShdw blurRad="38100" dist="19050" dir="2700000" algn="tl" rotWithShape="0">
                  <a:schemeClr val="dk1">
                    <a:alpha val="40000"/>
                  </a:schemeClr>
                </a:outerShdw>
              </a:effectLst>
            </a:endParaRPr>
          </a:p>
        </p:txBody>
      </p:sp>
      <p:sp>
        <p:nvSpPr>
          <p:cNvPr id="4" name="Rectangle 3">
            <a:extLst>
              <a:ext uri="{FF2B5EF4-FFF2-40B4-BE49-F238E27FC236}">
                <a16:creationId xmlns:a16="http://schemas.microsoft.com/office/drawing/2014/main" id="{A2E13382-D4A2-4D6D-8C41-4CAA0E2B1A01}"/>
              </a:ext>
            </a:extLst>
          </p:cNvPr>
          <p:cNvSpPr/>
          <p:nvPr/>
        </p:nvSpPr>
        <p:spPr>
          <a:xfrm>
            <a:off x="1361727" y="1677613"/>
            <a:ext cx="9468554" cy="923330"/>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5400" b="1" cap="none" spc="0" dirty="0">
                <a:ln/>
                <a:solidFill>
                  <a:srgbClr val="FF0000"/>
                </a:solidFill>
                <a:effectLst/>
              </a:rPr>
              <a:t>x</a:t>
            </a:r>
            <a:r>
              <a:rPr lang="en-US" sz="5400" b="1" cap="none" spc="0" baseline="-25000" dirty="0">
                <a:ln/>
                <a:solidFill>
                  <a:srgbClr val="FF0000"/>
                </a:solidFill>
                <a:effectLst/>
              </a:rPr>
              <a:t>1</a:t>
            </a:r>
            <a:r>
              <a:rPr lang="en-US" sz="5400" b="1" cap="none" spc="0" dirty="0">
                <a:ln/>
                <a:solidFill>
                  <a:srgbClr val="FF0000"/>
                </a:solidFill>
                <a:effectLst/>
              </a:rPr>
              <a:t>+x</a:t>
            </a:r>
            <a:r>
              <a:rPr lang="en-US" sz="5400" b="1" cap="none" spc="0" baseline="-25000" dirty="0">
                <a:ln/>
                <a:solidFill>
                  <a:srgbClr val="FF0000"/>
                </a:solidFill>
                <a:effectLst/>
              </a:rPr>
              <a:t>2</a:t>
            </a:r>
            <a:r>
              <a:rPr lang="en-US" sz="5400" b="1" cap="none" spc="0" dirty="0">
                <a:ln/>
                <a:solidFill>
                  <a:srgbClr val="FF0000"/>
                </a:solidFill>
                <a:effectLst/>
              </a:rPr>
              <a:t>+x</a:t>
            </a:r>
            <a:r>
              <a:rPr lang="en-US" sz="5400" b="1" cap="none" spc="0" baseline="-25000" dirty="0">
                <a:ln/>
                <a:solidFill>
                  <a:srgbClr val="FF0000"/>
                </a:solidFill>
                <a:effectLst/>
              </a:rPr>
              <a:t>3</a:t>
            </a:r>
            <a:r>
              <a:rPr lang="en-US" sz="5400" b="1" cap="none" spc="0" dirty="0">
                <a:ln/>
                <a:solidFill>
                  <a:srgbClr val="FF0000"/>
                </a:solidFill>
                <a:effectLst/>
              </a:rPr>
              <a:t>=15 with the constraints</a:t>
            </a:r>
          </a:p>
        </p:txBody>
      </p:sp>
      <p:graphicFrame>
        <p:nvGraphicFramePr>
          <p:cNvPr id="7" name="Object 6">
            <a:extLst>
              <a:ext uri="{FF2B5EF4-FFF2-40B4-BE49-F238E27FC236}">
                <a16:creationId xmlns:a16="http://schemas.microsoft.com/office/drawing/2014/main" id="{F3332A3D-1692-4F0F-8D06-76D07EBE9ED2}"/>
              </a:ext>
            </a:extLst>
          </p:cNvPr>
          <p:cNvGraphicFramePr>
            <a:graphicFrameLocks noChangeAspect="1"/>
          </p:cNvGraphicFramePr>
          <p:nvPr>
            <p:extLst>
              <p:ext uri="{D42A27DB-BD31-4B8C-83A1-F6EECF244321}">
                <p14:modId xmlns:p14="http://schemas.microsoft.com/office/powerpoint/2010/main" val="3843905722"/>
              </p:ext>
            </p:extLst>
          </p:nvPr>
        </p:nvGraphicFramePr>
        <p:xfrm>
          <a:off x="1677988" y="2786063"/>
          <a:ext cx="8794750" cy="922337"/>
        </p:xfrm>
        <a:graphic>
          <a:graphicData uri="http://schemas.openxmlformats.org/presentationml/2006/ole">
            <mc:AlternateContent xmlns:mc="http://schemas.openxmlformats.org/markup-compatibility/2006">
              <mc:Choice xmlns:v="urn:schemas-microsoft-com:vml" Requires="v">
                <p:oleObj name="Equation" r:id="rId2" imgW="2298600" imgH="241200" progId="Equation.DSMT4">
                  <p:embed/>
                </p:oleObj>
              </mc:Choice>
              <mc:Fallback>
                <p:oleObj name="Equation" r:id="rId2" imgW="2298600" imgH="241200" progId="Equation.DSMT4">
                  <p:embed/>
                  <p:pic>
                    <p:nvPicPr>
                      <p:cNvPr id="0" name=""/>
                      <p:cNvPicPr/>
                      <p:nvPr/>
                    </p:nvPicPr>
                    <p:blipFill>
                      <a:blip r:embed="rId3"/>
                      <a:stretch>
                        <a:fillRect/>
                      </a:stretch>
                    </p:blipFill>
                    <p:spPr>
                      <a:xfrm>
                        <a:off x="1677988" y="2786063"/>
                        <a:ext cx="8794750" cy="922337"/>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E4DEBF52-11C1-436D-A590-0A5AEDF46AEE}"/>
              </a:ext>
            </a:extLst>
          </p:cNvPr>
          <p:cNvGraphicFramePr>
            <a:graphicFrameLocks noChangeAspect="1"/>
          </p:cNvGraphicFramePr>
          <p:nvPr>
            <p:extLst>
              <p:ext uri="{D42A27DB-BD31-4B8C-83A1-F6EECF244321}">
                <p14:modId xmlns:p14="http://schemas.microsoft.com/office/powerpoint/2010/main" val="3010755069"/>
              </p:ext>
            </p:extLst>
          </p:nvPr>
        </p:nvGraphicFramePr>
        <p:xfrm>
          <a:off x="1047288" y="3987883"/>
          <a:ext cx="9956490" cy="810412"/>
        </p:xfrm>
        <a:graphic>
          <a:graphicData uri="http://schemas.openxmlformats.org/presentationml/2006/ole">
            <mc:AlternateContent xmlns:mc="http://schemas.openxmlformats.org/markup-compatibility/2006">
              <mc:Choice xmlns:v="urn:schemas-microsoft-com:vml" Requires="v">
                <p:oleObj name="Equation" r:id="rId4" imgW="3276360" imgH="266400" progId="Equation.DSMT4">
                  <p:embed/>
                </p:oleObj>
              </mc:Choice>
              <mc:Fallback>
                <p:oleObj name="Equation" r:id="rId4" imgW="3276360" imgH="266400" progId="Equation.DSMT4">
                  <p:embed/>
                  <p:pic>
                    <p:nvPicPr>
                      <p:cNvPr id="0" name=""/>
                      <p:cNvPicPr/>
                      <p:nvPr/>
                    </p:nvPicPr>
                    <p:blipFill>
                      <a:blip r:embed="rId5"/>
                      <a:stretch>
                        <a:fillRect/>
                      </a:stretch>
                    </p:blipFill>
                    <p:spPr>
                      <a:xfrm>
                        <a:off x="1047288" y="3987883"/>
                        <a:ext cx="9956490" cy="810412"/>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699D4213-3695-4017-A7C7-B99F728A51FB}"/>
              </a:ext>
            </a:extLst>
          </p:cNvPr>
          <p:cNvGraphicFramePr>
            <a:graphicFrameLocks noChangeAspect="1"/>
          </p:cNvGraphicFramePr>
          <p:nvPr>
            <p:extLst>
              <p:ext uri="{D42A27DB-BD31-4B8C-83A1-F6EECF244321}">
                <p14:modId xmlns:p14="http://schemas.microsoft.com/office/powerpoint/2010/main" val="3721072001"/>
              </p:ext>
            </p:extLst>
          </p:nvPr>
        </p:nvGraphicFramePr>
        <p:xfrm>
          <a:off x="683644" y="5077240"/>
          <a:ext cx="10824712" cy="1349167"/>
        </p:xfrm>
        <a:graphic>
          <a:graphicData uri="http://schemas.openxmlformats.org/presentationml/2006/ole">
            <mc:AlternateContent xmlns:mc="http://schemas.openxmlformats.org/markup-compatibility/2006">
              <mc:Choice xmlns:v="urn:schemas-microsoft-com:vml" Requires="v">
                <p:oleObj name="Equation" r:id="rId6" imgW="4381200" imgH="545760" progId="Equation.DSMT4">
                  <p:embed/>
                </p:oleObj>
              </mc:Choice>
              <mc:Fallback>
                <p:oleObj name="Equation" r:id="rId6" imgW="4381200" imgH="545760" progId="Equation.DSMT4">
                  <p:embed/>
                  <p:pic>
                    <p:nvPicPr>
                      <p:cNvPr id="0" name=""/>
                      <p:cNvPicPr/>
                      <p:nvPr/>
                    </p:nvPicPr>
                    <p:blipFill>
                      <a:blip r:embed="rId7"/>
                      <a:stretch>
                        <a:fillRect/>
                      </a:stretch>
                    </p:blipFill>
                    <p:spPr>
                      <a:xfrm>
                        <a:off x="683644" y="5077240"/>
                        <a:ext cx="10824712" cy="1349167"/>
                      </a:xfrm>
                      <a:prstGeom prst="rect">
                        <a:avLst/>
                      </a:prstGeom>
                    </p:spPr>
                  </p:pic>
                </p:oleObj>
              </mc:Fallback>
            </mc:AlternateContent>
          </a:graphicData>
        </a:graphic>
      </p:graphicFrame>
    </p:spTree>
    <p:extLst>
      <p:ext uri="{BB962C8B-B14F-4D97-AF65-F5344CB8AC3E}">
        <p14:creationId xmlns:p14="http://schemas.microsoft.com/office/powerpoint/2010/main" val="31008805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0FDF4220-316E-449F-847D-217F1DF547C0}"/>
              </a:ext>
            </a:extLst>
          </p:cNvPr>
          <p:cNvGraphicFramePr>
            <a:graphicFrameLocks noChangeAspect="1"/>
          </p:cNvGraphicFramePr>
          <p:nvPr>
            <p:extLst>
              <p:ext uri="{D42A27DB-BD31-4B8C-83A1-F6EECF244321}">
                <p14:modId xmlns:p14="http://schemas.microsoft.com/office/powerpoint/2010/main" val="55890979"/>
              </p:ext>
            </p:extLst>
          </p:nvPr>
        </p:nvGraphicFramePr>
        <p:xfrm>
          <a:off x="149225" y="106363"/>
          <a:ext cx="10980738" cy="1851025"/>
        </p:xfrm>
        <a:graphic>
          <a:graphicData uri="http://schemas.openxmlformats.org/presentationml/2006/ole">
            <mc:AlternateContent xmlns:mc="http://schemas.openxmlformats.org/markup-compatibility/2006">
              <mc:Choice xmlns:v="urn:schemas-microsoft-com:vml" Requires="v">
                <p:oleObj name="Equation" r:id="rId2" imgW="4444920" imgH="749160" progId="Equation.DSMT4">
                  <p:embed/>
                </p:oleObj>
              </mc:Choice>
              <mc:Fallback>
                <p:oleObj name="Equation" r:id="rId2" imgW="4444920" imgH="749160" progId="Equation.DSMT4">
                  <p:embed/>
                  <p:pic>
                    <p:nvPicPr>
                      <p:cNvPr id="9" name="Object 8">
                        <a:extLst>
                          <a:ext uri="{FF2B5EF4-FFF2-40B4-BE49-F238E27FC236}">
                            <a16:creationId xmlns:a16="http://schemas.microsoft.com/office/drawing/2014/main" id="{699D4213-3695-4017-A7C7-B99F728A51FB}"/>
                          </a:ext>
                        </a:extLst>
                      </p:cNvPr>
                      <p:cNvPicPr/>
                      <p:nvPr/>
                    </p:nvPicPr>
                    <p:blipFill>
                      <a:blip r:embed="rId3"/>
                      <a:stretch>
                        <a:fillRect/>
                      </a:stretch>
                    </p:blipFill>
                    <p:spPr>
                      <a:xfrm>
                        <a:off x="149225" y="106363"/>
                        <a:ext cx="10980738" cy="1851025"/>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B6FEA0DB-C172-4212-88DC-A2A659DA066D}"/>
              </a:ext>
            </a:extLst>
          </p:cNvPr>
          <p:cNvGraphicFramePr>
            <a:graphicFrameLocks noChangeAspect="1"/>
          </p:cNvGraphicFramePr>
          <p:nvPr>
            <p:extLst>
              <p:ext uri="{D42A27DB-BD31-4B8C-83A1-F6EECF244321}">
                <p14:modId xmlns:p14="http://schemas.microsoft.com/office/powerpoint/2010/main" val="671690797"/>
              </p:ext>
            </p:extLst>
          </p:nvPr>
        </p:nvGraphicFramePr>
        <p:xfrm>
          <a:off x="149225" y="2117162"/>
          <a:ext cx="10823575" cy="1851025"/>
        </p:xfrm>
        <a:graphic>
          <a:graphicData uri="http://schemas.openxmlformats.org/presentationml/2006/ole">
            <mc:AlternateContent xmlns:mc="http://schemas.openxmlformats.org/markup-compatibility/2006">
              <mc:Choice xmlns:v="urn:schemas-microsoft-com:vml" Requires="v">
                <p:oleObj name="Equation" r:id="rId4" imgW="4381200" imgH="749160" progId="Equation.DSMT4">
                  <p:embed/>
                </p:oleObj>
              </mc:Choice>
              <mc:Fallback>
                <p:oleObj name="Equation" r:id="rId4" imgW="4381200" imgH="749160" progId="Equation.DSMT4">
                  <p:embed/>
                  <p:pic>
                    <p:nvPicPr>
                      <p:cNvPr id="2" name="Object 1">
                        <a:extLst>
                          <a:ext uri="{FF2B5EF4-FFF2-40B4-BE49-F238E27FC236}">
                            <a16:creationId xmlns:a16="http://schemas.microsoft.com/office/drawing/2014/main" id="{0FDF4220-316E-449F-847D-217F1DF547C0}"/>
                          </a:ext>
                        </a:extLst>
                      </p:cNvPr>
                      <p:cNvPicPr/>
                      <p:nvPr/>
                    </p:nvPicPr>
                    <p:blipFill>
                      <a:blip r:embed="rId5"/>
                      <a:stretch>
                        <a:fillRect/>
                      </a:stretch>
                    </p:blipFill>
                    <p:spPr>
                      <a:xfrm>
                        <a:off x="149225" y="2117162"/>
                        <a:ext cx="10823575" cy="1851025"/>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16269670-243B-4504-AC1D-3FF48F046A29}"/>
              </a:ext>
            </a:extLst>
          </p:cNvPr>
          <p:cNvGraphicFramePr>
            <a:graphicFrameLocks noChangeAspect="1"/>
          </p:cNvGraphicFramePr>
          <p:nvPr>
            <p:extLst>
              <p:ext uri="{D42A27DB-BD31-4B8C-83A1-F6EECF244321}">
                <p14:modId xmlns:p14="http://schemas.microsoft.com/office/powerpoint/2010/main" val="1280561455"/>
              </p:ext>
            </p:extLst>
          </p:nvPr>
        </p:nvGraphicFramePr>
        <p:xfrm>
          <a:off x="463139" y="3968187"/>
          <a:ext cx="10108319" cy="2783450"/>
        </p:xfrm>
        <a:graphic>
          <a:graphicData uri="http://schemas.openxmlformats.org/presentationml/2006/ole">
            <mc:AlternateContent xmlns:mc="http://schemas.openxmlformats.org/markup-compatibility/2006">
              <mc:Choice xmlns:v="urn:schemas-microsoft-com:vml" Requires="v">
                <p:oleObj name="Equation" r:id="rId6" imgW="4381200" imgH="1206360" progId="Equation.DSMT4">
                  <p:embed/>
                </p:oleObj>
              </mc:Choice>
              <mc:Fallback>
                <p:oleObj name="Equation" r:id="rId6" imgW="4381200" imgH="1206360" progId="Equation.DSMT4">
                  <p:embed/>
                  <p:pic>
                    <p:nvPicPr>
                      <p:cNvPr id="0" name=""/>
                      <p:cNvPicPr/>
                      <p:nvPr/>
                    </p:nvPicPr>
                    <p:blipFill>
                      <a:blip r:embed="rId7"/>
                      <a:stretch>
                        <a:fillRect/>
                      </a:stretch>
                    </p:blipFill>
                    <p:spPr>
                      <a:xfrm>
                        <a:off x="463139" y="3968187"/>
                        <a:ext cx="10108319" cy="2783450"/>
                      </a:xfrm>
                      <a:prstGeom prst="rect">
                        <a:avLst/>
                      </a:prstGeom>
                    </p:spPr>
                  </p:pic>
                </p:oleObj>
              </mc:Fallback>
            </mc:AlternateContent>
          </a:graphicData>
        </a:graphic>
      </p:graphicFrame>
    </p:spTree>
    <p:extLst>
      <p:ext uri="{BB962C8B-B14F-4D97-AF65-F5344CB8AC3E}">
        <p14:creationId xmlns:p14="http://schemas.microsoft.com/office/powerpoint/2010/main" val="24493926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BCA4DC45-B75C-43A0-91A3-E6E801CA67F5}"/>
              </a:ext>
            </a:extLst>
          </p:cNvPr>
          <p:cNvGraphicFramePr>
            <a:graphicFrameLocks noChangeAspect="1"/>
          </p:cNvGraphicFramePr>
          <p:nvPr>
            <p:extLst>
              <p:ext uri="{D42A27DB-BD31-4B8C-83A1-F6EECF244321}">
                <p14:modId xmlns:p14="http://schemas.microsoft.com/office/powerpoint/2010/main" val="606979176"/>
              </p:ext>
            </p:extLst>
          </p:nvPr>
        </p:nvGraphicFramePr>
        <p:xfrm>
          <a:off x="1474891" y="432861"/>
          <a:ext cx="5100714" cy="1740720"/>
        </p:xfrm>
        <a:graphic>
          <a:graphicData uri="http://schemas.openxmlformats.org/presentationml/2006/ole">
            <mc:AlternateContent xmlns:mc="http://schemas.openxmlformats.org/markup-compatibility/2006">
              <mc:Choice xmlns:v="urn:schemas-microsoft-com:vml" Requires="v">
                <p:oleObj name="Equation" r:id="rId2" imgW="1600200" imgH="545760" progId="Equation.DSMT4">
                  <p:embed/>
                </p:oleObj>
              </mc:Choice>
              <mc:Fallback>
                <p:oleObj name="Equation" r:id="rId2" imgW="1600200" imgH="545760" progId="Equation.DSMT4">
                  <p:embed/>
                  <p:pic>
                    <p:nvPicPr>
                      <p:cNvPr id="0" name=""/>
                      <p:cNvPicPr/>
                      <p:nvPr/>
                    </p:nvPicPr>
                    <p:blipFill>
                      <a:blip r:embed="rId3"/>
                      <a:stretch>
                        <a:fillRect/>
                      </a:stretch>
                    </p:blipFill>
                    <p:spPr>
                      <a:xfrm>
                        <a:off x="1474891" y="432861"/>
                        <a:ext cx="5100714" cy="174072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16235D9D-E395-4FAE-B8DD-C3FDBC8AB36A}"/>
              </a:ext>
            </a:extLst>
          </p:cNvPr>
          <p:cNvGraphicFramePr>
            <a:graphicFrameLocks noChangeAspect="1"/>
          </p:cNvGraphicFramePr>
          <p:nvPr>
            <p:extLst>
              <p:ext uri="{D42A27DB-BD31-4B8C-83A1-F6EECF244321}">
                <p14:modId xmlns:p14="http://schemas.microsoft.com/office/powerpoint/2010/main" val="2603480493"/>
              </p:ext>
            </p:extLst>
          </p:nvPr>
        </p:nvGraphicFramePr>
        <p:xfrm>
          <a:off x="769348" y="2778857"/>
          <a:ext cx="10918775" cy="871368"/>
        </p:xfrm>
        <a:graphic>
          <a:graphicData uri="http://schemas.openxmlformats.org/presentationml/2006/ole">
            <mc:AlternateContent xmlns:mc="http://schemas.openxmlformats.org/markup-compatibility/2006">
              <mc:Choice xmlns:v="urn:schemas-microsoft-com:vml" Requires="v">
                <p:oleObj name="Equation" r:id="rId4" imgW="3974760" imgH="317160" progId="Equation.DSMT4">
                  <p:embed/>
                </p:oleObj>
              </mc:Choice>
              <mc:Fallback>
                <p:oleObj name="Equation" r:id="rId4" imgW="3974760" imgH="317160" progId="Equation.DSMT4">
                  <p:embed/>
                  <p:pic>
                    <p:nvPicPr>
                      <p:cNvPr id="2" name="Object 1">
                        <a:extLst>
                          <a:ext uri="{FF2B5EF4-FFF2-40B4-BE49-F238E27FC236}">
                            <a16:creationId xmlns:a16="http://schemas.microsoft.com/office/drawing/2014/main" id="{BCA4DC45-B75C-43A0-91A3-E6E801CA67F5}"/>
                          </a:ext>
                        </a:extLst>
                      </p:cNvPr>
                      <p:cNvPicPr/>
                      <p:nvPr/>
                    </p:nvPicPr>
                    <p:blipFill>
                      <a:blip r:embed="rId5"/>
                      <a:stretch>
                        <a:fillRect/>
                      </a:stretch>
                    </p:blipFill>
                    <p:spPr>
                      <a:xfrm>
                        <a:off x="769348" y="2778857"/>
                        <a:ext cx="10918775" cy="871368"/>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93F7C9F2-4140-4931-8DBF-20A92EDD0384}"/>
              </a:ext>
            </a:extLst>
          </p:cNvPr>
          <p:cNvGraphicFramePr>
            <a:graphicFrameLocks noChangeAspect="1"/>
          </p:cNvGraphicFramePr>
          <p:nvPr>
            <p:extLst>
              <p:ext uri="{D42A27DB-BD31-4B8C-83A1-F6EECF244321}">
                <p14:modId xmlns:p14="http://schemas.microsoft.com/office/powerpoint/2010/main" val="1023167558"/>
              </p:ext>
            </p:extLst>
          </p:nvPr>
        </p:nvGraphicFramePr>
        <p:xfrm>
          <a:off x="1474891" y="4334811"/>
          <a:ext cx="7763437" cy="1219968"/>
        </p:xfrm>
        <a:graphic>
          <a:graphicData uri="http://schemas.openxmlformats.org/presentationml/2006/ole">
            <mc:AlternateContent xmlns:mc="http://schemas.openxmlformats.org/markup-compatibility/2006">
              <mc:Choice xmlns:v="urn:schemas-microsoft-com:vml" Requires="v">
                <p:oleObj name="Equation" r:id="rId6" imgW="1777680" imgH="279360" progId="Equation.DSMT4">
                  <p:embed/>
                </p:oleObj>
              </mc:Choice>
              <mc:Fallback>
                <p:oleObj name="Equation" r:id="rId6" imgW="1777680" imgH="279360" progId="Equation.DSMT4">
                  <p:embed/>
                  <p:pic>
                    <p:nvPicPr>
                      <p:cNvPr id="2" name="Object 1">
                        <a:extLst>
                          <a:ext uri="{FF2B5EF4-FFF2-40B4-BE49-F238E27FC236}">
                            <a16:creationId xmlns:a16="http://schemas.microsoft.com/office/drawing/2014/main" id="{BCA4DC45-B75C-43A0-91A3-E6E801CA67F5}"/>
                          </a:ext>
                        </a:extLst>
                      </p:cNvPr>
                      <p:cNvPicPr/>
                      <p:nvPr/>
                    </p:nvPicPr>
                    <p:blipFill>
                      <a:blip r:embed="rId7"/>
                      <a:stretch>
                        <a:fillRect/>
                      </a:stretch>
                    </p:blipFill>
                    <p:spPr>
                      <a:xfrm>
                        <a:off x="1474891" y="4334811"/>
                        <a:ext cx="7763437" cy="1219968"/>
                      </a:xfrm>
                      <a:prstGeom prst="rect">
                        <a:avLst/>
                      </a:prstGeom>
                    </p:spPr>
                  </p:pic>
                </p:oleObj>
              </mc:Fallback>
            </mc:AlternateContent>
          </a:graphicData>
        </a:graphic>
      </p:graphicFrame>
    </p:spTree>
    <p:extLst>
      <p:ext uri="{BB962C8B-B14F-4D97-AF65-F5344CB8AC3E}">
        <p14:creationId xmlns:p14="http://schemas.microsoft.com/office/powerpoint/2010/main" val="25986330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E04FD0D-81CC-4EF7-9F5A-8385A67EBB72}"/>
              </a:ext>
            </a:extLst>
          </p:cNvPr>
          <p:cNvSpPr/>
          <p:nvPr/>
        </p:nvSpPr>
        <p:spPr>
          <a:xfrm>
            <a:off x="280915" y="0"/>
            <a:ext cx="4934364"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Another solution</a:t>
            </a:r>
          </a:p>
        </p:txBody>
      </p:sp>
      <p:graphicFrame>
        <p:nvGraphicFramePr>
          <p:cNvPr id="5" name="Object 4">
            <a:extLst>
              <a:ext uri="{FF2B5EF4-FFF2-40B4-BE49-F238E27FC236}">
                <a16:creationId xmlns:a16="http://schemas.microsoft.com/office/drawing/2014/main" id="{8567F8DE-8D39-4B0F-AE8D-EFD2DF9F73CD}"/>
              </a:ext>
            </a:extLst>
          </p:cNvPr>
          <p:cNvGraphicFramePr>
            <a:graphicFrameLocks noChangeAspect="1"/>
          </p:cNvGraphicFramePr>
          <p:nvPr>
            <p:extLst>
              <p:ext uri="{D42A27DB-BD31-4B8C-83A1-F6EECF244321}">
                <p14:modId xmlns:p14="http://schemas.microsoft.com/office/powerpoint/2010/main" val="555944401"/>
              </p:ext>
            </p:extLst>
          </p:nvPr>
        </p:nvGraphicFramePr>
        <p:xfrm>
          <a:off x="-26988" y="923925"/>
          <a:ext cx="12245976" cy="1457325"/>
        </p:xfrm>
        <a:graphic>
          <a:graphicData uri="http://schemas.openxmlformats.org/presentationml/2006/ole">
            <mc:AlternateContent xmlns:mc="http://schemas.openxmlformats.org/markup-compatibility/2006">
              <mc:Choice xmlns:v="urn:schemas-microsoft-com:vml" Requires="v">
                <p:oleObj name="Equation" r:id="rId2" imgW="5016240" imgH="596880" progId="Equation.DSMT4">
                  <p:embed/>
                </p:oleObj>
              </mc:Choice>
              <mc:Fallback>
                <p:oleObj name="Equation" r:id="rId2" imgW="5016240" imgH="596880" progId="Equation.DSMT4">
                  <p:embed/>
                  <p:pic>
                    <p:nvPicPr>
                      <p:cNvPr id="0" name=""/>
                      <p:cNvPicPr/>
                      <p:nvPr/>
                    </p:nvPicPr>
                    <p:blipFill>
                      <a:blip r:embed="rId3"/>
                      <a:stretch>
                        <a:fillRect/>
                      </a:stretch>
                    </p:blipFill>
                    <p:spPr>
                      <a:xfrm>
                        <a:off x="-26988" y="923925"/>
                        <a:ext cx="12245976" cy="1457325"/>
                      </a:xfrm>
                      <a:prstGeom prst="rect">
                        <a:avLst/>
                      </a:prstGeom>
                    </p:spPr>
                  </p:pic>
                </p:oleObj>
              </mc:Fallback>
            </mc:AlternateContent>
          </a:graphicData>
        </a:graphic>
      </p:graphicFrame>
    </p:spTree>
    <p:extLst>
      <p:ext uri="{BB962C8B-B14F-4D97-AF65-F5344CB8AC3E}">
        <p14:creationId xmlns:p14="http://schemas.microsoft.com/office/powerpoint/2010/main" val="38339774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3F5E556-FD82-475E-A96C-EC95354E7654}"/>
              </a:ext>
            </a:extLst>
          </p:cNvPr>
          <p:cNvSpPr/>
          <p:nvPr/>
        </p:nvSpPr>
        <p:spPr>
          <a:xfrm>
            <a:off x="855478" y="3160455"/>
            <a:ext cx="8282609" cy="2554545"/>
          </a:xfrm>
          <a:prstGeom prst="rect">
            <a:avLst/>
          </a:prstGeom>
        </p:spPr>
        <p:txBody>
          <a:bodyPr wrap="square">
            <a:spAutoFit/>
          </a:bodyPr>
          <a:lstStyle/>
          <a:p>
            <a:r>
              <a:rPr lang="en-IN" sz="3200" b="1" dirty="0">
                <a:solidFill>
                  <a:srgbClr val="000000"/>
                </a:solidFill>
                <a:latin typeface="Courier New" panose="02070309020205020404" pitchFamily="49" charset="0"/>
              </a:rPr>
              <a:t>x=zeros(1,10); y=x; z=x;</a:t>
            </a:r>
          </a:p>
          <a:p>
            <a:r>
              <a:rPr lang="en-IN" sz="3200" b="1" dirty="0">
                <a:solidFill>
                  <a:srgbClr val="000000"/>
                </a:solidFill>
                <a:latin typeface="Courier New" panose="02070309020205020404" pitchFamily="49" charset="0"/>
              </a:rPr>
              <a:t>x(1:7)=1; y(1:8)=1; z(1:9)=1;</a:t>
            </a:r>
          </a:p>
          <a:p>
            <a:r>
              <a:rPr lang="en-IN" sz="3200" b="1" dirty="0">
                <a:solidFill>
                  <a:srgbClr val="000000"/>
                </a:solidFill>
                <a:latin typeface="Courier New" panose="02070309020205020404" pitchFamily="49" charset="0"/>
              </a:rPr>
              <a:t>x1=conv(</a:t>
            </a:r>
            <a:r>
              <a:rPr lang="en-IN" sz="3200" b="1" dirty="0" err="1">
                <a:solidFill>
                  <a:srgbClr val="000000"/>
                </a:solidFill>
                <a:latin typeface="Courier New" panose="02070309020205020404" pitchFamily="49" charset="0"/>
              </a:rPr>
              <a:t>x,y</a:t>
            </a:r>
            <a:r>
              <a:rPr lang="en-IN" sz="3200" b="1" dirty="0">
                <a:solidFill>
                  <a:srgbClr val="000000"/>
                </a:solidFill>
                <a:latin typeface="Courier New" panose="02070309020205020404" pitchFamily="49" charset="0"/>
              </a:rPr>
              <a:t>);</a:t>
            </a:r>
          </a:p>
          <a:p>
            <a:r>
              <a:rPr lang="en-IN" sz="3200" b="1" dirty="0">
                <a:solidFill>
                  <a:srgbClr val="000000"/>
                </a:solidFill>
                <a:latin typeface="Courier New" panose="02070309020205020404" pitchFamily="49" charset="0"/>
              </a:rPr>
              <a:t>x2=conv(x1,z);</a:t>
            </a:r>
          </a:p>
          <a:p>
            <a:r>
              <a:rPr lang="en-IN" sz="3200" b="1" dirty="0">
                <a:solidFill>
                  <a:srgbClr val="000000"/>
                </a:solidFill>
                <a:latin typeface="Courier New" panose="02070309020205020404" pitchFamily="49" charset="0"/>
              </a:rPr>
              <a:t>x2(16)</a:t>
            </a:r>
            <a:endParaRPr lang="en-IN" b="1"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17358548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89D7AA3-1046-4606-BB09-AB14CEEFEB18}"/>
              </a:ext>
            </a:extLst>
          </p:cNvPr>
          <p:cNvPicPr>
            <a:picLocks noChangeAspect="1"/>
          </p:cNvPicPr>
          <p:nvPr/>
        </p:nvPicPr>
        <p:blipFill>
          <a:blip r:embed="rId2"/>
          <a:stretch>
            <a:fillRect/>
          </a:stretch>
        </p:blipFill>
        <p:spPr>
          <a:xfrm>
            <a:off x="398393" y="590136"/>
            <a:ext cx="11729463" cy="5333586"/>
          </a:xfrm>
          <a:prstGeom prst="rect">
            <a:avLst/>
          </a:prstGeom>
        </p:spPr>
      </p:pic>
    </p:spTree>
    <p:extLst>
      <p:ext uri="{BB962C8B-B14F-4D97-AF65-F5344CB8AC3E}">
        <p14:creationId xmlns:p14="http://schemas.microsoft.com/office/powerpoint/2010/main" val="26782395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B3BE8A-0ABA-42D1-8AFA-64D520798225}"/>
              </a:ext>
            </a:extLst>
          </p:cNvPr>
          <p:cNvPicPr>
            <a:picLocks noChangeAspect="1"/>
          </p:cNvPicPr>
          <p:nvPr/>
        </p:nvPicPr>
        <p:blipFill>
          <a:blip r:embed="rId2"/>
          <a:stretch>
            <a:fillRect/>
          </a:stretch>
        </p:blipFill>
        <p:spPr>
          <a:xfrm>
            <a:off x="702365" y="411935"/>
            <a:ext cx="10614992" cy="5937761"/>
          </a:xfrm>
          <a:prstGeom prst="rect">
            <a:avLst/>
          </a:prstGeom>
        </p:spPr>
      </p:pic>
    </p:spTree>
    <p:extLst>
      <p:ext uri="{BB962C8B-B14F-4D97-AF65-F5344CB8AC3E}">
        <p14:creationId xmlns:p14="http://schemas.microsoft.com/office/powerpoint/2010/main" val="35735340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9D0A64C-27F9-4D09-A8D7-DFED447AA78D}"/>
              </a:ext>
            </a:extLst>
          </p:cNvPr>
          <p:cNvPicPr>
            <a:picLocks noChangeAspect="1"/>
          </p:cNvPicPr>
          <p:nvPr/>
        </p:nvPicPr>
        <p:blipFill>
          <a:blip r:embed="rId2"/>
          <a:stretch>
            <a:fillRect/>
          </a:stretch>
        </p:blipFill>
        <p:spPr>
          <a:xfrm>
            <a:off x="560638" y="291547"/>
            <a:ext cx="10942130" cy="6202017"/>
          </a:xfrm>
          <a:prstGeom prst="rect">
            <a:avLst/>
          </a:prstGeom>
        </p:spPr>
      </p:pic>
    </p:spTree>
    <p:extLst>
      <p:ext uri="{BB962C8B-B14F-4D97-AF65-F5344CB8AC3E}">
        <p14:creationId xmlns:p14="http://schemas.microsoft.com/office/powerpoint/2010/main" val="33558435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AEE4D51-14E3-4899-B230-72EA6EE7C422}"/>
              </a:ext>
            </a:extLst>
          </p:cNvPr>
          <p:cNvPicPr>
            <a:picLocks noChangeAspect="1"/>
          </p:cNvPicPr>
          <p:nvPr/>
        </p:nvPicPr>
        <p:blipFill>
          <a:blip r:embed="rId2"/>
          <a:stretch>
            <a:fillRect/>
          </a:stretch>
        </p:blipFill>
        <p:spPr>
          <a:xfrm>
            <a:off x="316098" y="318052"/>
            <a:ext cx="11279554" cy="6202017"/>
          </a:xfrm>
          <a:prstGeom prst="rect">
            <a:avLst/>
          </a:prstGeom>
        </p:spPr>
      </p:pic>
    </p:spTree>
    <p:extLst>
      <p:ext uri="{BB962C8B-B14F-4D97-AF65-F5344CB8AC3E}">
        <p14:creationId xmlns:p14="http://schemas.microsoft.com/office/powerpoint/2010/main" val="8908323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AD69067-38D1-497A-AE51-BD141130CE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930" y="2421730"/>
            <a:ext cx="3344932" cy="369011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A89C5B92-8E5E-47FC-9101-7C8072B85DAB}"/>
              </a:ext>
            </a:extLst>
          </p:cNvPr>
          <p:cNvSpPr/>
          <p:nvPr/>
        </p:nvSpPr>
        <p:spPr>
          <a:xfrm>
            <a:off x="3501315" y="14945"/>
            <a:ext cx="3505511" cy="584775"/>
          </a:xfrm>
          <a:prstGeom prst="rect">
            <a:avLst/>
          </a:prstGeom>
        </p:spPr>
        <p:txBody>
          <a:bodyPr wrap="none">
            <a:spAutoFit/>
          </a:bodyPr>
          <a:lstStyle/>
          <a:p>
            <a:r>
              <a:rPr lang="en-IN" sz="3200" b="1" dirty="0">
                <a:solidFill>
                  <a:srgbClr val="333333"/>
                </a:solidFill>
                <a:latin typeface="Lucida Grande"/>
              </a:rPr>
              <a:t>Rosalind Franklin</a:t>
            </a:r>
            <a:endParaRPr lang="en-IN" sz="3200" b="1" dirty="0"/>
          </a:p>
        </p:txBody>
      </p:sp>
      <p:sp>
        <p:nvSpPr>
          <p:cNvPr id="3" name="Rectangle 2">
            <a:extLst>
              <a:ext uri="{FF2B5EF4-FFF2-40B4-BE49-F238E27FC236}">
                <a16:creationId xmlns:a16="http://schemas.microsoft.com/office/drawing/2014/main" id="{3A11382C-7520-4531-B757-4D29A15CB8E2}"/>
              </a:ext>
            </a:extLst>
          </p:cNvPr>
          <p:cNvSpPr/>
          <p:nvPr/>
        </p:nvSpPr>
        <p:spPr>
          <a:xfrm>
            <a:off x="4285708" y="2951386"/>
            <a:ext cx="7675752" cy="3785652"/>
          </a:xfrm>
          <a:prstGeom prst="rect">
            <a:avLst/>
          </a:prstGeom>
        </p:spPr>
        <p:txBody>
          <a:bodyPr wrap="square">
            <a:spAutoFit/>
          </a:bodyPr>
          <a:lstStyle/>
          <a:p>
            <a:pPr algn="just" fontAlgn="base"/>
            <a:r>
              <a:rPr lang="en-IN" sz="2000" dirty="0">
                <a:solidFill>
                  <a:srgbClr val="333333"/>
                </a:solidFill>
                <a:latin typeface="Lucida Grande"/>
              </a:rPr>
              <a:t>Her education. Franklin was born on July 25, 1920, in London, to a wealthy Jewish family who valued education and public service. At age 18, she enrolled in Newnham Women's College at Cambridge University, where she studied physics and chemistry. After Cambridge she went to work for the British Coal Utilization Research Association where her work on the porosity of coal became her Ph.D. thesis, and later it would allow her to travel the world as an guest speaker.</a:t>
            </a:r>
          </a:p>
          <a:p>
            <a:pPr algn="just" fontAlgn="base"/>
            <a:r>
              <a:rPr lang="en-IN" sz="2000" dirty="0">
                <a:solidFill>
                  <a:srgbClr val="333333"/>
                </a:solidFill>
                <a:latin typeface="Lucida Grande"/>
              </a:rPr>
              <a:t>In 1946, Franklin moved to Paris where she perfected her skills in X-ray crystallography, which would become her life's work. Although she loved the freedom and lifestyle of Paris, she returned after four years to London to accept a job at King's College.</a:t>
            </a:r>
            <a:endParaRPr lang="en-IN" sz="2000" i="0" dirty="0">
              <a:solidFill>
                <a:srgbClr val="333333"/>
              </a:solidFill>
              <a:effectLst/>
              <a:latin typeface="Lucida Grande"/>
            </a:endParaRPr>
          </a:p>
        </p:txBody>
      </p:sp>
      <p:sp>
        <p:nvSpPr>
          <p:cNvPr id="4" name="Rectangle 3">
            <a:extLst>
              <a:ext uri="{FF2B5EF4-FFF2-40B4-BE49-F238E27FC236}">
                <a16:creationId xmlns:a16="http://schemas.microsoft.com/office/drawing/2014/main" id="{F44604C7-F46D-442A-9814-7B7BBCE19BD6}"/>
              </a:ext>
            </a:extLst>
          </p:cNvPr>
          <p:cNvSpPr/>
          <p:nvPr/>
        </p:nvSpPr>
        <p:spPr>
          <a:xfrm>
            <a:off x="477013" y="746158"/>
            <a:ext cx="11237974" cy="1754326"/>
          </a:xfrm>
          <a:prstGeom prst="rect">
            <a:avLst/>
          </a:prstGeom>
        </p:spPr>
        <p:txBody>
          <a:bodyPr wrap="square">
            <a:spAutoFit/>
          </a:bodyPr>
          <a:lstStyle/>
          <a:p>
            <a:pPr algn="just"/>
            <a:r>
              <a:rPr lang="en-IN" b="1" dirty="0">
                <a:solidFill>
                  <a:srgbClr val="333333"/>
                </a:solidFill>
                <a:latin typeface="Lucida Grande"/>
              </a:rPr>
              <a:t>A crucial contribution.</a:t>
            </a:r>
            <a:r>
              <a:rPr lang="en-IN" dirty="0">
                <a:solidFill>
                  <a:srgbClr val="333333"/>
                </a:solidFill>
                <a:latin typeface="Lucida Grande"/>
              </a:rPr>
              <a:t> Rosalind Franklin made a crucial contribution to the discovery of the double helix structure of DNA, but some would say she got a raw deal. Biographer Brenda Maddox called her the "Dark Lady of DNA," based on a once disparaging reference to Franklin by one of her </a:t>
            </a:r>
            <a:r>
              <a:rPr lang="en-IN" dirty="0" err="1">
                <a:solidFill>
                  <a:srgbClr val="333333"/>
                </a:solidFill>
                <a:latin typeface="Lucida Grande"/>
              </a:rPr>
              <a:t>coworkers</a:t>
            </a:r>
            <a:r>
              <a:rPr lang="en-IN" dirty="0">
                <a:solidFill>
                  <a:srgbClr val="333333"/>
                </a:solidFill>
                <a:latin typeface="Lucida Grande"/>
              </a:rPr>
              <a:t>. Unfortunately, this negative appellation undermined the positive impact of her discovery. Indeed, Franklin is in the shadows of science history, for while her work on DNA was crucial to the discovery of its structure, her contribution to that landmark discovery is little known.</a:t>
            </a:r>
            <a:endParaRPr lang="en-IN" dirty="0"/>
          </a:p>
        </p:txBody>
      </p:sp>
    </p:spTree>
    <p:extLst>
      <p:ext uri="{BB962C8B-B14F-4D97-AF65-F5344CB8AC3E}">
        <p14:creationId xmlns:p14="http://schemas.microsoft.com/office/powerpoint/2010/main" val="2407410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166F4D-3D8B-4031-A720-3639857ECD5E}"/>
              </a:ext>
            </a:extLst>
          </p:cNvPr>
          <p:cNvSpPr/>
          <p:nvPr/>
        </p:nvSpPr>
        <p:spPr>
          <a:xfrm>
            <a:off x="609601" y="553353"/>
            <a:ext cx="10217426" cy="2031325"/>
          </a:xfrm>
          <a:prstGeom prst="rect">
            <a:avLst/>
          </a:prstGeom>
        </p:spPr>
        <p:txBody>
          <a:bodyPr wrap="square">
            <a:spAutoFit/>
          </a:bodyPr>
          <a:lstStyle/>
          <a:p>
            <a:pPr algn="just"/>
            <a:r>
              <a:rPr lang="en-IN" dirty="0">
                <a:solidFill>
                  <a:srgbClr val="222222"/>
                </a:solidFill>
                <a:latin typeface="YaleNew"/>
              </a:rPr>
              <a:t>Rosalind Franklin Young Investigator Award</a:t>
            </a:r>
          </a:p>
          <a:p>
            <a:pPr algn="just"/>
            <a:r>
              <a:rPr lang="en-IN" dirty="0">
                <a:solidFill>
                  <a:srgbClr val="222222"/>
                </a:solidFill>
                <a:latin typeface="Mallory"/>
              </a:rPr>
              <a:t>The Gruber Foundation funds the Rosalind Franklin Young Investigator Award – a career development research award of $75,000 over three years - to 2 young woman geneticists from anywhere in the world. One award will fund genetics research in human and non-human mammals, and the other will fund genetics research in model organisms. This unrestricted cash award is presented every three years. The successful candidate must be in her first one to three years of an independent faculty-level position in any area of genetics.</a:t>
            </a:r>
            <a:endParaRPr lang="en-IN" b="0" i="0" dirty="0">
              <a:solidFill>
                <a:srgbClr val="222222"/>
              </a:solidFill>
              <a:effectLst/>
              <a:latin typeface="Mallory"/>
            </a:endParaRPr>
          </a:p>
        </p:txBody>
      </p:sp>
      <p:sp>
        <p:nvSpPr>
          <p:cNvPr id="3" name="Rectangle 2">
            <a:extLst>
              <a:ext uri="{FF2B5EF4-FFF2-40B4-BE49-F238E27FC236}">
                <a16:creationId xmlns:a16="http://schemas.microsoft.com/office/drawing/2014/main" id="{554976B7-1B9D-47B1-B1A8-437994E64AB2}"/>
              </a:ext>
            </a:extLst>
          </p:cNvPr>
          <p:cNvSpPr/>
          <p:nvPr/>
        </p:nvSpPr>
        <p:spPr>
          <a:xfrm>
            <a:off x="1044475" y="2825907"/>
            <a:ext cx="9581322" cy="369332"/>
          </a:xfrm>
          <a:prstGeom prst="rect">
            <a:avLst/>
          </a:prstGeom>
        </p:spPr>
        <p:txBody>
          <a:bodyPr wrap="square">
            <a:spAutoFit/>
          </a:bodyPr>
          <a:lstStyle/>
          <a:p>
            <a:r>
              <a:rPr lang="en-IN" dirty="0">
                <a:hlinkClick r:id="rId2"/>
              </a:rPr>
              <a:t>https://gruber.yale.edu/rosalind-franklin-young-investigator-award</a:t>
            </a:r>
            <a:endParaRPr lang="en-IN" dirty="0"/>
          </a:p>
        </p:txBody>
      </p:sp>
    </p:spTree>
    <p:extLst>
      <p:ext uri="{BB962C8B-B14F-4D97-AF65-F5344CB8AC3E}">
        <p14:creationId xmlns:p14="http://schemas.microsoft.com/office/powerpoint/2010/main" val="20719491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533DC8B-CF02-4F54-BB20-2BC9BDFBE7A6}"/>
              </a:ext>
            </a:extLst>
          </p:cNvPr>
          <p:cNvPicPr>
            <a:picLocks noChangeAspect="1"/>
          </p:cNvPicPr>
          <p:nvPr/>
        </p:nvPicPr>
        <p:blipFill>
          <a:blip r:embed="rId2"/>
          <a:stretch>
            <a:fillRect/>
          </a:stretch>
        </p:blipFill>
        <p:spPr>
          <a:xfrm>
            <a:off x="397565" y="612913"/>
            <a:ext cx="8226827" cy="5632174"/>
          </a:xfrm>
          <a:prstGeom prst="rect">
            <a:avLst/>
          </a:prstGeom>
        </p:spPr>
      </p:pic>
      <p:sp>
        <p:nvSpPr>
          <p:cNvPr id="3" name="Rectangle 2">
            <a:extLst>
              <a:ext uri="{FF2B5EF4-FFF2-40B4-BE49-F238E27FC236}">
                <a16:creationId xmlns:a16="http://schemas.microsoft.com/office/drawing/2014/main" id="{8C053055-511E-4403-ABA9-B5973EA5F008}"/>
              </a:ext>
            </a:extLst>
          </p:cNvPr>
          <p:cNvSpPr/>
          <p:nvPr/>
        </p:nvSpPr>
        <p:spPr>
          <a:xfrm>
            <a:off x="235767" y="6327265"/>
            <a:ext cx="10617764" cy="369332"/>
          </a:xfrm>
          <a:prstGeom prst="rect">
            <a:avLst/>
          </a:prstGeom>
        </p:spPr>
        <p:txBody>
          <a:bodyPr wrap="square">
            <a:spAutoFit/>
          </a:bodyPr>
          <a:lstStyle/>
          <a:p>
            <a:r>
              <a:rPr lang="en-IN" dirty="0">
                <a:hlinkClick r:id="rId3"/>
              </a:rPr>
              <a:t>https://www.youtube.com/watch?time_continue=21&amp;v=u6Gc0nvN9xs&amp;feature=emb_logo</a:t>
            </a:r>
            <a:endParaRPr lang="en-IN" dirty="0"/>
          </a:p>
        </p:txBody>
      </p:sp>
    </p:spTree>
    <p:extLst>
      <p:ext uri="{BB962C8B-B14F-4D97-AF65-F5344CB8AC3E}">
        <p14:creationId xmlns:p14="http://schemas.microsoft.com/office/powerpoint/2010/main" val="32575689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962CC2C-875D-4810-8191-1B6406EBA5C5}"/>
              </a:ext>
            </a:extLst>
          </p:cNvPr>
          <p:cNvSpPr/>
          <p:nvPr/>
        </p:nvSpPr>
        <p:spPr>
          <a:xfrm>
            <a:off x="874642" y="1384349"/>
            <a:ext cx="10217427" cy="646331"/>
          </a:xfrm>
          <a:prstGeom prst="rect">
            <a:avLst/>
          </a:prstGeom>
        </p:spPr>
        <p:txBody>
          <a:bodyPr wrap="square">
            <a:spAutoFit/>
          </a:bodyPr>
          <a:lstStyle/>
          <a:p>
            <a:pPr fontAlgn="base"/>
            <a:r>
              <a:rPr lang="en-IN" b="1" dirty="0">
                <a:solidFill>
                  <a:srgbClr val="222222"/>
                </a:solidFill>
                <a:latin typeface="Independent Serif"/>
              </a:rPr>
              <a:t>‘Rosalind Franklin’ Mars rover complete ahead of Red Planet mission</a:t>
            </a:r>
          </a:p>
          <a:p>
            <a:pPr fontAlgn="base"/>
            <a:r>
              <a:rPr lang="en-IN" dirty="0">
                <a:solidFill>
                  <a:srgbClr val="555555"/>
                </a:solidFill>
                <a:latin typeface="Independent Sans"/>
              </a:rPr>
              <a:t>Testing due to take place in France before planned departure in July 2020</a:t>
            </a:r>
            <a:endParaRPr lang="en-IN" b="0" i="0" dirty="0">
              <a:solidFill>
                <a:srgbClr val="555555"/>
              </a:solidFill>
              <a:effectLst/>
              <a:latin typeface="Independent Sans"/>
            </a:endParaRPr>
          </a:p>
        </p:txBody>
      </p:sp>
    </p:spTree>
    <p:extLst>
      <p:ext uri="{BB962C8B-B14F-4D97-AF65-F5344CB8AC3E}">
        <p14:creationId xmlns:p14="http://schemas.microsoft.com/office/powerpoint/2010/main" val="14335763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C498A91-F999-4F8E-AFF2-441A69E2DD78}"/>
              </a:ext>
            </a:extLst>
          </p:cNvPr>
          <p:cNvPicPr>
            <a:picLocks noChangeAspect="1"/>
          </p:cNvPicPr>
          <p:nvPr/>
        </p:nvPicPr>
        <p:blipFill>
          <a:blip r:embed="rId2"/>
          <a:stretch>
            <a:fillRect/>
          </a:stretch>
        </p:blipFill>
        <p:spPr>
          <a:xfrm>
            <a:off x="711502" y="397565"/>
            <a:ext cx="10725123" cy="5695740"/>
          </a:xfrm>
          <a:prstGeom prst="rect">
            <a:avLst/>
          </a:prstGeom>
        </p:spPr>
      </p:pic>
    </p:spTree>
    <p:extLst>
      <p:ext uri="{BB962C8B-B14F-4D97-AF65-F5344CB8AC3E}">
        <p14:creationId xmlns:p14="http://schemas.microsoft.com/office/powerpoint/2010/main" val="26857693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AC71822-3C2C-4CF0-9BCD-AE479123B696}"/>
              </a:ext>
            </a:extLst>
          </p:cNvPr>
          <p:cNvPicPr>
            <a:picLocks noChangeAspect="1"/>
          </p:cNvPicPr>
          <p:nvPr/>
        </p:nvPicPr>
        <p:blipFill>
          <a:blip r:embed="rId2"/>
          <a:stretch>
            <a:fillRect/>
          </a:stretch>
        </p:blipFill>
        <p:spPr>
          <a:xfrm>
            <a:off x="671305" y="481840"/>
            <a:ext cx="11104532" cy="6250265"/>
          </a:xfrm>
          <a:prstGeom prst="rect">
            <a:avLst/>
          </a:prstGeom>
        </p:spPr>
      </p:pic>
    </p:spTree>
    <p:extLst>
      <p:ext uri="{BB962C8B-B14F-4D97-AF65-F5344CB8AC3E}">
        <p14:creationId xmlns:p14="http://schemas.microsoft.com/office/powerpoint/2010/main" val="9712907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03DAD3-85E0-4517-8C2A-CDC5D9F05CE2}"/>
              </a:ext>
            </a:extLst>
          </p:cNvPr>
          <p:cNvPicPr>
            <a:picLocks noChangeAspect="1"/>
          </p:cNvPicPr>
          <p:nvPr/>
        </p:nvPicPr>
        <p:blipFill>
          <a:blip r:embed="rId2"/>
          <a:stretch>
            <a:fillRect/>
          </a:stretch>
        </p:blipFill>
        <p:spPr>
          <a:xfrm>
            <a:off x="542925" y="390525"/>
            <a:ext cx="11106150" cy="6076950"/>
          </a:xfrm>
          <a:prstGeom prst="rect">
            <a:avLst/>
          </a:prstGeom>
        </p:spPr>
      </p:pic>
    </p:spTree>
    <p:extLst>
      <p:ext uri="{BB962C8B-B14F-4D97-AF65-F5344CB8AC3E}">
        <p14:creationId xmlns:p14="http://schemas.microsoft.com/office/powerpoint/2010/main" val="32965101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53F16F-99F0-484F-8C10-4CC7B1AEAC55}"/>
              </a:ext>
            </a:extLst>
          </p:cNvPr>
          <p:cNvPicPr>
            <a:picLocks noChangeAspect="1"/>
          </p:cNvPicPr>
          <p:nvPr/>
        </p:nvPicPr>
        <p:blipFill>
          <a:blip r:embed="rId2"/>
          <a:stretch>
            <a:fillRect/>
          </a:stretch>
        </p:blipFill>
        <p:spPr>
          <a:xfrm>
            <a:off x="355339" y="540010"/>
            <a:ext cx="11153775" cy="6105525"/>
          </a:xfrm>
          <a:prstGeom prst="rect">
            <a:avLst/>
          </a:prstGeom>
        </p:spPr>
      </p:pic>
    </p:spTree>
    <p:extLst>
      <p:ext uri="{BB962C8B-B14F-4D97-AF65-F5344CB8AC3E}">
        <p14:creationId xmlns:p14="http://schemas.microsoft.com/office/powerpoint/2010/main" val="14087135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697BB7E-D8BB-4C6A-83B6-8BB2D4198569}"/>
              </a:ext>
            </a:extLst>
          </p:cNvPr>
          <p:cNvPicPr>
            <a:picLocks noChangeAspect="1"/>
          </p:cNvPicPr>
          <p:nvPr/>
        </p:nvPicPr>
        <p:blipFill>
          <a:blip r:embed="rId2"/>
          <a:stretch>
            <a:fillRect/>
          </a:stretch>
        </p:blipFill>
        <p:spPr>
          <a:xfrm>
            <a:off x="490330" y="251791"/>
            <a:ext cx="11211339" cy="6560342"/>
          </a:xfrm>
          <a:prstGeom prst="rect">
            <a:avLst/>
          </a:prstGeom>
        </p:spPr>
      </p:pic>
      <p:sp>
        <p:nvSpPr>
          <p:cNvPr id="3" name="Oval 2">
            <a:extLst>
              <a:ext uri="{FF2B5EF4-FFF2-40B4-BE49-F238E27FC236}">
                <a16:creationId xmlns:a16="http://schemas.microsoft.com/office/drawing/2014/main" id="{F9DA9B99-1B1C-48B2-86A8-A0788CFE3EFF}"/>
              </a:ext>
            </a:extLst>
          </p:cNvPr>
          <p:cNvSpPr/>
          <p:nvPr/>
        </p:nvSpPr>
        <p:spPr>
          <a:xfrm>
            <a:off x="8839200" y="3246783"/>
            <a:ext cx="1007165"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4670B79D-2811-46BB-8239-773931C37CDD}"/>
              </a:ext>
            </a:extLst>
          </p:cNvPr>
          <p:cNvSpPr/>
          <p:nvPr/>
        </p:nvSpPr>
        <p:spPr>
          <a:xfrm>
            <a:off x="9548191" y="3187148"/>
            <a:ext cx="1007165" cy="1033669"/>
          </a:xfrm>
          <a:prstGeom prst="ellipse">
            <a:avLst/>
          </a:prstGeom>
          <a:solidFill>
            <a:schemeClr val="accent4">
              <a:alpha val="58000"/>
            </a:schemeClr>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8EF9C947-51F2-4F71-855D-F1E55EA782CE}"/>
              </a:ext>
            </a:extLst>
          </p:cNvPr>
          <p:cNvSpPr/>
          <p:nvPr/>
        </p:nvSpPr>
        <p:spPr>
          <a:xfrm>
            <a:off x="8507896" y="2703443"/>
            <a:ext cx="2438400" cy="2067340"/>
          </a:xfrm>
          <a:prstGeom prst="rect">
            <a:avLst/>
          </a:prstGeom>
          <a:noFill/>
          <a:ln>
            <a:solidFill>
              <a:srgbClr val="FF0000"/>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759A72D0-E0B7-41CC-BCFB-E80602965C6C}"/>
              </a:ext>
            </a:extLst>
          </p:cNvPr>
          <p:cNvSpPr/>
          <p:nvPr/>
        </p:nvSpPr>
        <p:spPr>
          <a:xfrm>
            <a:off x="8618316" y="3813599"/>
            <a:ext cx="819455"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A</a:t>
            </a:r>
            <a:r>
              <a:rPr lang="en-US" sz="5400" b="0" cap="none" spc="0" baseline="-25000" dirty="0">
                <a:ln w="0"/>
                <a:solidFill>
                  <a:schemeClr val="tx1"/>
                </a:solidFill>
                <a:effectLst>
                  <a:outerShdw blurRad="38100" dist="19050" dir="2700000" algn="tl" rotWithShape="0">
                    <a:schemeClr val="dk1">
                      <a:alpha val="40000"/>
                    </a:schemeClr>
                  </a:outerShdw>
                </a:effectLst>
              </a:rPr>
              <a:t>1</a:t>
            </a:r>
          </a:p>
        </p:txBody>
      </p:sp>
      <p:sp>
        <p:nvSpPr>
          <p:cNvPr id="8" name="Rectangle 7">
            <a:extLst>
              <a:ext uri="{FF2B5EF4-FFF2-40B4-BE49-F238E27FC236}">
                <a16:creationId xmlns:a16="http://schemas.microsoft.com/office/drawing/2014/main" id="{960667A7-6593-457B-B528-DDBB0B7F75AF}"/>
              </a:ext>
            </a:extLst>
          </p:cNvPr>
          <p:cNvSpPr/>
          <p:nvPr/>
        </p:nvSpPr>
        <p:spPr>
          <a:xfrm>
            <a:off x="10237261" y="3781192"/>
            <a:ext cx="819455"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A</a:t>
            </a:r>
            <a:r>
              <a:rPr lang="en-US" sz="5400" b="0" cap="none" spc="0" baseline="-25000" dirty="0">
                <a:ln w="0"/>
                <a:solidFill>
                  <a:schemeClr val="tx1"/>
                </a:solidFill>
                <a:effectLst>
                  <a:outerShdw blurRad="38100" dist="19050" dir="2700000" algn="tl" rotWithShape="0">
                    <a:schemeClr val="dk1">
                      <a:alpha val="40000"/>
                    </a:schemeClr>
                  </a:outerShdw>
                </a:effectLst>
              </a:rPr>
              <a:t>2</a:t>
            </a:r>
          </a:p>
        </p:txBody>
      </p:sp>
      <p:sp>
        <p:nvSpPr>
          <p:cNvPr id="9" name="Rectangle 8">
            <a:extLst>
              <a:ext uri="{FF2B5EF4-FFF2-40B4-BE49-F238E27FC236}">
                <a16:creationId xmlns:a16="http://schemas.microsoft.com/office/drawing/2014/main" id="{A60374B2-DD1E-4548-B6F0-117498C4E0AF}"/>
              </a:ext>
            </a:extLst>
          </p:cNvPr>
          <p:cNvSpPr/>
          <p:nvPr/>
        </p:nvSpPr>
        <p:spPr>
          <a:xfrm>
            <a:off x="10916149" y="2703443"/>
            <a:ext cx="502061"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S</a:t>
            </a:r>
            <a:endParaRPr lang="en-US" sz="5400" b="0" cap="none" spc="0" baseline="-250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0690553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418308-9218-4FCF-B4FD-21E5A0A40CCE}"/>
              </a:ext>
            </a:extLst>
          </p:cNvPr>
          <p:cNvSpPr/>
          <p:nvPr/>
        </p:nvSpPr>
        <p:spPr>
          <a:xfrm>
            <a:off x="3482916" y="2967335"/>
            <a:ext cx="5226174"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Walking </a:t>
            </a:r>
            <a:r>
              <a:rPr lang="en-US" sz="5400" dirty="0">
                <a:ln w="0"/>
                <a:effectLst>
                  <a:outerShdw blurRad="38100" dist="19050" dir="2700000" algn="tl" rotWithShape="0">
                    <a:schemeClr val="dk1">
                      <a:alpha val="40000"/>
                    </a:schemeClr>
                  </a:outerShdw>
                </a:effectLst>
              </a:rPr>
              <a:t>on a grid.</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4572668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233D289-9C1D-48D6-8724-2F0452F3A32C}"/>
              </a:ext>
            </a:extLst>
          </p:cNvPr>
          <p:cNvGrpSpPr/>
          <p:nvPr/>
        </p:nvGrpSpPr>
        <p:grpSpPr>
          <a:xfrm>
            <a:off x="2395043" y="363705"/>
            <a:ext cx="6654018" cy="3488788"/>
            <a:chOff x="2642004" y="1266319"/>
            <a:chExt cx="6654018" cy="3488788"/>
          </a:xfrm>
        </p:grpSpPr>
        <p:sp>
          <p:nvSpPr>
            <p:cNvPr id="4" name="Rectangle 3">
              <a:extLst>
                <a:ext uri="{FF2B5EF4-FFF2-40B4-BE49-F238E27FC236}">
                  <a16:creationId xmlns:a16="http://schemas.microsoft.com/office/drawing/2014/main" id="{72BE1206-4C79-4A11-9BE6-0C1D29BE072E}"/>
                </a:ext>
              </a:extLst>
            </p:cNvPr>
            <p:cNvSpPr/>
            <p:nvPr/>
          </p:nvSpPr>
          <p:spPr>
            <a:xfrm>
              <a:off x="2642004" y="1266319"/>
              <a:ext cx="6654018" cy="3488788"/>
            </a:xfrm>
            <a:prstGeom prst="rect">
              <a:avLst/>
            </a:prstGeom>
            <a:noFill/>
            <a:ln w="730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D556227F-A309-4AB1-B1FA-C21FC5B53BB0}"/>
                </a:ext>
              </a:extLst>
            </p:cNvPr>
            <p:cNvCxnSpPr/>
            <p:nvPr/>
          </p:nvCxnSpPr>
          <p:spPr>
            <a:xfrm>
              <a:off x="2642004" y="2020529"/>
              <a:ext cx="6654018" cy="0"/>
            </a:xfrm>
            <a:prstGeom prst="line">
              <a:avLst/>
            </a:prstGeom>
            <a:ln w="53975"/>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D6CF288-D7D7-4FCF-AF3C-E2AE7EED9D08}"/>
                </a:ext>
              </a:extLst>
            </p:cNvPr>
            <p:cNvCxnSpPr/>
            <p:nvPr/>
          </p:nvCxnSpPr>
          <p:spPr>
            <a:xfrm>
              <a:off x="2642004" y="3913239"/>
              <a:ext cx="6654018" cy="0"/>
            </a:xfrm>
            <a:prstGeom prst="line">
              <a:avLst/>
            </a:prstGeom>
            <a:ln w="53975"/>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887626F-293F-448F-87FE-687A09A845D9}"/>
                </a:ext>
              </a:extLst>
            </p:cNvPr>
            <p:cNvCxnSpPr/>
            <p:nvPr/>
          </p:nvCxnSpPr>
          <p:spPr>
            <a:xfrm>
              <a:off x="2642004" y="2941887"/>
              <a:ext cx="6654018" cy="0"/>
            </a:xfrm>
            <a:prstGeom prst="line">
              <a:avLst/>
            </a:prstGeom>
            <a:ln w="53975"/>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20797C-2F04-4FFC-B24F-BA1612761EC1}"/>
                </a:ext>
              </a:extLst>
            </p:cNvPr>
            <p:cNvCxnSpPr/>
            <p:nvPr/>
          </p:nvCxnSpPr>
          <p:spPr>
            <a:xfrm>
              <a:off x="3569110" y="1266319"/>
              <a:ext cx="0" cy="348878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3AE114-C183-48D5-90AD-78B0F37B57EE}"/>
                </a:ext>
              </a:extLst>
            </p:cNvPr>
            <p:cNvCxnSpPr/>
            <p:nvPr/>
          </p:nvCxnSpPr>
          <p:spPr>
            <a:xfrm>
              <a:off x="4473677" y="1266319"/>
              <a:ext cx="0" cy="348878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3252E5B-02B6-4156-B458-011084FD4F63}"/>
                </a:ext>
              </a:extLst>
            </p:cNvPr>
            <p:cNvCxnSpPr/>
            <p:nvPr/>
          </p:nvCxnSpPr>
          <p:spPr>
            <a:xfrm>
              <a:off x="8426245" y="1266319"/>
              <a:ext cx="0" cy="348878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1A358DC-E736-453A-82D1-C91F57195DE0}"/>
                </a:ext>
              </a:extLst>
            </p:cNvPr>
            <p:cNvCxnSpPr/>
            <p:nvPr/>
          </p:nvCxnSpPr>
          <p:spPr>
            <a:xfrm>
              <a:off x="7423355" y="1266319"/>
              <a:ext cx="0" cy="348878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E49A875-2841-41D2-9A11-91D0B4B6D671}"/>
                </a:ext>
              </a:extLst>
            </p:cNvPr>
            <p:cNvCxnSpPr/>
            <p:nvPr/>
          </p:nvCxnSpPr>
          <p:spPr>
            <a:xfrm>
              <a:off x="6435213" y="1266319"/>
              <a:ext cx="0" cy="348878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FD6D884-A4E5-485D-887F-63A541C65579}"/>
                </a:ext>
              </a:extLst>
            </p:cNvPr>
            <p:cNvCxnSpPr/>
            <p:nvPr/>
          </p:nvCxnSpPr>
          <p:spPr>
            <a:xfrm>
              <a:off x="5447071" y="1266319"/>
              <a:ext cx="0" cy="348878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77D0BF8A-D71F-40E6-9927-B512BDE11E0B}"/>
              </a:ext>
            </a:extLst>
          </p:cNvPr>
          <p:cNvSpPr txBox="1"/>
          <p:nvPr/>
        </p:nvSpPr>
        <p:spPr>
          <a:xfrm>
            <a:off x="139494" y="4197244"/>
            <a:ext cx="12097516" cy="1200329"/>
          </a:xfrm>
          <a:prstGeom prst="rect">
            <a:avLst/>
          </a:prstGeom>
          <a:noFill/>
        </p:spPr>
        <p:txBody>
          <a:bodyPr wrap="square" rtlCol="0">
            <a:spAutoFit/>
          </a:bodyPr>
          <a:lstStyle/>
          <a:p>
            <a:r>
              <a:rPr lang="en-IN" sz="3600" b="1" dirty="0"/>
              <a:t>How many ways one can move from left corner (0,0) to (7,4)  </a:t>
            </a:r>
          </a:p>
          <a:p>
            <a:r>
              <a:rPr lang="en-IN" sz="3600" b="1" dirty="0"/>
              <a:t>if one is restricted to move only forward and upward direction </a:t>
            </a:r>
          </a:p>
        </p:txBody>
      </p:sp>
      <p:sp>
        <p:nvSpPr>
          <p:cNvPr id="18" name="TextBox 17">
            <a:extLst>
              <a:ext uri="{FF2B5EF4-FFF2-40B4-BE49-F238E27FC236}">
                <a16:creationId xmlns:a16="http://schemas.microsoft.com/office/drawing/2014/main" id="{E9C61943-B8D3-4F9A-97BD-74DEBBBF2CC5}"/>
              </a:ext>
            </a:extLst>
          </p:cNvPr>
          <p:cNvSpPr txBox="1"/>
          <p:nvPr/>
        </p:nvSpPr>
        <p:spPr>
          <a:xfrm>
            <a:off x="9049061" y="153163"/>
            <a:ext cx="867545" cy="523220"/>
          </a:xfrm>
          <a:prstGeom prst="rect">
            <a:avLst/>
          </a:prstGeom>
          <a:noFill/>
        </p:spPr>
        <p:txBody>
          <a:bodyPr wrap="none" rtlCol="0">
            <a:spAutoFit/>
          </a:bodyPr>
          <a:lstStyle/>
          <a:p>
            <a:r>
              <a:rPr lang="en-IN" sz="2800" b="1" dirty="0"/>
              <a:t>(7,4)</a:t>
            </a:r>
          </a:p>
        </p:txBody>
      </p:sp>
      <p:sp>
        <p:nvSpPr>
          <p:cNvPr id="19" name="TextBox 18">
            <a:extLst>
              <a:ext uri="{FF2B5EF4-FFF2-40B4-BE49-F238E27FC236}">
                <a16:creationId xmlns:a16="http://schemas.microsoft.com/office/drawing/2014/main" id="{AA37A751-6BA8-4408-92ED-D9B9CD5C04E2}"/>
              </a:ext>
            </a:extLst>
          </p:cNvPr>
          <p:cNvSpPr txBox="1"/>
          <p:nvPr/>
        </p:nvSpPr>
        <p:spPr>
          <a:xfrm>
            <a:off x="1568549" y="3566933"/>
            <a:ext cx="867545" cy="523220"/>
          </a:xfrm>
          <a:prstGeom prst="rect">
            <a:avLst/>
          </a:prstGeom>
          <a:noFill/>
        </p:spPr>
        <p:txBody>
          <a:bodyPr wrap="none" rtlCol="0">
            <a:spAutoFit/>
          </a:bodyPr>
          <a:lstStyle/>
          <a:p>
            <a:r>
              <a:rPr lang="en-IN" sz="2800" b="1" dirty="0"/>
              <a:t>(0,0)</a:t>
            </a:r>
          </a:p>
        </p:txBody>
      </p:sp>
      <p:sp>
        <p:nvSpPr>
          <p:cNvPr id="20" name="Rectangle 19">
            <a:extLst>
              <a:ext uri="{FF2B5EF4-FFF2-40B4-BE49-F238E27FC236}">
                <a16:creationId xmlns:a16="http://schemas.microsoft.com/office/drawing/2014/main" id="{438F441A-253C-4863-A3B2-964CFCA180C2}"/>
              </a:ext>
            </a:extLst>
          </p:cNvPr>
          <p:cNvSpPr/>
          <p:nvPr/>
        </p:nvSpPr>
        <p:spPr>
          <a:xfrm>
            <a:off x="2810950" y="5560135"/>
            <a:ext cx="7105656" cy="923330"/>
          </a:xfrm>
          <a:prstGeom prst="rect">
            <a:avLst/>
          </a:prstGeom>
          <a:noFill/>
        </p:spPr>
        <p:txBody>
          <a:bodyPr wrap="squar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Ans=</a:t>
            </a:r>
            <a:r>
              <a:rPr lang="en-US" sz="5400" b="0" cap="none" spc="0" baseline="30000" dirty="0">
                <a:ln w="0"/>
                <a:solidFill>
                  <a:schemeClr val="tx1"/>
                </a:solidFill>
                <a:effectLst>
                  <a:outerShdw blurRad="38100" dist="19050" dir="2700000" algn="tl" rotWithShape="0">
                    <a:schemeClr val="dk1">
                      <a:alpha val="40000"/>
                    </a:schemeClr>
                  </a:outerShdw>
                </a:effectLst>
              </a:rPr>
              <a:t>7+4</a:t>
            </a:r>
            <a:r>
              <a:rPr lang="en-US" sz="5400" b="0" cap="none" spc="0" dirty="0">
                <a:ln w="0"/>
                <a:solidFill>
                  <a:schemeClr val="tx1"/>
                </a:solidFill>
                <a:effectLst>
                  <a:outerShdw blurRad="38100" dist="19050" dir="2700000" algn="tl" rotWithShape="0">
                    <a:schemeClr val="dk1">
                      <a:alpha val="40000"/>
                    </a:schemeClr>
                  </a:outerShdw>
                </a:effectLst>
              </a:rPr>
              <a:t>C</a:t>
            </a:r>
            <a:r>
              <a:rPr lang="en-US" sz="5400" b="0" cap="none" spc="0" baseline="-25000" dirty="0">
                <a:ln w="0"/>
                <a:solidFill>
                  <a:schemeClr val="tx1"/>
                </a:solidFill>
                <a:effectLst>
                  <a:outerShdw blurRad="38100" dist="19050" dir="2700000" algn="tl" rotWithShape="0">
                    <a:schemeClr val="dk1">
                      <a:alpha val="40000"/>
                    </a:schemeClr>
                  </a:outerShdw>
                </a:effectLst>
              </a:rPr>
              <a:t>4</a:t>
            </a:r>
            <a:r>
              <a:rPr lang="en-US" sz="5400" b="0" cap="none" spc="0" dirty="0">
                <a:ln w="0"/>
                <a:solidFill>
                  <a:schemeClr val="tx1"/>
                </a:solidFill>
                <a:effectLst>
                  <a:outerShdw blurRad="38100" dist="19050" dir="2700000" algn="tl" rotWithShape="0">
                    <a:schemeClr val="dk1">
                      <a:alpha val="40000"/>
                    </a:schemeClr>
                  </a:outerShdw>
                </a:effectLst>
              </a:rPr>
              <a:t>=</a:t>
            </a:r>
            <a:r>
              <a:rPr lang="en-US" sz="5400" b="0" cap="none" spc="0" baseline="30000" dirty="0">
                <a:ln w="0"/>
                <a:solidFill>
                  <a:schemeClr val="tx1"/>
                </a:solidFill>
                <a:effectLst>
                  <a:outerShdw blurRad="38100" dist="19050" dir="2700000" algn="tl" rotWithShape="0">
                    <a:schemeClr val="dk1">
                      <a:alpha val="40000"/>
                    </a:schemeClr>
                  </a:outerShdw>
                </a:effectLst>
              </a:rPr>
              <a:t>11</a:t>
            </a:r>
            <a:r>
              <a:rPr lang="en-US" sz="5400" b="0" cap="none" spc="0" dirty="0">
                <a:ln w="0"/>
                <a:solidFill>
                  <a:schemeClr val="tx1"/>
                </a:solidFill>
                <a:effectLst>
                  <a:outerShdw blurRad="38100" dist="19050" dir="2700000" algn="tl" rotWithShape="0">
                    <a:schemeClr val="dk1">
                      <a:alpha val="40000"/>
                    </a:schemeClr>
                  </a:outerShdw>
                </a:effectLst>
              </a:rPr>
              <a:t>C</a:t>
            </a:r>
            <a:r>
              <a:rPr lang="en-US" sz="5400" b="0" cap="none" spc="0" baseline="-25000" dirty="0">
                <a:ln w="0"/>
                <a:solidFill>
                  <a:schemeClr val="tx1"/>
                </a:solidFill>
                <a:effectLst>
                  <a:outerShdw blurRad="38100" dist="19050" dir="2700000" algn="tl" rotWithShape="0">
                    <a:schemeClr val="dk1">
                      <a:alpha val="40000"/>
                    </a:schemeClr>
                  </a:outerShdw>
                </a:effectLst>
              </a:rPr>
              <a:t>4</a:t>
            </a:r>
            <a:r>
              <a:rPr lang="en-US" sz="5400" b="0" cap="none" spc="0" dirty="0">
                <a:ln w="0"/>
                <a:solidFill>
                  <a:schemeClr val="tx1"/>
                </a:solidFill>
                <a:effectLst>
                  <a:outerShdw blurRad="38100" dist="19050" dir="2700000" algn="tl" rotWithShape="0">
                    <a:schemeClr val="dk1">
                      <a:alpha val="40000"/>
                    </a:schemeClr>
                  </a:outerShdw>
                </a:effectLst>
              </a:rPr>
              <a:t>=</a:t>
            </a:r>
            <a:r>
              <a:rPr lang="en-US" sz="5400" b="0" cap="none" spc="0" baseline="30000" dirty="0">
                <a:ln w="0"/>
                <a:solidFill>
                  <a:schemeClr val="tx1"/>
                </a:solidFill>
                <a:effectLst>
                  <a:outerShdw blurRad="38100" dist="19050" dir="2700000" algn="tl" rotWithShape="0">
                    <a:schemeClr val="dk1">
                      <a:alpha val="40000"/>
                    </a:schemeClr>
                  </a:outerShdw>
                </a:effectLst>
              </a:rPr>
              <a:t>11</a:t>
            </a:r>
            <a:r>
              <a:rPr lang="en-US" sz="5400" b="0" cap="none" spc="0" dirty="0">
                <a:ln w="0"/>
                <a:solidFill>
                  <a:schemeClr val="tx1"/>
                </a:solidFill>
                <a:effectLst>
                  <a:outerShdw blurRad="38100" dist="19050" dir="2700000" algn="tl" rotWithShape="0">
                    <a:schemeClr val="dk1">
                      <a:alpha val="40000"/>
                    </a:schemeClr>
                  </a:outerShdw>
                </a:effectLst>
              </a:rPr>
              <a:t>C</a:t>
            </a:r>
            <a:r>
              <a:rPr lang="en-US" sz="5400" b="0" cap="none" spc="0" baseline="-25000" dirty="0">
                <a:ln w="0"/>
                <a:solidFill>
                  <a:schemeClr val="tx1"/>
                </a:solidFill>
                <a:effectLst>
                  <a:outerShdw blurRad="38100" dist="19050" dir="2700000" algn="tl" rotWithShape="0">
                    <a:schemeClr val="dk1">
                      <a:alpha val="40000"/>
                    </a:schemeClr>
                  </a:outerShdw>
                </a:effectLst>
              </a:rPr>
              <a:t>7</a:t>
            </a:r>
          </a:p>
        </p:txBody>
      </p:sp>
    </p:spTree>
    <p:extLst>
      <p:ext uri="{BB962C8B-B14F-4D97-AF65-F5344CB8AC3E}">
        <p14:creationId xmlns:p14="http://schemas.microsoft.com/office/powerpoint/2010/main" val="27527591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0868BDB-813D-43AD-9BFC-68CA4CBECFCC}"/>
              </a:ext>
            </a:extLst>
          </p:cNvPr>
          <p:cNvGrpSpPr/>
          <p:nvPr/>
        </p:nvGrpSpPr>
        <p:grpSpPr>
          <a:xfrm>
            <a:off x="811162" y="348957"/>
            <a:ext cx="4970206" cy="2880940"/>
            <a:chOff x="2642004" y="1266319"/>
            <a:chExt cx="6654018" cy="3488788"/>
          </a:xfrm>
        </p:grpSpPr>
        <p:sp>
          <p:nvSpPr>
            <p:cNvPr id="3" name="Rectangle 2">
              <a:extLst>
                <a:ext uri="{FF2B5EF4-FFF2-40B4-BE49-F238E27FC236}">
                  <a16:creationId xmlns:a16="http://schemas.microsoft.com/office/drawing/2014/main" id="{3D1A42FB-9D9C-4968-AFD0-4ED7FC60ABC6}"/>
                </a:ext>
              </a:extLst>
            </p:cNvPr>
            <p:cNvSpPr/>
            <p:nvPr/>
          </p:nvSpPr>
          <p:spPr>
            <a:xfrm>
              <a:off x="2642004" y="1266319"/>
              <a:ext cx="6654018" cy="3488788"/>
            </a:xfrm>
            <a:prstGeom prst="rect">
              <a:avLst/>
            </a:prstGeom>
            <a:noFill/>
            <a:ln w="730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 name="Straight Connector 3">
              <a:extLst>
                <a:ext uri="{FF2B5EF4-FFF2-40B4-BE49-F238E27FC236}">
                  <a16:creationId xmlns:a16="http://schemas.microsoft.com/office/drawing/2014/main" id="{D83F554A-788D-4F42-8DC5-B09944E4A819}"/>
                </a:ext>
              </a:extLst>
            </p:cNvPr>
            <p:cNvCxnSpPr/>
            <p:nvPr/>
          </p:nvCxnSpPr>
          <p:spPr>
            <a:xfrm>
              <a:off x="2642004" y="2020529"/>
              <a:ext cx="6654018" cy="0"/>
            </a:xfrm>
            <a:prstGeom prst="line">
              <a:avLst/>
            </a:prstGeom>
            <a:ln w="53975"/>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DF0B5C3-D42D-4AED-BFB8-37FEE572A759}"/>
                </a:ext>
              </a:extLst>
            </p:cNvPr>
            <p:cNvCxnSpPr/>
            <p:nvPr/>
          </p:nvCxnSpPr>
          <p:spPr>
            <a:xfrm>
              <a:off x="2642004" y="3913239"/>
              <a:ext cx="6654018" cy="0"/>
            </a:xfrm>
            <a:prstGeom prst="line">
              <a:avLst/>
            </a:prstGeom>
            <a:ln w="53975"/>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B56BB9A-9B38-4CEC-A890-C053AB260574}"/>
                </a:ext>
              </a:extLst>
            </p:cNvPr>
            <p:cNvCxnSpPr/>
            <p:nvPr/>
          </p:nvCxnSpPr>
          <p:spPr>
            <a:xfrm>
              <a:off x="2642004" y="2941887"/>
              <a:ext cx="6654018" cy="0"/>
            </a:xfrm>
            <a:prstGeom prst="line">
              <a:avLst/>
            </a:prstGeom>
            <a:ln w="53975"/>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78437DE-0F9F-45A8-AEE8-876601710A71}"/>
                </a:ext>
              </a:extLst>
            </p:cNvPr>
            <p:cNvCxnSpPr/>
            <p:nvPr/>
          </p:nvCxnSpPr>
          <p:spPr>
            <a:xfrm>
              <a:off x="3569110" y="1266319"/>
              <a:ext cx="0" cy="348878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54712C0-7D6A-45D9-9050-AC8BFF95DBFC}"/>
                </a:ext>
              </a:extLst>
            </p:cNvPr>
            <p:cNvCxnSpPr/>
            <p:nvPr/>
          </p:nvCxnSpPr>
          <p:spPr>
            <a:xfrm>
              <a:off x="4473677" y="1266319"/>
              <a:ext cx="0" cy="348878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8D10159-10E2-4C9F-9BBB-E027CC47C860}"/>
                </a:ext>
              </a:extLst>
            </p:cNvPr>
            <p:cNvCxnSpPr/>
            <p:nvPr/>
          </p:nvCxnSpPr>
          <p:spPr>
            <a:xfrm>
              <a:off x="8426245" y="1266319"/>
              <a:ext cx="0" cy="348878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A09458-EC24-4B24-9F03-431064629620}"/>
                </a:ext>
              </a:extLst>
            </p:cNvPr>
            <p:cNvCxnSpPr/>
            <p:nvPr/>
          </p:nvCxnSpPr>
          <p:spPr>
            <a:xfrm>
              <a:off x="7423355" y="1266319"/>
              <a:ext cx="0" cy="348878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EC3EB9-9C69-4FC7-8642-8BF9D70F1A42}"/>
                </a:ext>
              </a:extLst>
            </p:cNvPr>
            <p:cNvCxnSpPr/>
            <p:nvPr/>
          </p:nvCxnSpPr>
          <p:spPr>
            <a:xfrm>
              <a:off x="6435213" y="1266319"/>
              <a:ext cx="0" cy="348878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8DCE82-70E1-40EE-BA88-30C634E894D7}"/>
                </a:ext>
              </a:extLst>
            </p:cNvPr>
            <p:cNvCxnSpPr/>
            <p:nvPr/>
          </p:nvCxnSpPr>
          <p:spPr>
            <a:xfrm>
              <a:off x="5447071" y="1266319"/>
              <a:ext cx="0" cy="348878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9DAE9BEE-2E2D-4AB2-8178-1686362FE052}"/>
              </a:ext>
            </a:extLst>
          </p:cNvPr>
          <p:cNvSpPr txBox="1"/>
          <p:nvPr/>
        </p:nvSpPr>
        <p:spPr>
          <a:xfrm>
            <a:off x="217722" y="3673878"/>
            <a:ext cx="11852284" cy="1323439"/>
          </a:xfrm>
          <a:prstGeom prst="rect">
            <a:avLst/>
          </a:prstGeom>
          <a:noFill/>
        </p:spPr>
        <p:txBody>
          <a:bodyPr wrap="none" rtlCol="0">
            <a:spAutoFit/>
          </a:bodyPr>
          <a:lstStyle/>
          <a:p>
            <a:r>
              <a:rPr lang="en-IN" sz="2800" b="1" dirty="0"/>
              <a:t>The movement can be encoded by a vector of length  11 (=7+4)  with elements</a:t>
            </a:r>
          </a:p>
          <a:p>
            <a:r>
              <a:rPr lang="en-IN" sz="2800" b="1" dirty="0"/>
              <a:t> 0 and 1.  If 0 represent forward move,  then 1 represent  upward move</a:t>
            </a:r>
            <a:r>
              <a:rPr lang="en-IN" sz="2400" dirty="0"/>
              <a:t>. </a:t>
            </a:r>
          </a:p>
          <a:p>
            <a:r>
              <a:rPr lang="en-IN" sz="2400" dirty="0"/>
              <a:t> </a:t>
            </a:r>
            <a:r>
              <a:rPr lang="en-IN" sz="2400" b="1" dirty="0"/>
              <a:t>Then the string should have 7 zeros and 4 ones as given below.</a:t>
            </a:r>
          </a:p>
        </p:txBody>
      </p:sp>
      <p:graphicFrame>
        <p:nvGraphicFramePr>
          <p:cNvPr id="14" name="Object 13">
            <a:extLst>
              <a:ext uri="{FF2B5EF4-FFF2-40B4-BE49-F238E27FC236}">
                <a16:creationId xmlns:a16="http://schemas.microsoft.com/office/drawing/2014/main" id="{E8216841-5834-4C27-9A26-D84414656F60}"/>
              </a:ext>
            </a:extLst>
          </p:cNvPr>
          <p:cNvGraphicFramePr>
            <a:graphicFrameLocks noChangeAspect="1"/>
          </p:cNvGraphicFramePr>
          <p:nvPr>
            <p:extLst>
              <p:ext uri="{D42A27DB-BD31-4B8C-83A1-F6EECF244321}">
                <p14:modId xmlns:p14="http://schemas.microsoft.com/office/powerpoint/2010/main" val="938041579"/>
              </p:ext>
            </p:extLst>
          </p:nvPr>
        </p:nvGraphicFramePr>
        <p:xfrm>
          <a:off x="591528" y="5314327"/>
          <a:ext cx="9080321" cy="750735"/>
        </p:xfrm>
        <a:graphic>
          <a:graphicData uri="http://schemas.openxmlformats.org/presentationml/2006/ole">
            <mc:AlternateContent xmlns:mc="http://schemas.openxmlformats.org/markup-compatibility/2006">
              <mc:Choice xmlns:v="urn:schemas-microsoft-com:vml" Requires="v">
                <p:oleObj name="Equation" r:id="rId2" imgW="3225600" imgH="266400" progId="Equation.DSMT4">
                  <p:embed/>
                </p:oleObj>
              </mc:Choice>
              <mc:Fallback>
                <p:oleObj name="Equation" r:id="rId2" imgW="3225600" imgH="266400" progId="Equation.DSMT4">
                  <p:embed/>
                  <p:pic>
                    <p:nvPicPr>
                      <p:cNvPr id="0" name=""/>
                      <p:cNvPicPr/>
                      <p:nvPr/>
                    </p:nvPicPr>
                    <p:blipFill>
                      <a:blip r:embed="rId3"/>
                      <a:stretch>
                        <a:fillRect/>
                      </a:stretch>
                    </p:blipFill>
                    <p:spPr>
                      <a:xfrm>
                        <a:off x="591528" y="5314327"/>
                        <a:ext cx="9080321" cy="750735"/>
                      </a:xfrm>
                      <a:prstGeom prst="rect">
                        <a:avLst/>
                      </a:prstGeom>
                    </p:spPr>
                  </p:pic>
                </p:oleObj>
              </mc:Fallback>
            </mc:AlternateContent>
          </a:graphicData>
        </a:graphic>
      </p:graphicFrame>
      <p:cxnSp>
        <p:nvCxnSpPr>
          <p:cNvPr id="16" name="Straight Connector 15">
            <a:extLst>
              <a:ext uri="{FF2B5EF4-FFF2-40B4-BE49-F238E27FC236}">
                <a16:creationId xmlns:a16="http://schemas.microsoft.com/office/drawing/2014/main" id="{6CA21AD5-6F98-460B-A836-2EC85DBAFC90}"/>
              </a:ext>
            </a:extLst>
          </p:cNvPr>
          <p:cNvCxnSpPr>
            <a:cxnSpLocks/>
          </p:cNvCxnSpPr>
          <p:nvPr/>
        </p:nvCxnSpPr>
        <p:spPr>
          <a:xfrm>
            <a:off x="811162" y="3229897"/>
            <a:ext cx="2095239" cy="0"/>
          </a:xfrm>
          <a:prstGeom prst="line">
            <a:avLst/>
          </a:prstGeom>
          <a:ln w="1143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52F8612-FB10-4A69-A11E-CC633CC53CC0}"/>
              </a:ext>
            </a:extLst>
          </p:cNvPr>
          <p:cNvCxnSpPr/>
          <p:nvPr/>
        </p:nvCxnSpPr>
        <p:spPr>
          <a:xfrm flipV="1">
            <a:off x="2906401" y="2534707"/>
            <a:ext cx="0" cy="69519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02EC170-366B-4041-93FD-55329EE8B693}"/>
              </a:ext>
            </a:extLst>
          </p:cNvPr>
          <p:cNvCxnSpPr>
            <a:cxnSpLocks/>
          </p:cNvCxnSpPr>
          <p:nvPr/>
        </p:nvCxnSpPr>
        <p:spPr>
          <a:xfrm>
            <a:off x="2906401" y="2524875"/>
            <a:ext cx="2225289" cy="9832"/>
          </a:xfrm>
          <a:prstGeom prst="line">
            <a:avLst/>
          </a:prstGeom>
          <a:ln w="1143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BB7669A-50D9-403E-9311-318D8A4424FC}"/>
              </a:ext>
            </a:extLst>
          </p:cNvPr>
          <p:cNvCxnSpPr>
            <a:cxnSpLocks/>
          </p:cNvCxnSpPr>
          <p:nvPr/>
        </p:nvCxnSpPr>
        <p:spPr>
          <a:xfrm flipV="1">
            <a:off x="5131690" y="1732592"/>
            <a:ext cx="0" cy="792283"/>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07F2F6D-FDDF-48A2-B4AA-8350D97438BD}"/>
              </a:ext>
            </a:extLst>
          </p:cNvPr>
          <p:cNvCxnSpPr/>
          <p:nvPr/>
        </p:nvCxnSpPr>
        <p:spPr>
          <a:xfrm flipV="1">
            <a:off x="5131690" y="971762"/>
            <a:ext cx="0" cy="69519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A93B6D0-A76C-4284-AB1A-497FED9B9B3E}"/>
              </a:ext>
            </a:extLst>
          </p:cNvPr>
          <p:cNvCxnSpPr>
            <a:cxnSpLocks/>
          </p:cNvCxnSpPr>
          <p:nvPr/>
        </p:nvCxnSpPr>
        <p:spPr>
          <a:xfrm flipV="1">
            <a:off x="5131689" y="961930"/>
            <a:ext cx="649679" cy="4915"/>
          </a:xfrm>
          <a:prstGeom prst="line">
            <a:avLst/>
          </a:prstGeom>
          <a:ln w="1143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77F0AB0-D6CF-41BE-9CB8-649BDB637DE9}"/>
              </a:ext>
            </a:extLst>
          </p:cNvPr>
          <p:cNvCxnSpPr>
            <a:cxnSpLocks/>
          </p:cNvCxnSpPr>
          <p:nvPr/>
        </p:nvCxnSpPr>
        <p:spPr>
          <a:xfrm flipV="1">
            <a:off x="5829781" y="348957"/>
            <a:ext cx="0" cy="612973"/>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0BC0915-A4C0-4F5F-8367-9AB24BCCC595}"/>
              </a:ext>
            </a:extLst>
          </p:cNvPr>
          <p:cNvSpPr txBox="1"/>
          <p:nvPr/>
        </p:nvSpPr>
        <p:spPr>
          <a:xfrm>
            <a:off x="420212" y="3184122"/>
            <a:ext cx="867545" cy="523220"/>
          </a:xfrm>
          <a:prstGeom prst="rect">
            <a:avLst/>
          </a:prstGeom>
          <a:noFill/>
        </p:spPr>
        <p:txBody>
          <a:bodyPr wrap="none" rtlCol="0">
            <a:spAutoFit/>
          </a:bodyPr>
          <a:lstStyle/>
          <a:p>
            <a:r>
              <a:rPr lang="en-IN" sz="2800" b="1" dirty="0"/>
              <a:t>(0,0)</a:t>
            </a:r>
          </a:p>
        </p:txBody>
      </p:sp>
      <p:sp>
        <p:nvSpPr>
          <p:cNvPr id="29" name="TextBox 28">
            <a:extLst>
              <a:ext uri="{FF2B5EF4-FFF2-40B4-BE49-F238E27FC236}">
                <a16:creationId xmlns:a16="http://schemas.microsoft.com/office/drawing/2014/main" id="{A00BD279-96EE-4DE5-AED0-46401588CC3D}"/>
              </a:ext>
            </a:extLst>
          </p:cNvPr>
          <p:cNvSpPr txBox="1"/>
          <p:nvPr/>
        </p:nvSpPr>
        <p:spPr>
          <a:xfrm>
            <a:off x="5885340" y="173332"/>
            <a:ext cx="867545" cy="523220"/>
          </a:xfrm>
          <a:prstGeom prst="rect">
            <a:avLst/>
          </a:prstGeom>
          <a:noFill/>
        </p:spPr>
        <p:txBody>
          <a:bodyPr wrap="none" rtlCol="0">
            <a:spAutoFit/>
          </a:bodyPr>
          <a:lstStyle/>
          <a:p>
            <a:r>
              <a:rPr lang="en-IN" sz="2800" b="1" dirty="0"/>
              <a:t>(7,4)</a:t>
            </a:r>
          </a:p>
        </p:txBody>
      </p:sp>
      <p:sp>
        <p:nvSpPr>
          <p:cNvPr id="15" name="TextBox 14">
            <a:extLst>
              <a:ext uri="{FF2B5EF4-FFF2-40B4-BE49-F238E27FC236}">
                <a16:creationId xmlns:a16="http://schemas.microsoft.com/office/drawing/2014/main" id="{E19044C0-81A0-402F-AEF5-9F6AA1B88127}"/>
              </a:ext>
            </a:extLst>
          </p:cNvPr>
          <p:cNvSpPr txBox="1"/>
          <p:nvPr/>
        </p:nvSpPr>
        <p:spPr>
          <a:xfrm>
            <a:off x="6143864" y="1282515"/>
            <a:ext cx="4808752" cy="1077218"/>
          </a:xfrm>
          <a:prstGeom prst="rect">
            <a:avLst/>
          </a:prstGeom>
          <a:noFill/>
        </p:spPr>
        <p:txBody>
          <a:bodyPr wrap="none" rtlCol="0">
            <a:spAutoFit/>
          </a:bodyPr>
          <a:lstStyle/>
          <a:p>
            <a:r>
              <a:rPr lang="en-IN" sz="3200" b="1" dirty="0"/>
              <a:t>Path (green line segments) </a:t>
            </a:r>
          </a:p>
          <a:p>
            <a:r>
              <a:rPr lang="en-IN" sz="3200" b="1" dirty="0"/>
              <a:t>for   00010001101</a:t>
            </a:r>
          </a:p>
        </p:txBody>
      </p:sp>
      <p:cxnSp>
        <p:nvCxnSpPr>
          <p:cNvPr id="18" name="Straight Arrow Connector 17">
            <a:extLst>
              <a:ext uri="{FF2B5EF4-FFF2-40B4-BE49-F238E27FC236}">
                <a16:creationId xmlns:a16="http://schemas.microsoft.com/office/drawing/2014/main" id="{073A5539-1A9B-4FB7-87E5-7F1F592C453A}"/>
              </a:ext>
            </a:extLst>
          </p:cNvPr>
          <p:cNvCxnSpPr>
            <a:cxnSpLocks/>
          </p:cNvCxnSpPr>
          <p:nvPr/>
        </p:nvCxnSpPr>
        <p:spPr>
          <a:xfrm flipH="1" flipV="1">
            <a:off x="5140920" y="1490373"/>
            <a:ext cx="1031398" cy="84530"/>
          </a:xfrm>
          <a:prstGeom prst="straightConnector1">
            <a:avLst/>
          </a:prstGeom>
          <a:ln w="349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45481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D4F7039-C721-4753-91D3-A3B9824C6ACD}"/>
              </a:ext>
            </a:extLst>
          </p:cNvPr>
          <p:cNvSpPr/>
          <p:nvPr/>
        </p:nvSpPr>
        <p:spPr>
          <a:xfrm>
            <a:off x="235974" y="371620"/>
            <a:ext cx="11956025" cy="2277547"/>
          </a:xfrm>
          <a:prstGeom prst="rect">
            <a:avLst/>
          </a:prstGeom>
          <a:noFill/>
        </p:spPr>
        <p:txBody>
          <a:bodyPr wrap="square" lIns="91440" tIns="45720" rIns="91440" bIns="45720">
            <a:spAutoFit/>
          </a:bodyPr>
          <a:lstStyle/>
          <a:p>
            <a:r>
              <a:rPr lang="en-US" sz="4400" b="0" cap="none" spc="0" dirty="0">
                <a:ln w="0"/>
                <a:solidFill>
                  <a:schemeClr val="tx1"/>
                </a:solidFill>
                <a:effectLst>
                  <a:outerShdw blurRad="38100" dist="19050" dir="2700000" algn="tl" rotWithShape="0">
                    <a:schemeClr val="dk1">
                      <a:alpha val="40000"/>
                    </a:schemeClr>
                  </a:outerShdw>
                </a:effectLst>
              </a:rPr>
              <a:t>In </a:t>
            </a:r>
            <a:r>
              <a:rPr lang="en-US" sz="4400" b="0" cap="none" spc="0" dirty="0" err="1">
                <a:ln w="0"/>
                <a:solidFill>
                  <a:schemeClr val="tx1"/>
                </a:solidFill>
                <a:effectLst>
                  <a:outerShdw blurRad="38100" dist="19050" dir="2700000" algn="tl" rotWithShape="0">
                    <a:schemeClr val="dk1">
                      <a:alpha val="40000"/>
                    </a:schemeClr>
                  </a:outerShdw>
                </a:effectLst>
              </a:rPr>
              <a:t>Matlab</a:t>
            </a:r>
            <a:r>
              <a:rPr lang="en-US" sz="4400" b="0" cap="none" spc="0" dirty="0">
                <a:ln w="0"/>
                <a:solidFill>
                  <a:schemeClr val="tx1"/>
                </a:solidFill>
                <a:effectLst>
                  <a:outerShdw blurRad="38100" dist="19050" dir="2700000" algn="tl" rotWithShape="0">
                    <a:schemeClr val="dk1">
                      <a:alpha val="40000"/>
                    </a:schemeClr>
                  </a:outerShdw>
                </a:effectLst>
              </a:rPr>
              <a:t> how will you randomly generate a ve</a:t>
            </a:r>
            <a:r>
              <a:rPr lang="en-US" sz="4400" dirty="0">
                <a:ln w="0"/>
                <a:effectLst>
                  <a:outerShdw blurRad="38100" dist="19050" dir="2700000" algn="tl" rotWithShape="0">
                    <a:schemeClr val="dk1">
                      <a:alpha val="40000"/>
                    </a:schemeClr>
                  </a:outerShdw>
                </a:effectLst>
              </a:rPr>
              <a:t>ctor with 7 zeros and 4 ones.</a:t>
            </a:r>
            <a:r>
              <a:rPr lang="en-US" sz="4400" b="0" cap="none" spc="0" dirty="0">
                <a:ln w="0"/>
                <a:solidFill>
                  <a:schemeClr val="tx1"/>
                </a:solidFill>
                <a:effectLst>
                  <a:outerShdw blurRad="38100" dist="19050" dir="2700000" algn="tl" rotWithShape="0">
                    <a:schemeClr val="dk1">
                      <a:alpha val="40000"/>
                    </a:schemeClr>
                  </a:outerShdw>
                </a:effectLst>
              </a:rPr>
              <a:t> How will you plot it?</a:t>
            </a:r>
          </a:p>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3" name="Rectangle 2">
            <a:extLst>
              <a:ext uri="{FF2B5EF4-FFF2-40B4-BE49-F238E27FC236}">
                <a16:creationId xmlns:a16="http://schemas.microsoft.com/office/drawing/2014/main" id="{B90320FB-64CD-437D-8F8D-984AC3B988B7}"/>
              </a:ext>
            </a:extLst>
          </p:cNvPr>
          <p:cNvSpPr/>
          <p:nvPr/>
        </p:nvSpPr>
        <p:spPr>
          <a:xfrm>
            <a:off x="567406" y="2423730"/>
            <a:ext cx="11624594" cy="4308872"/>
          </a:xfrm>
          <a:prstGeom prst="rect">
            <a:avLst/>
          </a:prstGeom>
          <a:noFill/>
        </p:spPr>
        <p:txBody>
          <a:bodyPr wrap="square" lIns="91440" tIns="45720" rIns="91440" bIns="45720">
            <a:spAutoFit/>
          </a:bodyPr>
          <a:lstStyle/>
          <a:p>
            <a:r>
              <a:rPr lang="en-US" sz="5400" b="0" cap="none" spc="0" dirty="0">
                <a:ln w="0"/>
                <a:solidFill>
                  <a:schemeClr val="tx1"/>
                </a:solidFill>
                <a:effectLst>
                  <a:outerShdw blurRad="38100" dist="19050" dir="2700000" algn="tl" rotWithShape="0">
                    <a:schemeClr val="dk1">
                      <a:alpha val="40000"/>
                    </a:schemeClr>
                  </a:outerShdw>
                </a:effectLst>
              </a:rPr>
              <a:t>One solution:</a:t>
            </a:r>
          </a:p>
          <a:p>
            <a:r>
              <a:rPr lang="en-US" sz="4400" dirty="0">
                <a:ln w="0"/>
                <a:effectLst>
                  <a:outerShdw blurRad="38100" dist="19050" dir="2700000" algn="tl" rotWithShape="0">
                    <a:schemeClr val="dk1">
                      <a:alpha val="40000"/>
                    </a:schemeClr>
                  </a:outerShdw>
                </a:effectLst>
              </a:rPr>
              <a:t>Initialize an array of length 11 with zeroes</a:t>
            </a:r>
          </a:p>
          <a:p>
            <a:r>
              <a:rPr lang="en-US" sz="4400" dirty="0">
                <a:ln w="0"/>
                <a:effectLst>
                  <a:outerShdw blurRad="38100" dist="19050" dir="2700000" algn="tl" rotWithShape="0">
                    <a:schemeClr val="dk1">
                      <a:alpha val="40000"/>
                    </a:schemeClr>
                  </a:outerShdw>
                </a:effectLst>
              </a:rPr>
              <a:t>Select 4 indices from 1 to 11 randomly.</a:t>
            </a:r>
          </a:p>
          <a:p>
            <a:r>
              <a:rPr lang="en-US" sz="4400" b="0" cap="none" spc="0" dirty="0">
                <a:ln w="0"/>
                <a:solidFill>
                  <a:schemeClr val="tx1"/>
                </a:solidFill>
                <a:effectLst>
                  <a:outerShdw blurRad="38100" dist="19050" dir="2700000" algn="tl" rotWithShape="0">
                    <a:schemeClr val="dk1">
                      <a:alpha val="40000"/>
                    </a:schemeClr>
                  </a:outerShdw>
                </a:effectLst>
              </a:rPr>
              <a:t>At these locations put 1 in the array.</a:t>
            </a:r>
          </a:p>
          <a:p>
            <a:r>
              <a:rPr lang="en-US" sz="4400" dirty="0">
                <a:ln w="0"/>
                <a:effectLst>
                  <a:outerShdw blurRad="38100" dist="19050" dir="2700000" algn="tl" rotWithShape="0">
                    <a:schemeClr val="dk1">
                      <a:alpha val="40000"/>
                    </a:schemeClr>
                  </a:outerShdw>
                </a:effectLst>
              </a:rPr>
              <a:t>Generate and x and y coordinates for the path</a:t>
            </a:r>
          </a:p>
          <a:p>
            <a:r>
              <a:rPr lang="en-US" sz="4400" b="0" cap="none" spc="0" dirty="0">
                <a:ln w="0"/>
                <a:solidFill>
                  <a:schemeClr val="tx1"/>
                </a:solidFill>
                <a:effectLst>
                  <a:outerShdw blurRad="38100" dist="19050" dir="2700000" algn="tl" rotWithShape="0">
                    <a:schemeClr val="dk1">
                      <a:alpha val="40000"/>
                    </a:schemeClr>
                  </a:outerShdw>
                </a:effectLst>
              </a:rPr>
              <a:t>Plot the line segments</a:t>
            </a:r>
          </a:p>
        </p:txBody>
      </p:sp>
    </p:spTree>
    <p:extLst>
      <p:ext uri="{BB962C8B-B14F-4D97-AF65-F5344CB8AC3E}">
        <p14:creationId xmlns:p14="http://schemas.microsoft.com/office/powerpoint/2010/main" val="8987851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8E118D-BCD6-4162-8186-61228E4E59AA}"/>
              </a:ext>
            </a:extLst>
          </p:cNvPr>
          <p:cNvSpPr/>
          <p:nvPr/>
        </p:nvSpPr>
        <p:spPr>
          <a:xfrm>
            <a:off x="318525" y="278663"/>
            <a:ext cx="11873475" cy="1754326"/>
          </a:xfrm>
          <a:prstGeom prst="rect">
            <a:avLst/>
          </a:prstGeom>
          <a:noFill/>
        </p:spPr>
        <p:txBody>
          <a:bodyPr wrap="squar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In </a:t>
            </a:r>
            <a:r>
              <a:rPr lang="en-US" sz="5400" b="0" cap="none" spc="0" dirty="0" err="1">
                <a:ln w="0"/>
                <a:solidFill>
                  <a:schemeClr val="tx1"/>
                </a:solidFill>
                <a:effectLst>
                  <a:outerShdw blurRad="38100" dist="19050" dir="2700000" algn="tl" rotWithShape="0">
                    <a:schemeClr val="dk1">
                      <a:alpha val="40000"/>
                    </a:schemeClr>
                  </a:outerShdw>
                </a:effectLst>
              </a:rPr>
              <a:t>Matlab</a:t>
            </a:r>
            <a:r>
              <a:rPr lang="en-US" sz="5400" b="0" cap="none" spc="0" dirty="0">
                <a:ln w="0"/>
                <a:solidFill>
                  <a:schemeClr val="tx1"/>
                </a:solidFill>
                <a:effectLst>
                  <a:outerShdw blurRad="38100" dist="19050" dir="2700000" algn="tl" rotWithShape="0">
                    <a:schemeClr val="dk1">
                      <a:alpha val="40000"/>
                    </a:schemeClr>
                  </a:outerShdw>
                </a:effectLst>
              </a:rPr>
              <a:t>, How will you generate </a:t>
            </a:r>
          </a:p>
          <a:p>
            <a:pPr algn="ctr"/>
            <a:r>
              <a:rPr lang="en-US" sz="5400" dirty="0">
                <a:ln w="0"/>
                <a:effectLst>
                  <a:outerShdw blurRad="38100" dist="19050" dir="2700000" algn="tl" rotWithShape="0">
                    <a:schemeClr val="dk1">
                      <a:alpha val="40000"/>
                    </a:schemeClr>
                  </a:outerShdw>
                </a:effectLst>
              </a:rPr>
              <a:t>The 0-1 code for </a:t>
            </a:r>
            <a:r>
              <a:rPr lang="en-US" sz="5400" b="0" cap="none" spc="0" dirty="0">
                <a:ln w="0"/>
                <a:solidFill>
                  <a:schemeClr val="tx1"/>
                </a:solidFill>
                <a:effectLst>
                  <a:outerShdw blurRad="38100" dist="19050" dir="2700000" algn="tl" rotWithShape="0">
                    <a:schemeClr val="dk1">
                      <a:alpha val="40000"/>
                    </a:schemeClr>
                  </a:outerShdw>
                </a:effectLst>
              </a:rPr>
              <a:t>all paths</a:t>
            </a:r>
          </a:p>
        </p:txBody>
      </p:sp>
    </p:spTree>
    <p:extLst>
      <p:ext uri="{BB962C8B-B14F-4D97-AF65-F5344CB8AC3E}">
        <p14:creationId xmlns:p14="http://schemas.microsoft.com/office/powerpoint/2010/main" val="21581980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2051</TotalTime>
  <Words>942</Words>
  <Application>Microsoft Office PowerPoint</Application>
  <PresentationFormat>Widescreen</PresentationFormat>
  <Paragraphs>108</Paragraphs>
  <Slides>52</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63" baseType="lpstr">
      <vt:lpstr>Arial</vt:lpstr>
      <vt:lpstr>Calibri</vt:lpstr>
      <vt:lpstr>Calibri Light</vt:lpstr>
      <vt:lpstr>Courier New</vt:lpstr>
      <vt:lpstr>Independent Sans</vt:lpstr>
      <vt:lpstr>Independent Serif</vt:lpstr>
      <vt:lpstr>Lucida Grande</vt:lpstr>
      <vt:lpstr>Mallory</vt:lpstr>
      <vt:lpstr>YaleNew</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Dr. Soman K.P (CEN)</cp:lastModifiedBy>
  <cp:revision>98</cp:revision>
  <cp:lastPrinted>2019-12-04T14:59:39Z</cp:lastPrinted>
  <dcterms:created xsi:type="dcterms:W3CDTF">2019-12-03T01:58:49Z</dcterms:created>
  <dcterms:modified xsi:type="dcterms:W3CDTF">2022-10-21T15:08:08Z</dcterms:modified>
</cp:coreProperties>
</file>