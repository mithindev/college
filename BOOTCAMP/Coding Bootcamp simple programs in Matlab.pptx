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7" r:id="rId7"/>
    <p:sldId id="264" r:id="rId8"/>
    <p:sldId id="265" r:id="rId9"/>
    <p:sldId id="266" r:id="rId10"/>
    <p:sldId id="267" r:id="rId11"/>
    <p:sldId id="353" r:id="rId12"/>
    <p:sldId id="341" r:id="rId13"/>
    <p:sldId id="302" r:id="rId14"/>
    <p:sldId id="303" r:id="rId15"/>
    <p:sldId id="306" r:id="rId16"/>
    <p:sldId id="307" r:id="rId17"/>
    <p:sldId id="308" r:id="rId18"/>
    <p:sldId id="275" r:id="rId19"/>
    <p:sldId id="276" r:id="rId20"/>
    <p:sldId id="271" r:id="rId21"/>
    <p:sldId id="272" r:id="rId22"/>
    <p:sldId id="352" r:id="rId23"/>
    <p:sldId id="1199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268" r:id="rId37"/>
    <p:sldId id="1194" r:id="rId38"/>
    <p:sldId id="1195" r:id="rId39"/>
    <p:sldId id="1196" r:id="rId40"/>
    <p:sldId id="1197" r:id="rId41"/>
    <p:sldId id="1198" r:id="rId42"/>
    <p:sldId id="358" r:id="rId43"/>
    <p:sldId id="359" r:id="rId44"/>
    <p:sldId id="360" r:id="rId45"/>
    <p:sldId id="354" r:id="rId46"/>
    <p:sldId id="355" r:id="rId47"/>
    <p:sldId id="258" r:id="rId48"/>
    <p:sldId id="259" r:id="rId49"/>
    <p:sldId id="356" r:id="rId50"/>
    <p:sldId id="35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2080-7CD1-A710-1658-DDA8FBBC0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D693F-4658-C0E9-5C2E-13FE140BD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C5B23-D05E-03E9-CEC1-0EB677A2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F64CE-35C9-373A-A151-96CAE820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0F086-91AD-E026-0376-B277106A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50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EC03-C2C2-4043-CF34-5BBDEF4F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F5D5E-B00B-707D-CCC3-878079A85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54D8C-8B9A-04F5-E174-E5D682A2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10681-BD8F-777E-86A2-6D9C68FF8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44053-189D-72BD-DF58-68621D15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59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4CCE-1F92-65E0-4D7D-B115204F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9C036-E7E2-5D94-DBA9-934856DA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2717D-FCDF-ACC0-2295-147BC243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535CE-DBED-B63C-9C70-0F49397C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C0758-B317-5E20-CC29-E5D0C126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77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2A50-040F-535D-FDC7-BB78658C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DDC6-88DB-E683-7609-0C8A17D4E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48B70-D6CC-D458-D527-A847E326A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98BEE-8245-CA1A-BF01-02D6AAD4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406A5-13E3-FFBB-7199-E3D1D9D0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28F9F-A782-16C3-3FC0-410F1FC8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21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0284-BCC5-B811-91F2-45CB272A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A6D83-0471-3E99-9ACA-79E5EDEC5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ACB95-B651-C8C1-F285-EBC9A4877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25246-D838-5870-D336-BD71E1771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A365A-6A41-BB03-9633-7BDAA65F3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076E5-CA21-BD9C-9783-9738692B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41E3-B883-8BDE-914A-0C83B209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CE177-F4E0-A4F9-AC7E-C3D71379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45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775D-6B89-8C90-ACD0-071CB6F6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4B73A-7EA8-F838-52BB-2D933A9B9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85996-7A71-6C48-3C1A-B43CBE09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8B86C-B2E2-5293-BD58-7B49DC5B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2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81B5A-1860-12FE-4DB5-08D9F8B23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55246-8520-5C26-4514-4C067E53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6A389-0F8D-9B4C-912B-96DF3962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76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76E0-296A-9C0D-8CC4-F415A742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0D8D-EA07-0A89-D92D-91BFC6F39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5C15E-FC16-ECED-8F69-920B1E498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55FD3-5563-560E-7F77-0921CE12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C0C45-F887-3A40-1A32-B437D145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EC587-7979-AAD3-F481-8F9914CF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73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8AA1-553E-373E-75B2-F72728A6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F1A3F-088E-4603-E594-89ECA4FF0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C365A-82A6-83E7-EBA0-6720AD7D3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456AD-D5D5-804F-2649-6B760C49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7E82D-1DFA-915C-3D97-BAF8BCE3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9C0D0-EDE8-5BD7-79FD-2CAD1C58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70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63C9-9CDB-FBDE-AFB0-0FBBC03A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76735-7822-F7E1-0D75-43E0F15EC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64CAF-365F-85A1-C580-BF11A9BF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BBA7A-ED5E-9442-9BC4-C1757920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5B9CB-CECA-01D9-4036-FEFC68A3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F64D2-89B3-E5DE-A827-97A0F5253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D307E-0DAE-DA3F-A476-DDE95C7FE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CAA94-6E65-AB52-E8A9-95106D996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02CE-1E7B-D958-360A-D56A20A4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5961-36F9-674F-DBF7-092936A5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92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ADC52-3B05-7854-4741-DE34263C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75833-6329-EC33-E73C-9691B95AA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3AAAD-3197-9B20-52BF-2F49CA8E2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272C8-BC92-43CE-8A8C-F09B8FEE439D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837E5-358E-507E-2A62-77A2EED0C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2CD21-E80E-B5C4-C9C8-CD135B04B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E871F-E32A-4751-9328-89139038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1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E1AB09-4FAF-5899-CA99-C0292B262E3E}"/>
              </a:ext>
            </a:extLst>
          </p:cNvPr>
          <p:cNvSpPr/>
          <p:nvPr/>
        </p:nvSpPr>
        <p:spPr>
          <a:xfrm>
            <a:off x="2403471" y="1334478"/>
            <a:ext cx="70118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code for Starters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1C89F-BF80-F52C-560E-4BE9ECCF9F18}"/>
              </a:ext>
            </a:extLst>
          </p:cNvPr>
          <p:cNvSpPr/>
          <p:nvPr/>
        </p:nvSpPr>
        <p:spPr>
          <a:xfrm>
            <a:off x="822961" y="3576935"/>
            <a:ext cx="10347063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CSE-AI First year ‘Coding Bootcamp’ </a:t>
            </a:r>
          </a:p>
        </p:txBody>
      </p:sp>
    </p:spTree>
    <p:extLst>
      <p:ext uri="{BB962C8B-B14F-4D97-AF65-F5344CB8AC3E}">
        <p14:creationId xmlns:p14="http://schemas.microsoft.com/office/powerpoint/2010/main" val="331618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14F603-44EF-ECAC-F3CE-5F049BE8E803}"/>
              </a:ext>
            </a:extLst>
          </p:cNvPr>
          <p:cNvSpPr txBox="1"/>
          <p:nvPr/>
        </p:nvSpPr>
        <p:spPr>
          <a:xfrm>
            <a:off x="3728358" y="1128824"/>
            <a:ext cx="2880048" cy="3354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008013"/>
                </a:solidFill>
                <a:effectLst/>
                <a:latin typeface="Menlo"/>
              </a:rPr>
              <a:t>%Program 2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b="0" i="0" dirty="0">
                <a:solidFill>
                  <a:srgbClr val="008013"/>
                </a:solidFill>
                <a:effectLst/>
                <a:latin typeface="Menlo"/>
              </a:rPr>
              <a:t>%Add 1 to 100 odd numbers </a:t>
            </a:r>
            <a:endParaRPr lang="en-IN" b="0" i="0" dirty="0">
              <a:effectLst/>
              <a:latin typeface="Menlo"/>
            </a:endParaRPr>
          </a:p>
          <a:p>
            <a:r>
              <a:rPr lang="en-IN" sz="3200" b="0" i="0" dirty="0">
                <a:effectLst/>
                <a:latin typeface="Menlo"/>
              </a:rPr>
              <a:t>sum=0;</a:t>
            </a:r>
          </a:p>
          <a:p>
            <a:r>
              <a:rPr lang="en-IN" sz="3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IN" sz="3200" b="0" i="0" dirty="0" err="1">
                <a:effectLst/>
                <a:latin typeface="Menlo"/>
              </a:rPr>
              <a:t>i</a:t>
            </a:r>
            <a:r>
              <a:rPr lang="en-IN" sz="3200" b="0" i="0" dirty="0">
                <a:effectLst/>
                <a:latin typeface="Menlo"/>
              </a:rPr>
              <a:t>=1:2:100</a:t>
            </a:r>
          </a:p>
          <a:p>
            <a:r>
              <a:rPr lang="en-IN" sz="3200" b="0" i="0" dirty="0">
                <a:effectLst/>
                <a:latin typeface="Menlo"/>
              </a:rPr>
              <a:t>sum=</a:t>
            </a:r>
            <a:r>
              <a:rPr lang="en-IN" sz="3200" b="0" i="0" dirty="0" err="1">
                <a:effectLst/>
                <a:latin typeface="Menlo"/>
              </a:rPr>
              <a:t>sum+i</a:t>
            </a:r>
            <a:r>
              <a:rPr lang="en-IN" sz="3200" b="0" i="0" dirty="0">
                <a:effectLst/>
                <a:latin typeface="Menlo"/>
              </a:rPr>
              <a:t>;</a:t>
            </a:r>
          </a:p>
          <a:p>
            <a:r>
              <a:rPr lang="en-IN" sz="3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sz="3200" b="0" i="0" dirty="0">
                <a:effectLst/>
                <a:latin typeface="Menlo"/>
              </a:rPr>
              <a:t>sum</a:t>
            </a:r>
            <a:endParaRPr lang="en-IN" sz="1800" b="0" i="0" dirty="0">
              <a:effectLst/>
              <a:latin typeface="Menl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D3877-981D-C4B4-B7EA-64759EEAA55A}"/>
              </a:ext>
            </a:extLst>
          </p:cNvPr>
          <p:cNvSpPr txBox="1"/>
          <p:nvPr/>
        </p:nvSpPr>
        <p:spPr>
          <a:xfrm>
            <a:off x="569947" y="1044849"/>
            <a:ext cx="2686438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008013"/>
                </a:solidFill>
                <a:effectLst/>
                <a:latin typeface="Menlo"/>
              </a:rPr>
              <a:t>%Program 1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sz="3200" b="0" i="0" dirty="0">
                <a:solidFill>
                  <a:srgbClr val="008013"/>
                </a:solidFill>
                <a:effectLst/>
                <a:latin typeface="Menlo"/>
              </a:rPr>
              <a:t>%Add 1 to 100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sz="3200" b="0" i="0" dirty="0">
                <a:effectLst/>
                <a:latin typeface="Menlo"/>
              </a:rPr>
              <a:t>sum=0;</a:t>
            </a:r>
          </a:p>
          <a:p>
            <a:r>
              <a:rPr lang="en-IN" sz="3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IN" sz="3200" b="0" i="0" dirty="0" err="1">
                <a:effectLst/>
                <a:latin typeface="Menlo"/>
              </a:rPr>
              <a:t>i</a:t>
            </a:r>
            <a:r>
              <a:rPr lang="en-IN" sz="3200" b="0" i="0" dirty="0">
                <a:effectLst/>
                <a:latin typeface="Menlo"/>
              </a:rPr>
              <a:t>=1:1:100</a:t>
            </a:r>
          </a:p>
          <a:p>
            <a:r>
              <a:rPr lang="en-IN" sz="3200" b="0" i="0" dirty="0">
                <a:effectLst/>
                <a:latin typeface="Menlo"/>
              </a:rPr>
              <a:t>sum=</a:t>
            </a:r>
            <a:r>
              <a:rPr lang="en-IN" sz="3200" b="0" i="0" dirty="0" err="1">
                <a:effectLst/>
                <a:latin typeface="Menlo"/>
              </a:rPr>
              <a:t>sum+i</a:t>
            </a:r>
            <a:r>
              <a:rPr lang="en-IN" sz="3200" b="0" i="0" dirty="0">
                <a:effectLst/>
                <a:latin typeface="Menlo"/>
              </a:rPr>
              <a:t>;</a:t>
            </a:r>
          </a:p>
          <a:p>
            <a:r>
              <a:rPr lang="en-IN" sz="3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sz="3200" b="0" i="0" dirty="0">
                <a:effectLst/>
                <a:latin typeface="Menlo"/>
              </a:rPr>
              <a:t>sum</a:t>
            </a:r>
            <a:endParaRPr lang="en-IN" sz="1800" b="0" i="0" dirty="0">
              <a:effectLst/>
              <a:latin typeface="Menl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C147C-CE1F-F263-656A-4EFF1B521C72}"/>
              </a:ext>
            </a:extLst>
          </p:cNvPr>
          <p:cNvSpPr txBox="1"/>
          <p:nvPr/>
        </p:nvSpPr>
        <p:spPr>
          <a:xfrm>
            <a:off x="679581" y="5091795"/>
            <a:ext cx="1046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5050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F9EA0-C4A7-3060-8ADF-EB91098E4F11}"/>
              </a:ext>
            </a:extLst>
          </p:cNvPr>
          <p:cNvSpPr txBox="1"/>
          <p:nvPr/>
        </p:nvSpPr>
        <p:spPr>
          <a:xfrm>
            <a:off x="3860542" y="5091795"/>
            <a:ext cx="804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60F10-BEFF-8704-64F4-81DE4B3C1182}"/>
              </a:ext>
            </a:extLst>
          </p:cNvPr>
          <p:cNvSpPr txBox="1"/>
          <p:nvPr/>
        </p:nvSpPr>
        <p:spPr>
          <a:xfrm>
            <a:off x="7278656" y="1159602"/>
            <a:ext cx="3807666" cy="3323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008013"/>
                </a:solidFill>
                <a:effectLst/>
                <a:latin typeface="Menlo"/>
              </a:rPr>
              <a:t>%Program 3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b="0" i="0" dirty="0">
                <a:solidFill>
                  <a:srgbClr val="008013"/>
                </a:solidFill>
                <a:effectLst/>
                <a:latin typeface="Menlo"/>
              </a:rPr>
              <a:t>%Add 1 to 100 even numbers </a:t>
            </a:r>
            <a:endParaRPr lang="en-IN" b="0" i="0" dirty="0">
              <a:effectLst/>
              <a:latin typeface="Menlo"/>
            </a:endParaRPr>
          </a:p>
          <a:p>
            <a:r>
              <a:rPr lang="en-IN" sz="3200" b="0" i="0" dirty="0">
                <a:effectLst/>
                <a:latin typeface="Menlo"/>
              </a:rPr>
              <a:t>sum=0;</a:t>
            </a:r>
          </a:p>
          <a:p>
            <a:r>
              <a:rPr lang="en-IN" sz="3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IN" sz="3200" b="0" i="0" dirty="0" err="1">
                <a:effectLst/>
                <a:latin typeface="Menlo"/>
              </a:rPr>
              <a:t>i</a:t>
            </a:r>
            <a:r>
              <a:rPr lang="en-IN" sz="3200" b="0" i="0" dirty="0">
                <a:effectLst/>
                <a:latin typeface="Menlo"/>
              </a:rPr>
              <a:t>=2:2:100</a:t>
            </a:r>
          </a:p>
          <a:p>
            <a:r>
              <a:rPr lang="en-IN" sz="3200" b="0" i="0" dirty="0">
                <a:effectLst/>
                <a:latin typeface="Menlo"/>
              </a:rPr>
              <a:t>sum=</a:t>
            </a:r>
            <a:r>
              <a:rPr lang="en-IN" sz="3200" b="0" i="0" dirty="0" err="1">
                <a:effectLst/>
                <a:latin typeface="Menlo"/>
              </a:rPr>
              <a:t>sum+i</a:t>
            </a:r>
            <a:r>
              <a:rPr lang="en-IN" sz="3200" b="0" i="0" dirty="0">
                <a:effectLst/>
                <a:latin typeface="Menlo"/>
              </a:rPr>
              <a:t>;</a:t>
            </a:r>
          </a:p>
          <a:p>
            <a:r>
              <a:rPr lang="en-IN" sz="3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sz="3200" b="0" i="0" dirty="0">
                <a:effectLst/>
                <a:latin typeface="Menlo"/>
              </a:rPr>
              <a:t>sum</a:t>
            </a:r>
            <a:endParaRPr lang="en-IN" sz="1800" b="0" i="0" dirty="0">
              <a:effectLst/>
              <a:latin typeface="Menl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5194A-8445-C0DD-CAF6-4A0E3BC662B8}"/>
              </a:ext>
            </a:extLst>
          </p:cNvPr>
          <p:cNvSpPr txBox="1"/>
          <p:nvPr/>
        </p:nvSpPr>
        <p:spPr>
          <a:xfrm>
            <a:off x="7305093" y="4935512"/>
            <a:ext cx="804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2550</a:t>
            </a:r>
          </a:p>
        </p:txBody>
      </p:sp>
    </p:spTree>
    <p:extLst>
      <p:ext uri="{BB962C8B-B14F-4D97-AF65-F5344CB8AC3E}">
        <p14:creationId xmlns:p14="http://schemas.microsoft.com/office/powerpoint/2010/main" val="302468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558AE-EBD3-E19A-0879-B83E5755B5FF}"/>
              </a:ext>
            </a:extLst>
          </p:cNvPr>
          <p:cNvSpPr txBox="1"/>
          <p:nvPr/>
        </p:nvSpPr>
        <p:spPr>
          <a:xfrm>
            <a:off x="754614" y="1383537"/>
            <a:ext cx="10682772" cy="43088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008013"/>
                </a:solidFill>
                <a:effectLst/>
                <a:latin typeface="Menlo"/>
              </a:rPr>
              <a:t>%Program 4</a:t>
            </a:r>
            <a:endParaRPr lang="en-IN" sz="3200" b="0" i="0" dirty="0">
              <a:effectLst/>
              <a:latin typeface="Menlo"/>
            </a:endParaRPr>
          </a:p>
          <a:p>
            <a:r>
              <a:rPr lang="en-IN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en-IN" dirty="0">
                <a:solidFill>
                  <a:srgbClr val="008013"/>
                </a:solidFill>
                <a:latin typeface="Menlo"/>
              </a:rPr>
              <a:t>find cumulative sum </a:t>
            </a:r>
            <a:r>
              <a:rPr lang="en-IN" b="0" i="0" dirty="0">
                <a:solidFill>
                  <a:srgbClr val="008013"/>
                </a:solidFill>
                <a:effectLst/>
                <a:latin typeface="Menlo"/>
              </a:rPr>
              <a:t>starting from 1. If sum exceed 2560 break and print  index </a:t>
            </a:r>
            <a:r>
              <a:rPr lang="en-IN" b="0" i="0" dirty="0" err="1">
                <a:solidFill>
                  <a:srgbClr val="008013"/>
                </a:solidFill>
                <a:effectLst/>
                <a:latin typeface="Menlo"/>
              </a:rPr>
              <a:t>i</a:t>
            </a:r>
            <a:endParaRPr lang="en-IN" b="0" i="0" dirty="0">
              <a:effectLst/>
              <a:latin typeface="Menlo"/>
            </a:endParaRPr>
          </a:p>
          <a:p>
            <a:r>
              <a:rPr lang="en-US" sz="3200" b="0" i="0" dirty="0">
                <a:effectLst/>
                <a:latin typeface="Menlo"/>
              </a:rPr>
              <a:t>sum=0;</a:t>
            </a:r>
          </a:p>
          <a:p>
            <a:r>
              <a:rPr lang="en-US" sz="3200" b="0" i="0" dirty="0">
                <a:effectLst/>
                <a:latin typeface="Menlo"/>
              </a:rPr>
              <a:t>Limit=2560;</a:t>
            </a: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3200" b="0" i="0" dirty="0" err="1">
                <a:effectLst/>
                <a:latin typeface="Menlo"/>
              </a:rPr>
              <a:t>i</a:t>
            </a:r>
            <a:r>
              <a:rPr lang="en-US" sz="3200" b="0" i="0" dirty="0">
                <a:effectLst/>
                <a:latin typeface="Menlo"/>
              </a:rPr>
              <a:t>=1:1:100</a:t>
            </a:r>
          </a:p>
          <a:p>
            <a:r>
              <a:rPr lang="en-US" sz="3200" b="0" i="0" dirty="0">
                <a:effectLst/>
                <a:latin typeface="Menlo"/>
              </a:rPr>
              <a:t>sum=</a:t>
            </a:r>
            <a:r>
              <a:rPr lang="en-US" sz="3200" b="0" i="0" dirty="0" err="1">
                <a:effectLst/>
                <a:latin typeface="Menlo"/>
              </a:rPr>
              <a:t>sum+i</a:t>
            </a:r>
            <a:r>
              <a:rPr lang="en-US" sz="3200" b="0" i="0" dirty="0">
                <a:effectLst/>
                <a:latin typeface="Menlo"/>
              </a:rPr>
              <a:t>;</a:t>
            </a: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3200" b="0" i="0" dirty="0">
                <a:effectLst/>
                <a:latin typeface="Menlo"/>
              </a:rPr>
              <a:t>(sum&gt;=Limit) </a:t>
            </a:r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break</a:t>
            </a:r>
            <a:r>
              <a:rPr lang="en-US" sz="3200" b="0" i="0" dirty="0">
                <a:effectLst/>
                <a:latin typeface="Menlo"/>
              </a:rPr>
              <a:t>; </a:t>
            </a:r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effectLst/>
                <a:latin typeface="Menlo"/>
              </a:rPr>
              <a:t>display(</a:t>
            </a:r>
            <a:r>
              <a:rPr lang="en-US" sz="3200" b="0" i="0" dirty="0" err="1">
                <a:effectLst/>
                <a:latin typeface="Menlo"/>
              </a:rPr>
              <a:t>i</a:t>
            </a:r>
            <a:r>
              <a:rPr lang="en-US" sz="3200" b="0" i="0" dirty="0">
                <a:effectLst/>
                <a:latin typeface="Menlo"/>
              </a:rPr>
              <a:t>) ; display(sum)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16E90-8C8F-9377-B4E6-CC4422B399DE}"/>
              </a:ext>
            </a:extLst>
          </p:cNvPr>
          <p:cNvSpPr/>
          <p:nvPr/>
        </p:nvSpPr>
        <p:spPr>
          <a:xfrm>
            <a:off x="3910846" y="196143"/>
            <a:ext cx="37358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 of Break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20B9D3-61D9-B0E8-A04B-3D840B7E18B0}"/>
              </a:ext>
            </a:extLst>
          </p:cNvPr>
          <p:cNvCxnSpPr/>
          <p:nvPr/>
        </p:nvCxnSpPr>
        <p:spPr>
          <a:xfrm flipV="1">
            <a:off x="2640563" y="3181739"/>
            <a:ext cx="2733870" cy="1306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C3D577-5094-6A1A-75D3-70E672F7F272}"/>
              </a:ext>
            </a:extLst>
          </p:cNvPr>
          <p:cNvSpPr txBox="1"/>
          <p:nvPr/>
        </p:nvSpPr>
        <p:spPr>
          <a:xfrm>
            <a:off x="5374433" y="2917675"/>
            <a:ext cx="3962401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 check whether it is true </a:t>
            </a:r>
          </a:p>
          <a:p>
            <a:r>
              <a:rPr lang="en-US" dirty="0"/>
              <a:t>If (true)  break out of the loop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82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25A3AE-5682-2722-2240-87AA38C4D8B1}"/>
              </a:ext>
            </a:extLst>
          </p:cNvPr>
          <p:cNvSpPr/>
          <p:nvPr/>
        </p:nvSpPr>
        <p:spPr>
          <a:xfrm>
            <a:off x="671799" y="737319"/>
            <a:ext cx="9822049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of </a:t>
            </a:r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several statements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true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 this</a:t>
            </a:r>
          </a:p>
          <a:p>
            <a:pPr algn="ctr"/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else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 this</a:t>
            </a:r>
          </a:p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042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0410B-5483-A2EB-D2A6-497D52305F44}"/>
              </a:ext>
            </a:extLst>
          </p:cNvPr>
          <p:cNvSpPr/>
          <p:nvPr/>
        </p:nvSpPr>
        <p:spPr>
          <a:xfrm>
            <a:off x="0" y="1656013"/>
            <a:ext cx="12187182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Collect all the true/false in a </a:t>
            </a:r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Apply </a:t>
            </a:r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that </a:t>
            </a:r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</a:t>
            </a:r>
          </a:p>
          <a:p>
            <a:pPr algn="ctr"/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-call ‘</a:t>
            </a:r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any’</a:t>
            </a:r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fu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nction with the </a:t>
            </a:r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 input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915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C096E-7420-A0DB-247E-76A0F8F42752}"/>
              </a:ext>
            </a:extLst>
          </p:cNvPr>
          <p:cNvSpPr txBox="1"/>
          <p:nvPr/>
        </p:nvSpPr>
        <p:spPr>
          <a:xfrm>
            <a:off x="300523" y="117693"/>
            <a:ext cx="1134835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effectLst/>
                <a:latin typeface="Menlo"/>
              </a:rPr>
              <a:t>% Program 5</a:t>
            </a:r>
          </a:p>
          <a:p>
            <a:r>
              <a:rPr lang="en-US" sz="3600" b="0" i="0" dirty="0">
                <a:effectLst/>
                <a:latin typeface="Menlo"/>
              </a:rPr>
              <a:t>clear </a:t>
            </a:r>
            <a:r>
              <a:rPr lang="en-US" sz="36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get all prime numbers between 1 to 100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X=[2 3 5 7]; </a:t>
            </a:r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prime numbers between 1 and sqrt(100)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compo=[];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=8:100</a:t>
            </a: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3600" b="0" i="0" dirty="0">
                <a:effectLst/>
                <a:latin typeface="Menlo"/>
              </a:rPr>
              <a:t>any( [mod(i,2)==0 mod(i,3)==0 mod(i,5)==0 mod(i,7)==0])</a:t>
            </a:r>
          </a:p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compo=[compo </a:t>
            </a:r>
            <a:r>
              <a:rPr lang="en-US" sz="3600" b="0" i="0" dirty="0" err="1">
                <a:solidFill>
                  <a:srgbClr val="008013"/>
                </a:solidFill>
                <a:effectLst/>
                <a:latin typeface="Menlo"/>
              </a:rPr>
              <a:t>i</a:t>
            </a:r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];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else </a:t>
            </a:r>
            <a:r>
              <a:rPr lang="en-US" sz="3600" b="0" i="0" dirty="0">
                <a:effectLst/>
                <a:latin typeface="Menlo"/>
              </a:rPr>
              <a:t>X=[X  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] ; % append</a:t>
            </a: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X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69AD4-5D63-2F46-24EA-B0FE472C94A2}"/>
              </a:ext>
            </a:extLst>
          </p:cNvPr>
          <p:cNvSpPr txBox="1"/>
          <p:nvPr/>
        </p:nvSpPr>
        <p:spPr>
          <a:xfrm>
            <a:off x="5411755" y="4394719"/>
            <a:ext cx="4296241" cy="4001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Challenge: How will you extend to 1000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9238F-1891-0951-7868-5852B71E1CE0}"/>
              </a:ext>
            </a:extLst>
          </p:cNvPr>
          <p:cNvSpPr txBox="1"/>
          <p:nvPr/>
        </p:nvSpPr>
        <p:spPr>
          <a:xfrm>
            <a:off x="5411755" y="4884346"/>
            <a:ext cx="3816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2     3     5     7    11    13    17    19    23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8C19B-6F4D-B0F3-4B94-AAF104D4A1DC}"/>
              </a:ext>
            </a:extLst>
          </p:cNvPr>
          <p:cNvSpPr txBox="1"/>
          <p:nvPr/>
        </p:nvSpPr>
        <p:spPr>
          <a:xfrm>
            <a:off x="5411755" y="5253678"/>
            <a:ext cx="39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29    31    37    41    43    47    53    59    61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B6B658-A2B3-2DAD-95F4-C81CE83CE9B9}"/>
              </a:ext>
            </a:extLst>
          </p:cNvPr>
          <p:cNvSpPr txBox="1"/>
          <p:nvPr/>
        </p:nvSpPr>
        <p:spPr>
          <a:xfrm>
            <a:off x="5411755" y="5641748"/>
            <a:ext cx="3312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67    71    73    79    83    89    97</a:t>
            </a:r>
          </a:p>
        </p:txBody>
      </p:sp>
    </p:spTree>
    <p:extLst>
      <p:ext uri="{BB962C8B-B14F-4D97-AF65-F5344CB8AC3E}">
        <p14:creationId xmlns:p14="http://schemas.microsoft.com/office/powerpoint/2010/main" val="253211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22C53-C221-2ED1-65C2-0FFA0739514E}"/>
              </a:ext>
            </a:extLst>
          </p:cNvPr>
          <p:cNvSpPr txBox="1"/>
          <p:nvPr/>
        </p:nvSpPr>
        <p:spPr>
          <a:xfrm>
            <a:off x="426875" y="197030"/>
            <a:ext cx="9370268" cy="60016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8013"/>
                </a:solidFill>
                <a:effectLst/>
                <a:latin typeface="Menlo"/>
              </a:rPr>
              <a:t>% Program 6</a:t>
            </a:r>
          </a:p>
          <a:p>
            <a:r>
              <a:rPr lang="en-US" sz="3200" b="0" i="0" dirty="0">
                <a:solidFill>
                  <a:srgbClr val="008013"/>
                </a:solidFill>
                <a:effectLst/>
                <a:latin typeface="Menlo"/>
              </a:rPr>
              <a:t>% find number of numbers divisible by 3 or 5 in 1:100</a:t>
            </a:r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effectLst/>
                <a:latin typeface="Menlo"/>
              </a:rPr>
              <a:t>clear </a:t>
            </a:r>
            <a:r>
              <a:rPr lang="en-US" sz="32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effectLst/>
                <a:latin typeface="Menlo"/>
              </a:rPr>
              <a:t>X=[];</a:t>
            </a: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3200" b="0" i="0" dirty="0" err="1">
                <a:effectLst/>
                <a:latin typeface="Menlo"/>
              </a:rPr>
              <a:t>i</a:t>
            </a:r>
            <a:r>
              <a:rPr lang="en-US" sz="3200" b="0" i="0" dirty="0">
                <a:effectLst/>
                <a:latin typeface="Menlo"/>
              </a:rPr>
              <a:t>=1:1:100</a:t>
            </a: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3200" b="0" i="0" dirty="0">
                <a:effectLst/>
                <a:latin typeface="Menlo"/>
              </a:rPr>
              <a:t>any([mod(i,3)==0, mod(i,5)==0])</a:t>
            </a:r>
          </a:p>
          <a:p>
            <a:r>
              <a:rPr lang="en-US" sz="3200" b="0" i="0" dirty="0">
                <a:effectLst/>
                <a:latin typeface="Menlo"/>
              </a:rPr>
              <a:t>X=[X </a:t>
            </a:r>
            <a:r>
              <a:rPr lang="en-US" sz="3200" b="0" i="0" dirty="0" err="1">
                <a:effectLst/>
                <a:latin typeface="Menlo"/>
              </a:rPr>
              <a:t>i</a:t>
            </a:r>
            <a:r>
              <a:rPr lang="en-US" sz="3200" b="0" i="0" dirty="0">
                <a:effectLst/>
                <a:latin typeface="Menlo"/>
              </a:rPr>
              <a:t>];</a:t>
            </a: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solidFill>
                  <a:srgbClr val="0E00FF"/>
                </a:solidFill>
                <a:effectLst/>
                <a:latin typeface="Menlo"/>
              </a:rPr>
              <a:t>end </a:t>
            </a:r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effectLst/>
                <a:latin typeface="Menlo"/>
              </a:rPr>
              <a:t>n=length(X)</a:t>
            </a:r>
          </a:p>
          <a:p>
            <a:endParaRPr lang="en-US" sz="3200" b="0" i="0" dirty="0">
              <a:effectLst/>
              <a:latin typeface="Menlo"/>
            </a:endParaRPr>
          </a:p>
          <a:p>
            <a:r>
              <a:rPr lang="en-US" sz="3200" b="0" i="0" dirty="0">
                <a:effectLst/>
                <a:latin typeface="Menlo"/>
              </a:rPr>
              <a:t>n=47</a:t>
            </a:r>
            <a:endParaRPr lang="en-US" sz="1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9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AEFB86-E804-97AC-6E42-15B6EA64E52A}"/>
              </a:ext>
            </a:extLst>
          </p:cNvPr>
          <p:cNvSpPr txBox="1"/>
          <p:nvPr/>
        </p:nvSpPr>
        <p:spPr>
          <a:xfrm>
            <a:off x="1210646" y="136095"/>
            <a:ext cx="1007006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rgbClr val="008013"/>
                </a:solidFill>
                <a:effectLst/>
                <a:latin typeface="Menlo"/>
              </a:rPr>
              <a:t>% Program 7</a:t>
            </a:r>
          </a:p>
          <a:p>
            <a:r>
              <a:rPr lang="en-IN" sz="2800" b="0" i="0" dirty="0">
                <a:solidFill>
                  <a:srgbClr val="008013"/>
                </a:solidFill>
                <a:effectLst/>
                <a:latin typeface="Menlo"/>
              </a:rPr>
              <a:t>% Find standard deviation of all numbers in 1:100 range</a:t>
            </a:r>
            <a:endParaRPr lang="en-IN" sz="2800" b="0" i="0" dirty="0">
              <a:effectLst/>
              <a:latin typeface="Menlo"/>
            </a:endParaRPr>
          </a:p>
          <a:p>
            <a:r>
              <a:rPr lang="en-IN" sz="2800" b="0" i="0" dirty="0">
                <a:effectLst/>
                <a:latin typeface="Menlo"/>
              </a:rPr>
              <a:t>clear </a:t>
            </a:r>
            <a:r>
              <a:rPr lang="en-IN" sz="28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IN" sz="2800" b="0" i="0" dirty="0">
              <a:effectLst/>
              <a:latin typeface="Menlo"/>
            </a:endParaRPr>
          </a:p>
          <a:p>
            <a:r>
              <a:rPr lang="en-IN" sz="2800" b="0" i="0" dirty="0">
                <a:effectLst/>
                <a:latin typeface="Menlo"/>
              </a:rPr>
              <a:t>x=1:1:100;  % data in an array x</a:t>
            </a:r>
          </a:p>
          <a:p>
            <a:r>
              <a:rPr lang="en-IN" sz="2800" b="0" i="0" dirty="0">
                <a:effectLst/>
                <a:latin typeface="Menlo"/>
              </a:rPr>
              <a:t>n=length(x);</a:t>
            </a:r>
          </a:p>
          <a:p>
            <a:r>
              <a:rPr lang="en-IN" sz="2800" b="0" i="0" dirty="0" err="1">
                <a:effectLst/>
                <a:latin typeface="Menlo"/>
              </a:rPr>
              <a:t>Sumx</a:t>
            </a:r>
            <a:r>
              <a:rPr lang="en-IN" sz="2800" b="0" i="0" dirty="0">
                <a:effectLst/>
                <a:latin typeface="Menlo"/>
              </a:rPr>
              <a:t>=0; Sumx2=0;</a:t>
            </a:r>
          </a:p>
          <a:p>
            <a:r>
              <a:rPr lang="en-IN" sz="2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IN" sz="2800" b="0" i="0" dirty="0" err="1">
                <a:effectLst/>
                <a:latin typeface="Menlo"/>
              </a:rPr>
              <a:t>i</a:t>
            </a:r>
            <a:r>
              <a:rPr lang="en-IN" sz="2800" b="0" i="0" dirty="0">
                <a:effectLst/>
                <a:latin typeface="Menlo"/>
              </a:rPr>
              <a:t>=1:1:n</a:t>
            </a:r>
          </a:p>
          <a:p>
            <a:r>
              <a:rPr lang="en-IN" sz="2800" b="0" i="0" dirty="0" err="1">
                <a:effectLst/>
                <a:latin typeface="Menlo"/>
              </a:rPr>
              <a:t>Sumx</a:t>
            </a:r>
            <a:r>
              <a:rPr lang="en-IN" sz="2800" b="0" i="0" dirty="0">
                <a:effectLst/>
                <a:latin typeface="Menlo"/>
              </a:rPr>
              <a:t>=</a:t>
            </a:r>
            <a:r>
              <a:rPr lang="en-IN" sz="2800" b="0" i="0" dirty="0" err="1">
                <a:effectLst/>
                <a:latin typeface="Menlo"/>
              </a:rPr>
              <a:t>Sumx+x</a:t>
            </a:r>
            <a:r>
              <a:rPr lang="en-IN" sz="2800" b="0" i="0" dirty="0">
                <a:effectLst/>
                <a:latin typeface="Menlo"/>
              </a:rPr>
              <a:t>(</a:t>
            </a:r>
            <a:r>
              <a:rPr lang="en-IN" sz="2800" b="0" i="0" dirty="0" err="1">
                <a:effectLst/>
                <a:latin typeface="Menlo"/>
              </a:rPr>
              <a:t>i</a:t>
            </a:r>
            <a:r>
              <a:rPr lang="en-IN" sz="2800" b="0" i="0" dirty="0">
                <a:effectLst/>
                <a:latin typeface="Menlo"/>
              </a:rPr>
              <a:t>);</a:t>
            </a:r>
          </a:p>
          <a:p>
            <a:r>
              <a:rPr lang="en-IN" sz="2800" b="0" i="0" dirty="0">
                <a:effectLst/>
                <a:latin typeface="Menlo"/>
              </a:rPr>
              <a:t>Sumx2=Sumx2 + x(</a:t>
            </a:r>
            <a:r>
              <a:rPr lang="en-IN" sz="2800" b="0" i="0" dirty="0" err="1">
                <a:effectLst/>
                <a:latin typeface="Menlo"/>
              </a:rPr>
              <a:t>i</a:t>
            </a:r>
            <a:r>
              <a:rPr lang="en-IN" sz="2800" b="0" i="0" dirty="0">
                <a:effectLst/>
                <a:latin typeface="Menlo"/>
              </a:rPr>
              <a:t>)*x(</a:t>
            </a:r>
            <a:r>
              <a:rPr lang="en-IN" sz="2800" b="0" i="0" dirty="0" err="1">
                <a:effectLst/>
                <a:latin typeface="Menlo"/>
              </a:rPr>
              <a:t>i</a:t>
            </a:r>
            <a:r>
              <a:rPr lang="en-IN" sz="2800" b="0" i="0" dirty="0">
                <a:effectLst/>
                <a:latin typeface="Menlo"/>
              </a:rPr>
              <a:t>);</a:t>
            </a:r>
          </a:p>
          <a:p>
            <a:r>
              <a:rPr lang="en-IN" sz="2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IN" sz="2800" b="0" i="0" dirty="0">
              <a:effectLst/>
              <a:latin typeface="Menlo"/>
            </a:endParaRPr>
          </a:p>
          <a:p>
            <a:r>
              <a:rPr lang="en-IN" sz="2800" b="0" i="0" dirty="0">
                <a:effectLst/>
                <a:latin typeface="Menlo"/>
              </a:rPr>
              <a:t>Variance=Sumx2/n-(</a:t>
            </a:r>
            <a:r>
              <a:rPr lang="en-IN" sz="2800" b="0" i="0" dirty="0" err="1">
                <a:effectLst/>
                <a:latin typeface="Menlo"/>
              </a:rPr>
              <a:t>Sumx</a:t>
            </a:r>
            <a:r>
              <a:rPr lang="en-IN" sz="2800" b="0" i="0" dirty="0">
                <a:effectLst/>
                <a:latin typeface="Menlo"/>
              </a:rPr>
              <a:t>/n)^2</a:t>
            </a:r>
          </a:p>
          <a:p>
            <a:r>
              <a:rPr lang="en-IN" sz="2800" b="0" i="0" dirty="0" err="1">
                <a:effectLst/>
                <a:latin typeface="Menlo"/>
              </a:rPr>
              <a:t>Stdev</a:t>
            </a:r>
            <a:r>
              <a:rPr lang="en-IN" sz="2800" b="0" i="0" dirty="0">
                <a:effectLst/>
                <a:latin typeface="Menlo"/>
              </a:rPr>
              <a:t>=sqrt(Variance)</a:t>
            </a:r>
          </a:p>
          <a:p>
            <a:r>
              <a:rPr lang="en-IN" sz="2800" b="0" i="0" dirty="0">
                <a:solidFill>
                  <a:srgbClr val="008013"/>
                </a:solidFill>
                <a:effectLst/>
                <a:latin typeface="Menlo"/>
              </a:rPr>
              <a:t>% use built in function</a:t>
            </a:r>
            <a:endParaRPr lang="en-IN" sz="2800" b="0" i="0" dirty="0">
              <a:effectLst/>
              <a:latin typeface="Menlo"/>
            </a:endParaRPr>
          </a:p>
          <a:p>
            <a:r>
              <a:rPr lang="en-IN" sz="2800" b="0" i="0" dirty="0">
                <a:effectLst/>
                <a:latin typeface="Menlo"/>
              </a:rPr>
              <a:t>Stdev2=std(x,1)</a:t>
            </a:r>
            <a:endParaRPr lang="en-IN" sz="1800" b="0" i="0" dirty="0">
              <a:effectLst/>
              <a:latin typeface="Menlo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DDED24-1639-BDD6-19F7-34031C2CE2FC}"/>
              </a:ext>
            </a:extLst>
          </p:cNvPr>
          <p:cNvCxnSpPr/>
          <p:nvPr/>
        </p:nvCxnSpPr>
        <p:spPr>
          <a:xfrm>
            <a:off x="3312367" y="5533053"/>
            <a:ext cx="3191070" cy="65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A050B0A-80A4-AE94-73DD-EB6A8A6FFCC0}"/>
              </a:ext>
            </a:extLst>
          </p:cNvPr>
          <p:cNvSpPr txBox="1"/>
          <p:nvPr/>
        </p:nvSpPr>
        <p:spPr>
          <a:xfrm>
            <a:off x="6503437" y="5381044"/>
            <a:ext cx="348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standard deviation</a:t>
            </a:r>
            <a:endParaRPr lang="en-IN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23451C3-0A94-7F9D-23C0-ABB4781E6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436946"/>
              </p:ext>
            </p:extLst>
          </p:nvPr>
        </p:nvGraphicFramePr>
        <p:xfrm>
          <a:off x="5949043" y="1259633"/>
          <a:ext cx="5349372" cy="23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888840" progId="Equation.DSMT4">
                  <p:embed/>
                </p:oleObj>
              </mc:Choice>
              <mc:Fallback>
                <p:oleObj name="Equation" r:id="rId2" imgW="200628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49043" y="1259633"/>
                        <a:ext cx="5349372" cy="23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704D3A8-9FB5-6BA7-8BCC-7082C8571F09}"/>
              </a:ext>
            </a:extLst>
          </p:cNvPr>
          <p:cNvSpPr txBox="1"/>
          <p:nvPr/>
        </p:nvSpPr>
        <p:spPr>
          <a:xfrm>
            <a:off x="9399619" y="5598367"/>
            <a:ext cx="2306606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Variance =  833.2500</a:t>
            </a:r>
          </a:p>
          <a:p>
            <a:r>
              <a:rPr lang="en-IN" dirty="0" err="1"/>
              <a:t>Stdev</a:t>
            </a:r>
            <a:r>
              <a:rPr lang="en-IN" dirty="0"/>
              <a:t> =   28.8661</a:t>
            </a:r>
          </a:p>
          <a:p>
            <a:r>
              <a:rPr lang="en-IN" dirty="0"/>
              <a:t>Stdev2 =   28.8661</a:t>
            </a:r>
          </a:p>
        </p:txBody>
      </p:sp>
    </p:spTree>
    <p:extLst>
      <p:ext uri="{BB962C8B-B14F-4D97-AF65-F5344CB8AC3E}">
        <p14:creationId xmlns:p14="http://schemas.microsoft.com/office/powerpoint/2010/main" val="48774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3C8DCA-FF63-1570-FEDD-41FA7BA49FA2}"/>
              </a:ext>
            </a:extLst>
          </p:cNvPr>
          <p:cNvSpPr txBox="1"/>
          <p:nvPr/>
        </p:nvSpPr>
        <p:spPr>
          <a:xfrm>
            <a:off x="1611864" y="503482"/>
            <a:ext cx="7410838" cy="50783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Program 8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Find first 20 </a:t>
            </a:r>
            <a:r>
              <a:rPr lang="en-US" sz="3600" b="0" i="0" dirty="0" err="1">
                <a:solidFill>
                  <a:srgbClr val="008013"/>
                </a:solidFill>
                <a:effectLst/>
                <a:latin typeface="Menlo"/>
              </a:rPr>
              <a:t>fibonacci</a:t>
            </a:r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 numbers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clear </a:t>
            </a:r>
            <a:r>
              <a:rPr lang="en-US" sz="36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x(1)=1;</a:t>
            </a:r>
          </a:p>
          <a:p>
            <a:r>
              <a:rPr lang="en-US" sz="3600" b="0" i="0" dirty="0">
                <a:effectLst/>
                <a:latin typeface="Menlo"/>
              </a:rPr>
              <a:t>x(2)=1;</a:t>
            </a: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=3:1:20</a:t>
            </a:r>
          </a:p>
          <a:p>
            <a:r>
              <a:rPr lang="en-US" sz="3600" b="0" i="0" dirty="0">
                <a:effectLst/>
                <a:latin typeface="Menlo"/>
              </a:rPr>
              <a:t>x(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)=x(i-2)+x(i-1);</a:t>
            </a: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x</a:t>
            </a:r>
            <a:endParaRPr lang="en-US" sz="1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9368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1E05A-70C0-1676-C26B-62531CB1B064}"/>
              </a:ext>
            </a:extLst>
          </p:cNvPr>
          <p:cNvSpPr txBox="1"/>
          <p:nvPr/>
        </p:nvSpPr>
        <p:spPr>
          <a:xfrm>
            <a:off x="790769" y="531474"/>
            <a:ext cx="10601909" cy="48013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Program 9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solidFill>
                  <a:srgbClr val="008013"/>
                </a:solidFill>
                <a:effectLst/>
                <a:latin typeface="Menlo"/>
              </a:rPr>
              <a:t>% Find first n factorial starting from 1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clear </a:t>
            </a:r>
            <a:r>
              <a:rPr lang="en-US" sz="36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x(1)=1;</a:t>
            </a: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=2:1:10</a:t>
            </a:r>
          </a:p>
          <a:p>
            <a:r>
              <a:rPr lang="en-US" sz="3600" b="0" i="0" dirty="0">
                <a:effectLst/>
                <a:latin typeface="Menlo"/>
              </a:rPr>
              <a:t>x(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)=x(i-1)*</a:t>
            </a:r>
            <a:r>
              <a:rPr lang="en-US" sz="3600" b="0" i="0" dirty="0" err="1">
                <a:effectLst/>
                <a:latin typeface="Menlo"/>
              </a:rPr>
              <a:t>i</a:t>
            </a:r>
            <a:r>
              <a:rPr lang="en-US" sz="3600" b="0" i="0" dirty="0">
                <a:effectLst/>
                <a:latin typeface="Menlo"/>
              </a:rPr>
              <a:t>;</a:t>
            </a:r>
          </a:p>
          <a:p>
            <a:r>
              <a:rPr lang="en-US" sz="36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3600" b="0" i="0" dirty="0">
              <a:effectLst/>
              <a:latin typeface="Menlo"/>
            </a:endParaRPr>
          </a:p>
          <a:p>
            <a:r>
              <a:rPr lang="en-US" sz="3600" b="0" i="0" dirty="0">
                <a:effectLst/>
                <a:latin typeface="Menlo"/>
              </a:rPr>
              <a:t>x</a:t>
            </a:r>
          </a:p>
          <a:p>
            <a:endParaRPr lang="en-US" sz="1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610349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7300B0-BC33-EF4C-E3F0-C91F04A20885}"/>
              </a:ext>
            </a:extLst>
          </p:cNvPr>
          <p:cNvSpPr/>
          <p:nvPr/>
        </p:nvSpPr>
        <p:spPr>
          <a:xfrm>
            <a:off x="4014170" y="1773016"/>
            <a:ext cx="3840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1D automata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3815D1-6DB6-DD2E-B0FC-70A431DAEFDA}"/>
              </a:ext>
            </a:extLst>
          </p:cNvPr>
          <p:cNvSpPr/>
          <p:nvPr/>
        </p:nvSpPr>
        <p:spPr>
          <a:xfrm>
            <a:off x="773723" y="2818046"/>
            <a:ext cx="1124173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 column and last column 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values are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assumed to be zeros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67454-54BC-8DEB-51F9-B9BA5358C153}"/>
              </a:ext>
            </a:extLst>
          </p:cNvPr>
          <p:cNvSpPr/>
          <p:nvPr/>
        </p:nvSpPr>
        <p:spPr>
          <a:xfrm>
            <a:off x="4014170" y="256992"/>
            <a:ext cx="34358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Program 10</a:t>
            </a:r>
          </a:p>
        </p:txBody>
      </p:sp>
    </p:spTree>
    <p:extLst>
      <p:ext uri="{BB962C8B-B14F-4D97-AF65-F5344CB8AC3E}">
        <p14:creationId xmlns:p14="http://schemas.microsoft.com/office/powerpoint/2010/main" val="111961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89D39A-6B99-4514-A22A-E1E86C04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04" y="443447"/>
            <a:ext cx="8677690" cy="59711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194117-03D4-4C7A-9377-A705598CB647}"/>
              </a:ext>
            </a:extLst>
          </p:cNvPr>
          <p:cNvSpPr txBox="1"/>
          <p:nvPr/>
        </p:nvSpPr>
        <p:spPr>
          <a:xfrm>
            <a:off x="8971722" y="1364974"/>
            <a:ext cx="322027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Only  8 neighbourhood</a:t>
            </a:r>
          </a:p>
          <a:p>
            <a:r>
              <a:rPr lang="en-IN" sz="2400" dirty="0"/>
              <a:t>configuration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8B801-2E14-48E4-B860-82FB9B0D48C7}"/>
              </a:ext>
            </a:extLst>
          </p:cNvPr>
          <p:cNvSpPr txBox="1"/>
          <p:nvPr/>
        </p:nvSpPr>
        <p:spPr>
          <a:xfrm>
            <a:off x="9105694" y="2701999"/>
            <a:ext cx="3220278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3 bit to 1 bit mapping</a:t>
            </a:r>
          </a:p>
          <a:p>
            <a:r>
              <a:rPr lang="en-IN" sz="2400" dirty="0"/>
              <a:t>Can be represented by</a:t>
            </a:r>
          </a:p>
          <a:p>
            <a:r>
              <a:rPr lang="en-IN" sz="2400" dirty="0"/>
              <a:t>Binary digits of a number between 1 and</a:t>
            </a:r>
          </a:p>
          <a:p>
            <a:r>
              <a:rPr lang="en-IN" sz="2400" dirty="0"/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2747738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EB824C00-793F-45B0-AEB6-70305A9F4642}"/>
              </a:ext>
            </a:extLst>
          </p:cNvPr>
          <p:cNvSpPr/>
          <p:nvPr/>
        </p:nvSpPr>
        <p:spPr>
          <a:xfrm rot="10800000">
            <a:off x="6352406" y="1712507"/>
            <a:ext cx="834887" cy="10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45DBE5B-AA04-40EF-BA4D-2F0DEDA6E22F}"/>
              </a:ext>
            </a:extLst>
          </p:cNvPr>
          <p:cNvGrpSpPr/>
          <p:nvPr/>
        </p:nvGrpSpPr>
        <p:grpSpPr>
          <a:xfrm>
            <a:off x="152814" y="0"/>
            <a:ext cx="6617036" cy="6489041"/>
            <a:chOff x="147941" y="176802"/>
            <a:chExt cx="6617036" cy="648904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F43B5F-C79E-4CE9-A3F6-7811831AB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41" y="881891"/>
              <a:ext cx="6617036" cy="5783952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8ED1B45-67C6-4BC2-A886-60B4B2E0A936}"/>
                </a:ext>
              </a:extLst>
            </p:cNvPr>
            <p:cNvCxnSpPr/>
            <p:nvPr/>
          </p:nvCxnSpPr>
          <p:spPr>
            <a:xfrm flipV="1">
              <a:off x="1152939" y="463826"/>
              <a:ext cx="0" cy="90114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2FB8D4F-0131-497D-8004-11E90B75D8CB}"/>
                </a:ext>
              </a:extLst>
            </p:cNvPr>
            <p:cNvCxnSpPr/>
            <p:nvPr/>
          </p:nvCxnSpPr>
          <p:spPr>
            <a:xfrm flipV="1">
              <a:off x="1914939" y="463826"/>
              <a:ext cx="0" cy="90114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2C3F190-7FEB-4319-9A62-8A116A08437D}"/>
                </a:ext>
              </a:extLst>
            </p:cNvPr>
            <p:cNvCxnSpPr/>
            <p:nvPr/>
          </p:nvCxnSpPr>
          <p:spPr>
            <a:xfrm flipV="1">
              <a:off x="5758069" y="610223"/>
              <a:ext cx="0" cy="90114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D91ADF5-CB09-4282-9CFA-E5D14A17E181}"/>
                </a:ext>
              </a:extLst>
            </p:cNvPr>
            <p:cNvCxnSpPr/>
            <p:nvPr/>
          </p:nvCxnSpPr>
          <p:spPr>
            <a:xfrm flipV="1">
              <a:off x="5015947" y="576471"/>
              <a:ext cx="0" cy="90114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822E28-59F3-4897-A06C-4CA16FB2F5B1}"/>
                </a:ext>
              </a:extLst>
            </p:cNvPr>
            <p:cNvCxnSpPr/>
            <p:nvPr/>
          </p:nvCxnSpPr>
          <p:spPr>
            <a:xfrm flipV="1">
              <a:off x="4220817" y="610223"/>
              <a:ext cx="0" cy="90114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D8818E-0E45-42ED-A6C8-6BFB8631078A}"/>
                </a:ext>
              </a:extLst>
            </p:cNvPr>
            <p:cNvCxnSpPr/>
            <p:nvPr/>
          </p:nvCxnSpPr>
          <p:spPr>
            <a:xfrm flipV="1">
              <a:off x="3436581" y="563219"/>
              <a:ext cx="0" cy="90114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DE947CA-B330-473E-AAD5-E7E264464F08}"/>
                </a:ext>
              </a:extLst>
            </p:cNvPr>
            <p:cNvCxnSpPr/>
            <p:nvPr/>
          </p:nvCxnSpPr>
          <p:spPr>
            <a:xfrm flipV="1">
              <a:off x="2710070" y="569843"/>
              <a:ext cx="0" cy="90114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214438-4FD5-4E38-A41A-90534F23538D}"/>
                </a:ext>
              </a:extLst>
            </p:cNvPr>
            <p:cNvSpPr/>
            <p:nvPr/>
          </p:nvSpPr>
          <p:spPr>
            <a:xfrm>
              <a:off x="5900604" y="26089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FF3AED-AB47-45E6-A066-AD7F27EE4D0E}"/>
                </a:ext>
              </a:extLst>
            </p:cNvPr>
            <p:cNvSpPr/>
            <p:nvPr/>
          </p:nvSpPr>
          <p:spPr>
            <a:xfrm>
              <a:off x="5077031" y="22897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DD2AFBC-44F6-4921-B4AC-C6D56BEF8633}"/>
                </a:ext>
              </a:extLst>
            </p:cNvPr>
            <p:cNvSpPr/>
            <p:nvPr/>
          </p:nvSpPr>
          <p:spPr>
            <a:xfrm>
              <a:off x="3539780" y="211194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3520F29-F19E-4B9C-BCFD-9CE8073FC48E}"/>
                </a:ext>
              </a:extLst>
            </p:cNvPr>
            <p:cNvSpPr/>
            <p:nvPr/>
          </p:nvSpPr>
          <p:spPr>
            <a:xfrm>
              <a:off x="2735205" y="176802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4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FD4127-50D0-4AB9-8F31-A45397905CDD}"/>
                </a:ext>
              </a:extLst>
            </p:cNvPr>
            <p:cNvSpPr/>
            <p:nvPr/>
          </p:nvSpPr>
          <p:spPr>
            <a:xfrm>
              <a:off x="1172818" y="184689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6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B7075C-AD31-4A2D-996D-8844672840CD}"/>
                </a:ext>
              </a:extLst>
            </p:cNvPr>
            <p:cNvSpPr/>
            <p:nvPr/>
          </p:nvSpPr>
          <p:spPr>
            <a:xfrm>
              <a:off x="2010333" y="184689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F0F0052-0E58-41FB-B894-B58EE99A5CF9}"/>
                </a:ext>
              </a:extLst>
            </p:cNvPr>
            <p:cNvSpPr/>
            <p:nvPr/>
          </p:nvSpPr>
          <p:spPr>
            <a:xfrm>
              <a:off x="387865" y="195781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18E126-5A44-4998-8B40-1947FEDDDE5E}"/>
                </a:ext>
              </a:extLst>
            </p:cNvPr>
            <p:cNvSpPr/>
            <p:nvPr/>
          </p:nvSpPr>
          <p:spPr>
            <a:xfrm>
              <a:off x="4363353" y="211194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87B84A-7A19-45C7-8D4F-4F6D2E546C04}"/>
              </a:ext>
            </a:extLst>
          </p:cNvPr>
          <p:cNvGrpSpPr/>
          <p:nvPr/>
        </p:nvGrpSpPr>
        <p:grpSpPr>
          <a:xfrm>
            <a:off x="7400926" y="3369396"/>
            <a:ext cx="4273927" cy="3119645"/>
            <a:chOff x="6872288" y="3429000"/>
            <a:chExt cx="4273927" cy="311964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77B14A-742E-49B9-ABD4-3207AB609F5D}"/>
                </a:ext>
              </a:extLst>
            </p:cNvPr>
            <p:cNvSpPr/>
            <p:nvPr/>
          </p:nvSpPr>
          <p:spPr>
            <a:xfrm>
              <a:off x="7187293" y="3814763"/>
              <a:ext cx="985157" cy="8753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C84596F-EC75-44C7-9FD6-A320445F2649}"/>
                </a:ext>
              </a:extLst>
            </p:cNvPr>
            <p:cNvSpPr/>
            <p:nvPr/>
          </p:nvSpPr>
          <p:spPr>
            <a:xfrm>
              <a:off x="8402114" y="3814763"/>
              <a:ext cx="985157" cy="8753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AAC0CC-597C-495A-B120-98567B64C794}"/>
                </a:ext>
              </a:extLst>
            </p:cNvPr>
            <p:cNvSpPr/>
            <p:nvPr/>
          </p:nvSpPr>
          <p:spPr>
            <a:xfrm>
              <a:off x="9725706" y="3814763"/>
              <a:ext cx="985157" cy="8753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0339EAB-6162-4FE2-895D-F54E673F7938}"/>
                </a:ext>
              </a:extLst>
            </p:cNvPr>
            <p:cNvSpPr/>
            <p:nvPr/>
          </p:nvSpPr>
          <p:spPr>
            <a:xfrm>
              <a:off x="8402113" y="5461643"/>
              <a:ext cx="985157" cy="8753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97ABE6BA-EC6E-4669-9C88-CCC8B89B8836}"/>
                </a:ext>
              </a:extLst>
            </p:cNvPr>
            <p:cNvSpPr/>
            <p:nvPr/>
          </p:nvSpPr>
          <p:spPr>
            <a:xfrm>
              <a:off x="8706190" y="4784896"/>
              <a:ext cx="442913" cy="58197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5D89BB3-F224-412F-A5C7-A6B1DE5AD1D0}"/>
                </a:ext>
              </a:extLst>
            </p:cNvPr>
            <p:cNvSpPr/>
            <p:nvPr/>
          </p:nvSpPr>
          <p:spPr>
            <a:xfrm>
              <a:off x="6872288" y="3429000"/>
              <a:ext cx="4273927" cy="3119645"/>
            </a:xfrm>
            <a:prstGeom prst="rect">
              <a:avLst/>
            </a:prstGeom>
            <a:noFill/>
            <a:ln w="666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1199FC7-E214-4BFE-B9FA-2C5C2C050D1A}"/>
              </a:ext>
            </a:extLst>
          </p:cNvPr>
          <p:cNvSpPr txBox="1"/>
          <p:nvPr/>
        </p:nvSpPr>
        <p:spPr>
          <a:xfrm>
            <a:off x="6957016" y="255915"/>
            <a:ext cx="142000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400" b="1" dirty="0"/>
              <a:t>White</a:t>
            </a:r>
            <a:r>
              <a:rPr lang="en-IN" sz="2400" b="1" dirty="0">
                <a:sym typeface="Wingdings" panose="05000000000000000000" pitchFamily="2" charset="2"/>
              </a:rPr>
              <a:t>0</a:t>
            </a:r>
          </a:p>
          <a:p>
            <a:r>
              <a:rPr lang="en-IN" sz="2400" b="1" dirty="0">
                <a:sym typeface="Wingdings" panose="05000000000000000000" pitchFamily="2" charset="2"/>
              </a:rPr>
              <a:t>Black1</a:t>
            </a:r>
            <a:endParaRPr lang="en-IN" sz="2400" b="1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7458D9-B192-499A-9380-7114E0FA245A}"/>
              </a:ext>
            </a:extLst>
          </p:cNvPr>
          <p:cNvGrpSpPr/>
          <p:nvPr/>
        </p:nvGrpSpPr>
        <p:grpSpPr>
          <a:xfrm>
            <a:off x="7765259" y="433421"/>
            <a:ext cx="4273927" cy="1734462"/>
            <a:chOff x="7765259" y="433421"/>
            <a:chExt cx="4273927" cy="17344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CFC1DD-56CB-463C-A829-5FE597469F42}"/>
                </a:ext>
              </a:extLst>
            </p:cNvPr>
            <p:cNvSpPr/>
            <p:nvPr/>
          </p:nvSpPr>
          <p:spPr>
            <a:xfrm>
              <a:off x="7765259" y="1244553"/>
              <a:ext cx="427392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en-US" sz="5400" b="1" cap="none" spc="0" dirty="0">
                  <a:ln/>
                  <a:solidFill>
                    <a:schemeClr val="accent4"/>
                  </a:solidFill>
                  <a:effectLst/>
                </a:rPr>
                <a:t>54</a:t>
              </a:r>
              <a:r>
                <a:rPr lang="en-US" sz="5400" b="1" cap="none" spc="0" baseline="-25000" dirty="0">
                  <a:ln/>
                  <a:solidFill>
                    <a:schemeClr val="accent4"/>
                  </a:solidFill>
                  <a:effectLst/>
                </a:rPr>
                <a:t>2</a:t>
              </a:r>
              <a:r>
                <a:rPr lang="en-US" sz="5400" b="1" cap="none" spc="0" dirty="0">
                  <a:ln/>
                  <a:solidFill>
                    <a:schemeClr val="accent4"/>
                  </a:solidFill>
                  <a:effectLst/>
                </a:rPr>
                <a:t>=00110110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8BFBAEF-C519-40FF-BCBC-952E11FA2734}"/>
                </a:ext>
              </a:extLst>
            </p:cNvPr>
            <p:cNvGrpSpPr/>
            <p:nvPr/>
          </p:nvGrpSpPr>
          <p:grpSpPr>
            <a:xfrm>
              <a:off x="8977798" y="433421"/>
              <a:ext cx="2964917" cy="1163852"/>
              <a:chOff x="8977798" y="433421"/>
              <a:chExt cx="2964917" cy="1163852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04447D-D7FC-4011-81EC-8133EB021FA5}"/>
                  </a:ext>
                </a:extLst>
              </p:cNvPr>
              <p:cNvCxnSpPr/>
              <p:nvPr/>
            </p:nvCxnSpPr>
            <p:spPr>
              <a:xfrm>
                <a:off x="9268506" y="737598"/>
                <a:ext cx="0" cy="705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ED2489E-DBB5-4BF9-831A-1BF0D207D22E}"/>
                  </a:ext>
                </a:extLst>
              </p:cNvPr>
              <p:cNvSpPr txBox="1"/>
              <p:nvPr/>
            </p:nvSpPr>
            <p:spPr>
              <a:xfrm>
                <a:off x="11406991" y="606166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000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5E04826-8885-4D5C-84C4-209DB1A3E089}"/>
                  </a:ext>
                </a:extLst>
              </p:cNvPr>
              <p:cNvSpPr txBox="1"/>
              <p:nvPr/>
            </p:nvSpPr>
            <p:spPr>
              <a:xfrm>
                <a:off x="8977798" y="503202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111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FD77D7C-1E80-46E7-BD2D-5FB766E30A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74853" y="957722"/>
                <a:ext cx="0" cy="4675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A68377-94F2-44C5-81CA-995D1BA2C908}"/>
                  </a:ext>
                </a:extLst>
              </p:cNvPr>
              <p:cNvSpPr txBox="1"/>
              <p:nvPr/>
            </p:nvSpPr>
            <p:spPr>
              <a:xfrm>
                <a:off x="10385984" y="638086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100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69E8E60-EFFD-4EC4-A023-8B52113739F9}"/>
                  </a:ext>
                </a:extLst>
              </p:cNvPr>
              <p:cNvCxnSpPr/>
              <p:nvPr/>
            </p:nvCxnSpPr>
            <p:spPr>
              <a:xfrm>
                <a:off x="10723790" y="891833"/>
                <a:ext cx="0" cy="705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9F355A6-F1C5-4FD3-9CC3-4F2413138B3A}"/>
                  </a:ext>
                </a:extLst>
              </p:cNvPr>
              <p:cNvCxnSpPr/>
              <p:nvPr/>
            </p:nvCxnSpPr>
            <p:spPr>
              <a:xfrm>
                <a:off x="10035268" y="767418"/>
                <a:ext cx="0" cy="705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AE402B-BB6F-4435-BB8C-9F7C1C0033EA}"/>
                  </a:ext>
                </a:extLst>
              </p:cNvPr>
              <p:cNvSpPr txBox="1"/>
              <p:nvPr/>
            </p:nvSpPr>
            <p:spPr>
              <a:xfrm>
                <a:off x="9692415" y="433421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101</a:t>
                </a:r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5C877DC-EE91-41F7-98DE-8DE0D41860C0}"/>
              </a:ext>
            </a:extLst>
          </p:cNvPr>
          <p:cNvSpPr txBox="1"/>
          <p:nvPr/>
        </p:nvSpPr>
        <p:spPr>
          <a:xfrm>
            <a:off x="7657646" y="2288425"/>
            <a:ext cx="21371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Wolfram Rule No: 54</a:t>
            </a:r>
          </a:p>
        </p:txBody>
      </p:sp>
    </p:spTree>
    <p:extLst>
      <p:ext uri="{BB962C8B-B14F-4D97-AF65-F5344CB8AC3E}">
        <p14:creationId xmlns:p14="http://schemas.microsoft.com/office/powerpoint/2010/main" val="348847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84528-6905-4540-89C8-C4CF3096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647"/>
            <a:ext cx="12031986" cy="619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25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CF1939-B7BA-44F1-B348-A9E0B1A4C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65" y="534435"/>
            <a:ext cx="9414635" cy="5755161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5CEE5639-CF50-4C58-9850-D67904553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4226"/>
            <a:ext cx="12192000" cy="137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BA0D0E-6131-44DA-AD5A-A0E5C0658E17}"/>
              </a:ext>
            </a:extLst>
          </p:cNvPr>
          <p:cNvSpPr/>
          <p:nvPr/>
        </p:nvSpPr>
        <p:spPr>
          <a:xfrm>
            <a:off x="7621027" y="1006001"/>
            <a:ext cx="2323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Rule 50</a:t>
            </a:r>
          </a:p>
        </p:txBody>
      </p:sp>
    </p:spTree>
    <p:extLst>
      <p:ext uri="{BB962C8B-B14F-4D97-AF65-F5344CB8AC3E}">
        <p14:creationId xmlns:p14="http://schemas.microsoft.com/office/powerpoint/2010/main" val="2747695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E266E-B819-425A-A3DA-AE8FF1EA6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76" y="381415"/>
            <a:ext cx="9755879" cy="609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7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F5B934-358B-482D-95D7-3BDBC84A3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26" y="0"/>
            <a:ext cx="8654084" cy="4849271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6688E8CD-CA1C-408C-84BE-32E3DE68D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50735"/>
            <a:ext cx="121920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667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F28D894-D816-40A1-83FE-9E307ABCE724}"/>
              </a:ext>
            </a:extLst>
          </p:cNvPr>
          <p:cNvSpPr/>
          <p:nvPr/>
        </p:nvSpPr>
        <p:spPr>
          <a:xfrm>
            <a:off x="-94164" y="3873473"/>
            <a:ext cx="5660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Rule interpretation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288CB3-D6B8-47DD-9AD0-FF8FC3458316}"/>
              </a:ext>
            </a:extLst>
          </p:cNvPr>
          <p:cNvGrpSpPr/>
          <p:nvPr/>
        </p:nvGrpSpPr>
        <p:grpSpPr>
          <a:xfrm>
            <a:off x="39755" y="159890"/>
            <a:ext cx="12152244" cy="6487373"/>
            <a:chOff x="39755" y="159890"/>
            <a:chExt cx="12152244" cy="64873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756A38-82C5-4FDB-8C99-C6BDFB20C481}"/>
                </a:ext>
              </a:extLst>
            </p:cNvPr>
            <p:cNvSpPr txBox="1"/>
            <p:nvPr/>
          </p:nvSpPr>
          <p:spPr>
            <a:xfrm>
              <a:off x="5221356" y="207436"/>
              <a:ext cx="6970643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sz="3600" dirty="0"/>
                <a:t>'00011110’=0+0+0+16+8+4+2+0=30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A5BF1E-C79A-42F2-BC01-20D641C96568}"/>
                </a:ext>
              </a:extLst>
            </p:cNvPr>
            <p:cNvSpPr txBox="1"/>
            <p:nvPr/>
          </p:nvSpPr>
          <p:spPr>
            <a:xfrm>
              <a:off x="39755" y="1656329"/>
              <a:ext cx="5115339" cy="138499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sz="2800" b="0" i="0" u="none" strike="noStrike" baseline="0" dirty="0">
                  <a:solidFill>
                    <a:srgbClr val="0000FF"/>
                  </a:solidFill>
                  <a:latin typeface="Courier New" panose="02070309020205020404" pitchFamily="49" charset="0"/>
                </a:rPr>
                <a:t>for</a:t>
              </a:r>
              <a:r>
                <a:rPr lang="en-IN" sz="2800" b="0" i="0" u="none" strike="noStrike" baseline="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</a:t>
              </a:r>
              <a:r>
                <a:rPr lang="en-IN" sz="2800" b="0" i="0" u="none" strike="noStrike" baseline="0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IN" sz="2800" b="0" i="0" u="none" strike="noStrike" baseline="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=1:8    </a:t>
              </a:r>
              <a:r>
                <a:rPr lang="en-IN" sz="2800" b="0" i="0" u="none" strike="noStrike" baseline="0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ru</a:t>
              </a:r>
              <a:r>
                <a:rPr lang="en-IN" sz="2800" b="0" i="0" u="none" strike="noStrike" baseline="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</a:t>
              </a:r>
              <a:r>
                <a:rPr lang="en-IN" sz="2800" b="0" i="0" u="none" strike="noStrike" baseline="0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IN" sz="2800" b="0" i="0" u="none" strike="noStrike" baseline="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)=str2num(rule(</a:t>
              </a:r>
              <a:r>
                <a:rPr lang="en-IN" sz="2800" b="0" i="0" u="none" strike="noStrike" baseline="0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IN" sz="2800" b="0" i="0" u="none" strike="noStrike" baseline="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))</a:t>
              </a:r>
            </a:p>
            <a:p>
              <a:r>
                <a:rPr lang="en-IN" sz="2800" b="0" i="0" u="none" strike="noStrike" baseline="0" dirty="0">
                  <a:solidFill>
                    <a:srgbClr val="0000FF"/>
                  </a:solidFill>
                  <a:latin typeface="Courier New" panose="02070309020205020404" pitchFamily="49" charset="0"/>
                </a:rPr>
                <a:t>end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BD1FFB-9D98-47D3-B969-5D46512BDAA9}"/>
                </a:ext>
              </a:extLst>
            </p:cNvPr>
            <p:cNvGrpSpPr/>
            <p:nvPr/>
          </p:nvGrpSpPr>
          <p:grpSpPr>
            <a:xfrm>
              <a:off x="185528" y="159890"/>
              <a:ext cx="11966717" cy="6487373"/>
              <a:chOff x="185528" y="159890"/>
              <a:chExt cx="11966717" cy="6487373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DA04B0-3BE0-47B7-84F9-A16E4BB4A4B8}"/>
                  </a:ext>
                </a:extLst>
              </p:cNvPr>
              <p:cNvSpPr txBox="1"/>
              <p:nvPr/>
            </p:nvSpPr>
            <p:spPr>
              <a:xfrm>
                <a:off x="185528" y="948443"/>
                <a:ext cx="4969566" cy="7078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4000" dirty="0"/>
                  <a:t>rule =   '00011110'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ADE5E4-18E2-4F0A-A159-BB6D6561C186}"/>
                  </a:ext>
                </a:extLst>
              </p:cNvPr>
              <p:cNvSpPr txBox="1"/>
              <p:nvPr/>
            </p:nvSpPr>
            <p:spPr>
              <a:xfrm>
                <a:off x="185529" y="159890"/>
                <a:ext cx="4055166" cy="64633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3600" b="0" i="0" u="none" strike="noStrike" baseline="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wolfrule</a:t>
                </a:r>
                <a:r>
                  <a:rPr lang="en-IN" sz="3600" b="0" i="0" u="none" strike="noStrike" baseline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=30;</a:t>
                </a:r>
              </a:p>
            </p:txBody>
          </p:sp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D3D04A32-4DE6-4D6C-B23E-E1315BDB3707}"/>
                  </a:ext>
                </a:extLst>
              </p:cNvPr>
              <p:cNvSpPr/>
              <p:nvPr/>
            </p:nvSpPr>
            <p:spPr>
              <a:xfrm>
                <a:off x="4564699" y="246405"/>
                <a:ext cx="609600" cy="447546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7A584E-50B1-4916-9003-2BF15B879357}"/>
                  </a:ext>
                </a:extLst>
              </p:cNvPr>
              <p:cNvSpPr txBox="1"/>
              <p:nvPr/>
            </p:nvSpPr>
            <p:spPr>
              <a:xfrm>
                <a:off x="5221357" y="1302386"/>
                <a:ext cx="6930888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de-DE" sz="3600" dirty="0"/>
                  <a:t>ru =     0     0     0     1     1     1     1     0</a:t>
                </a:r>
                <a:endParaRPr lang="en-IN" sz="3600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1BBB317-A1C5-4F80-991D-F22BD683AD56}"/>
                  </a:ext>
                </a:extLst>
              </p:cNvPr>
              <p:cNvSpPr/>
              <p:nvPr/>
            </p:nvSpPr>
            <p:spPr>
              <a:xfrm>
                <a:off x="5870712" y="2615390"/>
                <a:ext cx="5050550" cy="4031873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marL="514350" indent="-514350">
                  <a:buAutoNum type="arabicPeriod"/>
                </a:pP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1 1 1     is mapped    to 0   </a:t>
                </a:r>
              </a:p>
              <a:p>
                <a:pPr marL="514350" indent="-514350">
                  <a:buAutoNum type="arabicPeriod"/>
                </a:pPr>
                <a:r>
                  <a:rPr lang="en-US" sz="3200" b="1" dirty="0">
                    <a:ln/>
                    <a:solidFill>
                      <a:srgbClr val="FF0000"/>
                    </a:solidFill>
                  </a:rPr>
                  <a:t>1 1 0     is </a:t>
                </a: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mapped    to 0 </a:t>
                </a:r>
                <a:endParaRPr lang="en-US" sz="3200" b="1" dirty="0">
                  <a:ln/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 startAt="3"/>
                </a:pP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1 0 1     </a:t>
                </a:r>
                <a:r>
                  <a:rPr lang="en-US" sz="3200" b="1" dirty="0">
                    <a:ln/>
                    <a:solidFill>
                      <a:srgbClr val="FF0000"/>
                    </a:solidFill>
                  </a:rPr>
                  <a:t>is </a:t>
                </a: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mapped    to 0 </a:t>
                </a:r>
              </a:p>
              <a:p>
                <a:pPr marL="514350" indent="-514350">
                  <a:buAutoNum type="arabicPeriod" startAt="3"/>
                </a:pPr>
                <a:r>
                  <a:rPr lang="en-US" sz="3200" b="1" dirty="0">
                    <a:ln/>
                    <a:solidFill>
                      <a:srgbClr val="FF0000"/>
                    </a:solidFill>
                  </a:rPr>
                  <a:t>1 0 0     is </a:t>
                </a: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mapped    to 1 </a:t>
                </a:r>
              </a:p>
              <a:p>
                <a:pPr marL="514350" indent="-514350">
                  <a:buAutoNum type="arabicPeriod" startAt="3"/>
                </a:pP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0 1 1     is mapped    to  1</a:t>
                </a:r>
              </a:p>
              <a:p>
                <a:r>
                  <a:rPr lang="en-US" sz="3200" b="1" dirty="0">
                    <a:ln/>
                    <a:solidFill>
                      <a:srgbClr val="FF0000"/>
                    </a:solidFill>
                  </a:rPr>
                  <a:t>6.  0 1 0     is mapped    to  </a:t>
                </a:r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1</a:t>
                </a:r>
              </a:p>
              <a:p>
                <a:r>
                  <a:rPr lang="en-US" sz="3200" b="1" cap="none" spc="0" dirty="0">
                    <a:ln/>
                    <a:solidFill>
                      <a:srgbClr val="FF0000"/>
                    </a:solidFill>
                    <a:effectLst/>
                  </a:rPr>
                  <a:t>7.  0 0 1     is mapped    to  1</a:t>
                </a:r>
              </a:p>
              <a:p>
                <a:r>
                  <a:rPr lang="en-US" sz="3200" b="1" dirty="0">
                    <a:ln/>
                    <a:solidFill>
                      <a:srgbClr val="FF0000"/>
                    </a:solidFill>
                  </a:rPr>
                  <a:t>8.  0 0 0     is mapped    to  0</a:t>
                </a:r>
                <a:endParaRPr lang="en-US" sz="4000" b="1" cap="none" spc="0" dirty="0">
                  <a:ln/>
                  <a:solidFill>
                    <a:schemeClr val="accent4"/>
                  </a:solidFill>
                  <a:effectLst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323EBE-4B76-44E3-BC44-FB6C3B60F89A}"/>
                  </a:ext>
                </a:extLst>
              </p:cNvPr>
              <p:cNvSpPr txBox="1"/>
              <p:nvPr/>
            </p:nvSpPr>
            <p:spPr>
              <a:xfrm>
                <a:off x="5221357" y="1965711"/>
                <a:ext cx="6930888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de-DE" sz="3600" dirty="0"/>
                  <a:t>runo = 1     2     3     4     5     6     7    8</a:t>
                </a:r>
                <a:endParaRPr lang="en-IN" sz="36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BD1DFB-95A7-43C0-B72F-0B7711EE4469}"/>
                  </a:ext>
                </a:extLst>
              </p:cNvPr>
              <p:cNvSpPr txBox="1"/>
              <p:nvPr/>
            </p:nvSpPr>
            <p:spPr>
              <a:xfrm>
                <a:off x="6506817" y="1042057"/>
                <a:ext cx="545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7           6             5            4           3             2            1          0</a:t>
                </a:r>
              </a:p>
            </p:txBody>
          </p:sp>
          <p:sp>
            <p:nvSpPr>
              <p:cNvPr id="2" name="Arrow: Curved Right 1">
                <a:extLst>
                  <a:ext uri="{FF2B5EF4-FFF2-40B4-BE49-F238E27FC236}">
                    <a16:creationId xmlns:a16="http://schemas.microsoft.com/office/drawing/2014/main" id="{A585292A-0356-4021-8152-B25F240E1F60}"/>
                  </a:ext>
                </a:extLst>
              </p:cNvPr>
              <p:cNvSpPr/>
              <p:nvPr/>
            </p:nvSpPr>
            <p:spPr>
              <a:xfrm>
                <a:off x="10792966" y="1222057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Arrow: Curved Right 12">
                <a:extLst>
                  <a:ext uri="{FF2B5EF4-FFF2-40B4-BE49-F238E27FC236}">
                    <a16:creationId xmlns:a16="http://schemas.microsoft.com/office/drawing/2014/main" id="{AEAB20AD-8BF8-41F9-99C0-6136500947BB}"/>
                  </a:ext>
                </a:extLst>
              </p:cNvPr>
              <p:cNvSpPr/>
              <p:nvPr/>
            </p:nvSpPr>
            <p:spPr>
              <a:xfrm>
                <a:off x="7017434" y="1237006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row: Curved Right 16">
                <a:extLst>
                  <a:ext uri="{FF2B5EF4-FFF2-40B4-BE49-F238E27FC236}">
                    <a16:creationId xmlns:a16="http://schemas.microsoft.com/office/drawing/2014/main" id="{3AC3A9D2-F97C-45BA-BE9F-111BD04B6A6A}"/>
                  </a:ext>
                </a:extLst>
              </p:cNvPr>
              <p:cNvSpPr/>
              <p:nvPr/>
            </p:nvSpPr>
            <p:spPr>
              <a:xfrm>
                <a:off x="6335046" y="1245503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row: Curved Right 18">
                <a:extLst>
                  <a:ext uri="{FF2B5EF4-FFF2-40B4-BE49-F238E27FC236}">
                    <a16:creationId xmlns:a16="http://schemas.microsoft.com/office/drawing/2014/main" id="{B469C5E8-EEA5-4B0F-A30A-090A9DB2C836}"/>
                  </a:ext>
                </a:extLst>
              </p:cNvPr>
              <p:cNvSpPr/>
              <p:nvPr/>
            </p:nvSpPr>
            <p:spPr>
              <a:xfrm>
                <a:off x="7852677" y="1145481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row: Curved Right 19">
                <a:extLst>
                  <a:ext uri="{FF2B5EF4-FFF2-40B4-BE49-F238E27FC236}">
                    <a16:creationId xmlns:a16="http://schemas.microsoft.com/office/drawing/2014/main" id="{12B0FC84-938A-406D-BEDD-BE4D171D5A96}"/>
                  </a:ext>
                </a:extLst>
              </p:cNvPr>
              <p:cNvSpPr/>
              <p:nvPr/>
            </p:nvSpPr>
            <p:spPr>
              <a:xfrm>
                <a:off x="11477046" y="1222057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row: Curved Right 20">
                <a:extLst>
                  <a:ext uri="{FF2B5EF4-FFF2-40B4-BE49-F238E27FC236}">
                    <a16:creationId xmlns:a16="http://schemas.microsoft.com/office/drawing/2014/main" id="{540556A6-CF9D-4B0C-A7A5-3A46421B8FB3}"/>
                  </a:ext>
                </a:extLst>
              </p:cNvPr>
              <p:cNvSpPr/>
              <p:nvPr/>
            </p:nvSpPr>
            <p:spPr>
              <a:xfrm>
                <a:off x="10025678" y="1193922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row: Curved Right 21">
                <a:extLst>
                  <a:ext uri="{FF2B5EF4-FFF2-40B4-BE49-F238E27FC236}">
                    <a16:creationId xmlns:a16="http://schemas.microsoft.com/office/drawing/2014/main" id="{A7A0CCEF-30D5-4E36-986E-67EDDA70D465}"/>
                  </a:ext>
                </a:extLst>
              </p:cNvPr>
              <p:cNvSpPr/>
              <p:nvPr/>
            </p:nvSpPr>
            <p:spPr>
              <a:xfrm>
                <a:off x="9236090" y="1230618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row: Curved Right 22">
                <a:extLst>
                  <a:ext uri="{FF2B5EF4-FFF2-40B4-BE49-F238E27FC236}">
                    <a16:creationId xmlns:a16="http://schemas.microsoft.com/office/drawing/2014/main" id="{5E0DAA25-5F4B-424C-83BF-D881C1CE424E}"/>
                  </a:ext>
                </a:extLst>
              </p:cNvPr>
              <p:cNvSpPr/>
              <p:nvPr/>
            </p:nvSpPr>
            <p:spPr>
              <a:xfrm>
                <a:off x="8574310" y="1210334"/>
                <a:ext cx="211016" cy="365760"/>
              </a:xfrm>
              <a:prstGeom prst="curved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D29F6B7-FDE2-4939-B8D3-3E23ECFF3DA1}"/>
                </a:ext>
              </a:extLst>
            </p:cNvPr>
            <p:cNvCxnSpPr/>
            <p:nvPr/>
          </p:nvCxnSpPr>
          <p:spPr>
            <a:xfrm flipH="1" flipV="1">
              <a:off x="5942936" y="1054126"/>
              <a:ext cx="558018" cy="103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CE9597-BB2B-45F0-9720-9FE8513B0D9D}"/>
                </a:ext>
              </a:extLst>
            </p:cNvPr>
            <p:cNvSpPr txBox="1"/>
            <p:nvPr/>
          </p:nvSpPr>
          <p:spPr>
            <a:xfrm>
              <a:off x="5349234" y="913127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(111)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4942A1-4F30-4657-A919-C783DAE700B1}"/>
                </a:ext>
              </a:extLst>
            </p:cNvPr>
            <p:cNvSpPr txBox="1"/>
            <p:nvPr/>
          </p:nvSpPr>
          <p:spPr>
            <a:xfrm>
              <a:off x="7386905" y="743248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(111)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6C302B-575F-485E-867A-8F9F2DF3563C}"/>
                </a:ext>
              </a:extLst>
            </p:cNvPr>
            <p:cNvCxnSpPr/>
            <p:nvPr/>
          </p:nvCxnSpPr>
          <p:spPr>
            <a:xfrm flipV="1">
              <a:off x="7358769" y="962511"/>
              <a:ext cx="153378" cy="149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CAA3769-8A9F-41FC-9B5F-6C974F809AE1}"/>
                </a:ext>
              </a:extLst>
            </p:cNvPr>
            <p:cNvSpPr txBox="1"/>
            <p:nvPr/>
          </p:nvSpPr>
          <p:spPr>
            <a:xfrm>
              <a:off x="9348890" y="712504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(011)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7A6ED7B-6550-4D8A-8A4E-2FE99898EB43}"/>
                </a:ext>
              </a:extLst>
            </p:cNvPr>
            <p:cNvCxnSpPr>
              <a:endCxn id="27" idx="2"/>
            </p:cNvCxnSpPr>
            <p:nvPr/>
          </p:nvCxnSpPr>
          <p:spPr>
            <a:xfrm flipV="1">
              <a:off x="9687284" y="1081836"/>
              <a:ext cx="0" cy="1551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669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29293A-9AAC-487B-A24B-E90AC856B104}"/>
              </a:ext>
            </a:extLst>
          </p:cNvPr>
          <p:cNvSpPr txBox="1"/>
          <p:nvPr/>
        </p:nvSpPr>
        <p:spPr>
          <a:xfrm>
            <a:off x="0" y="319286"/>
            <a:ext cx="1121133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wolfrule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=30;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rule=dec2bin(wolfrule,8);</a:t>
            </a:r>
          </a:p>
          <a:p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=1:8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)=str2num(rule(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nrows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=350;   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ncols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=700;    A=zeros(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nrows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ncols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A(1,350)=1;</a:t>
            </a:r>
          </a:p>
          <a:p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=2:nrows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j=2:ncols-1 </a:t>
            </a: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l=A(i-1,j-1); m=A(i-1,j); r=A(i-1,j+1);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(( l &amp; 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 m &amp;~r &amp; ru(2)) |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(3))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&amp;~r &amp; ru(4)) |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(5))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&amp;~r &amp; ru(6)) |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(7))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&amp;~r &amp; ru(8)) )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A(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i,j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)=1;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5CC01-188E-49AF-9748-75234CCD1008}"/>
              </a:ext>
            </a:extLst>
          </p:cNvPr>
          <p:cNvSpPr txBox="1"/>
          <p:nvPr/>
        </p:nvSpPr>
        <p:spPr>
          <a:xfrm>
            <a:off x="7633251" y="4230390"/>
            <a:ext cx="42804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I=mat2gray(A);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</a:p>
          <a:p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axis </a:t>
            </a:r>
            <a:r>
              <a:rPr lang="en-IN" sz="18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image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title(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wolfrule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I=mat2gray(2-A);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</a:p>
          <a:p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axis </a:t>
            </a:r>
            <a:r>
              <a:rPr lang="en-IN" sz="18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image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title(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wolfrule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11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ED8035-8F73-4F43-8B7C-567BDC3FC4B8}"/>
              </a:ext>
            </a:extLst>
          </p:cNvPr>
          <p:cNvSpPr txBox="1"/>
          <p:nvPr/>
        </p:nvSpPr>
        <p:spPr>
          <a:xfrm>
            <a:off x="55564" y="258901"/>
            <a:ext cx="6877879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(( l &amp; m &amp; r &amp; </a:t>
            </a:r>
            <a:r>
              <a:rPr lang="en-IN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(1)) | </a:t>
            </a:r>
            <a:r>
              <a:rPr lang="en-I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 m &amp;~r &amp; ru(2)) | </a:t>
            </a:r>
            <a:r>
              <a:rPr lang="de-DE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 r &amp; </a:t>
            </a:r>
            <a:r>
              <a:rPr lang="en-IN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(3)) | </a:t>
            </a:r>
            <a:r>
              <a:rPr lang="en-I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&amp;~r &amp; ru(4)) | </a:t>
            </a:r>
            <a:r>
              <a:rPr lang="de-DE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 r &amp; </a:t>
            </a:r>
            <a:r>
              <a:rPr lang="en-IN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(5)) | </a:t>
            </a:r>
            <a:r>
              <a:rPr lang="en-I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&amp;~r &amp; ru(6)) | </a:t>
            </a:r>
            <a:r>
              <a:rPr lang="de-DE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 r &amp; </a:t>
            </a:r>
            <a:r>
              <a:rPr lang="en-IN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(7)) | </a:t>
            </a:r>
            <a:r>
              <a:rPr lang="en-I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&amp;~r &amp; ru(8)) )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A(</a:t>
            </a:r>
            <a:r>
              <a:rPr lang="en-IN" sz="20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i,j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)=1;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9B7A3-8B4A-4DE1-939D-F68DD4F19D51}"/>
              </a:ext>
            </a:extLst>
          </p:cNvPr>
          <p:cNvSpPr/>
          <p:nvPr/>
        </p:nvSpPr>
        <p:spPr>
          <a:xfrm>
            <a:off x="6096000" y="258901"/>
            <a:ext cx="6040436" cy="538609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1 1 1   and if  ru (1)=1    output =1</a:t>
            </a:r>
          </a:p>
          <a:p>
            <a:r>
              <a:rPr lang="en-US" sz="3200" b="1" dirty="0">
                <a:ln/>
                <a:solidFill>
                  <a:srgbClr val="FF0000"/>
                </a:solidFill>
              </a:rPr>
              <a:t>1 1 0 and </a:t>
            </a:r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ru (2)=1             output =1</a:t>
            </a:r>
          </a:p>
          <a:p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1 0 1   and if  ru (3)=1    output =1</a:t>
            </a:r>
          </a:p>
          <a:p>
            <a:r>
              <a:rPr lang="en-US" sz="3200" b="1" dirty="0">
                <a:ln/>
                <a:solidFill>
                  <a:srgbClr val="FF0000"/>
                </a:solidFill>
              </a:rPr>
              <a:t>1 0 0 and </a:t>
            </a:r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ru (4)=1             output =1</a:t>
            </a:r>
          </a:p>
          <a:p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0 1 1   and if  ru (5)=1    output =1</a:t>
            </a:r>
          </a:p>
          <a:p>
            <a:r>
              <a:rPr lang="en-US" sz="3200" b="1" dirty="0">
                <a:ln/>
                <a:solidFill>
                  <a:srgbClr val="FF0000"/>
                </a:solidFill>
              </a:rPr>
              <a:t>0 1 0 and </a:t>
            </a:r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ru (6)=1             output =1</a:t>
            </a:r>
          </a:p>
          <a:p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0 0 1   and if  ru (7)=1    output =1</a:t>
            </a:r>
          </a:p>
          <a:p>
            <a:r>
              <a:rPr lang="en-US" sz="3200" b="1" dirty="0">
                <a:ln/>
                <a:solidFill>
                  <a:srgbClr val="FF0000"/>
                </a:solidFill>
              </a:rPr>
              <a:t>0 0 0 and </a:t>
            </a:r>
            <a:r>
              <a:rPr lang="en-US" sz="3200" b="1" cap="none" spc="0" dirty="0">
                <a:ln/>
                <a:solidFill>
                  <a:srgbClr val="FF0000"/>
                </a:solidFill>
                <a:effectLst/>
              </a:rPr>
              <a:t>ru (8)=1             output =1</a:t>
            </a:r>
          </a:p>
          <a:p>
            <a:pPr algn="ctr"/>
            <a:r>
              <a:rPr lang="en-US" sz="4800" b="1" cap="none" spc="0" dirty="0">
                <a:ln/>
                <a:solidFill>
                  <a:schemeClr val="accent4"/>
                </a:solidFill>
                <a:effectLst/>
              </a:rPr>
              <a:t>   </a:t>
            </a:r>
          </a:p>
          <a:p>
            <a:pPr algn="ctr"/>
            <a:r>
              <a:rPr lang="en-US" sz="4000" b="1" cap="none" spc="0" dirty="0">
                <a:ln/>
                <a:solidFill>
                  <a:schemeClr val="accent4"/>
                </a:solidFill>
                <a:effectLst/>
              </a:rPr>
              <a:t>   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8A4F153C-CA50-44F6-8F69-CF4263FF9C8B}"/>
              </a:ext>
            </a:extLst>
          </p:cNvPr>
          <p:cNvSpPr/>
          <p:nvPr/>
        </p:nvSpPr>
        <p:spPr>
          <a:xfrm>
            <a:off x="5897217" y="2550825"/>
            <a:ext cx="198783" cy="149749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E7373-CD90-4E1D-A0CA-DE23D0B86227}"/>
              </a:ext>
            </a:extLst>
          </p:cNvPr>
          <p:cNvSpPr/>
          <p:nvPr/>
        </p:nvSpPr>
        <p:spPr>
          <a:xfrm>
            <a:off x="6038921" y="4165165"/>
            <a:ext cx="1176924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l,m,r</a:t>
            </a:r>
            <a:endParaRPr lang="en-US" sz="4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2079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794625-7E5D-4EE6-9E9A-F14CF50D6628}"/>
              </a:ext>
            </a:extLst>
          </p:cNvPr>
          <p:cNvSpPr txBox="1"/>
          <p:nvPr/>
        </p:nvSpPr>
        <p:spPr>
          <a:xfrm>
            <a:off x="675860" y="706330"/>
            <a:ext cx="9634331" cy="56323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=2:nrows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j=2:ncols-1 </a:t>
            </a:r>
          </a:p>
          <a:p>
            <a:r>
              <a:rPr lang="pt-BR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l=A(i-1,j-1); m=A(i-1,j); r=A(i-1,j+1);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(( l &amp; m &amp; r &amp; </a:t>
            </a:r>
            <a:r>
              <a:rPr lang="en-IN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(1)) |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 m &amp;~r &amp; ru(2)) | </a:t>
            </a:r>
            <a:r>
              <a:rPr lang="de-DE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 r &amp; </a:t>
            </a:r>
            <a:r>
              <a:rPr lang="en-IN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(3)) |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&amp;~r &amp; ru(4)) | </a:t>
            </a:r>
            <a:r>
              <a:rPr lang="de-DE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 r &amp; </a:t>
            </a:r>
            <a:r>
              <a:rPr lang="en-IN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(5)) |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&amp;~r &amp; ru(6)) | </a:t>
            </a:r>
            <a:r>
              <a:rPr lang="de-DE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 r &amp; </a:t>
            </a:r>
            <a:r>
              <a:rPr lang="en-IN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(7)) |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&amp;~r &amp; ru(8)) )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A(</a:t>
            </a:r>
            <a:r>
              <a:rPr lang="en-IN" sz="24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i,j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)=1;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IN" sz="2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IN" sz="2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en-IN" sz="18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60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E72B90-47C3-4871-8A84-AA3740098830}"/>
              </a:ext>
            </a:extLst>
          </p:cNvPr>
          <p:cNvSpPr/>
          <p:nvPr/>
        </p:nvSpPr>
        <p:spPr>
          <a:xfrm>
            <a:off x="519328" y="143586"/>
            <a:ext cx="50948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cap="none" spc="0" dirty="0">
                <a:ln/>
                <a:solidFill>
                  <a:schemeClr val="accent4"/>
                </a:solidFill>
                <a:effectLst/>
              </a:rPr>
              <a:t>Beauty in the code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C6CE3-1B22-4869-B62F-E74A70A62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268" y="157975"/>
            <a:ext cx="5753536" cy="3128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9D9091-5F65-47BE-9C27-DDADF17E610C}"/>
              </a:ext>
            </a:extLst>
          </p:cNvPr>
          <p:cNvSpPr txBox="1"/>
          <p:nvPr/>
        </p:nvSpPr>
        <p:spPr>
          <a:xfrm>
            <a:off x="512199" y="3575093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l=A(i-1,j-1); m=A(i-1,j); r=A(i-1,j+1);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(( l &amp; 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 m &amp;~r &amp; ru(2)) |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(3))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 l &amp;~m &amp;~r &amp; ru(4)) |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(5))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 m &amp;~r &amp; ru(6)) |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 r &amp;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ru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(7)) |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(~l &amp;~m &amp;~r &amp; ru(8)) )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A(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i,j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)=1;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9ACF35-8087-47AB-BBDC-AC7BABF66C43}"/>
              </a:ext>
            </a:extLst>
          </p:cNvPr>
          <p:cNvGrpSpPr/>
          <p:nvPr/>
        </p:nvGrpSpPr>
        <p:grpSpPr>
          <a:xfrm>
            <a:off x="384372" y="1338605"/>
            <a:ext cx="5479361" cy="1809761"/>
            <a:chOff x="6872288" y="3429000"/>
            <a:chExt cx="4273927" cy="31196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3FC97C-A76A-4C8A-9F42-73F412B2EFAA}"/>
                </a:ext>
              </a:extLst>
            </p:cNvPr>
            <p:cNvSpPr/>
            <p:nvPr/>
          </p:nvSpPr>
          <p:spPr>
            <a:xfrm>
              <a:off x="7187293" y="3814763"/>
              <a:ext cx="985157" cy="8753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340A98-5FF3-4A7F-8CF5-BC87E19CA642}"/>
                </a:ext>
              </a:extLst>
            </p:cNvPr>
            <p:cNvSpPr/>
            <p:nvPr/>
          </p:nvSpPr>
          <p:spPr>
            <a:xfrm>
              <a:off x="8402114" y="3814763"/>
              <a:ext cx="985157" cy="8753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1E6B45-77E3-4315-8202-6B4479DBF74D}"/>
                </a:ext>
              </a:extLst>
            </p:cNvPr>
            <p:cNvSpPr/>
            <p:nvPr/>
          </p:nvSpPr>
          <p:spPr>
            <a:xfrm>
              <a:off x="9725706" y="3814763"/>
              <a:ext cx="985157" cy="8753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8F4C1D-FA38-469E-8A70-8E4AEC7CDF4C}"/>
                </a:ext>
              </a:extLst>
            </p:cNvPr>
            <p:cNvSpPr/>
            <p:nvPr/>
          </p:nvSpPr>
          <p:spPr>
            <a:xfrm>
              <a:off x="8402113" y="5461643"/>
              <a:ext cx="985157" cy="8753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A8B53122-C46B-4051-A07D-1886E13B577E}"/>
                </a:ext>
              </a:extLst>
            </p:cNvPr>
            <p:cNvSpPr/>
            <p:nvPr/>
          </p:nvSpPr>
          <p:spPr>
            <a:xfrm>
              <a:off x="8756076" y="5134380"/>
              <a:ext cx="208484" cy="31585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467BAB-E9EE-46E2-8000-36D055A624E2}"/>
                </a:ext>
              </a:extLst>
            </p:cNvPr>
            <p:cNvSpPr/>
            <p:nvPr/>
          </p:nvSpPr>
          <p:spPr>
            <a:xfrm>
              <a:off x="6872288" y="3429000"/>
              <a:ext cx="4273927" cy="3119645"/>
            </a:xfrm>
            <a:prstGeom prst="rect">
              <a:avLst/>
            </a:prstGeom>
            <a:noFill/>
            <a:ln w="666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72CF980-7980-456D-B9A6-7A49CFE1D184}"/>
              </a:ext>
            </a:extLst>
          </p:cNvPr>
          <p:cNvSpPr txBox="1"/>
          <p:nvPr/>
        </p:nvSpPr>
        <p:spPr>
          <a:xfrm>
            <a:off x="2578517" y="2628041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A(</a:t>
            </a:r>
            <a:r>
              <a:rPr lang="en-IN" sz="2000" b="1" dirty="0" err="1"/>
              <a:t>i,j</a:t>
            </a:r>
            <a:r>
              <a:rPr lang="en-IN" sz="2000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16D8D-3A32-4D39-9BCE-1891516E261D}"/>
              </a:ext>
            </a:extLst>
          </p:cNvPr>
          <p:cNvSpPr txBox="1"/>
          <p:nvPr/>
        </p:nvSpPr>
        <p:spPr>
          <a:xfrm>
            <a:off x="4073225" y="1500875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A(i-1,j+1)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7154A0-0402-4C64-B8B1-2A695D83C65F}"/>
              </a:ext>
            </a:extLst>
          </p:cNvPr>
          <p:cNvSpPr txBox="1"/>
          <p:nvPr/>
        </p:nvSpPr>
        <p:spPr>
          <a:xfrm>
            <a:off x="846428" y="1556485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A(i-1,j-1)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B390FB-AD1C-4DE8-86EE-0EF5B22FBFC5}"/>
              </a:ext>
            </a:extLst>
          </p:cNvPr>
          <p:cNvSpPr txBox="1"/>
          <p:nvPr/>
        </p:nvSpPr>
        <p:spPr>
          <a:xfrm>
            <a:off x="2515771" y="1517116"/>
            <a:ext cx="902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A(i-1,j)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8F7DB-EBDB-415B-BDEA-6DA3527ABF44}"/>
              </a:ext>
            </a:extLst>
          </p:cNvPr>
          <p:cNvSpPr/>
          <p:nvPr/>
        </p:nvSpPr>
        <p:spPr>
          <a:xfrm>
            <a:off x="788222" y="2033663"/>
            <a:ext cx="71840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rgbClr val="FF0000"/>
                </a:solidFill>
                <a:effectLst/>
              </a:rPr>
              <a:t>Left, 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BAAC2B-27DC-4DF8-BD65-74DB48180E13}"/>
              </a:ext>
            </a:extLst>
          </p:cNvPr>
          <p:cNvSpPr/>
          <p:nvPr/>
        </p:nvSpPr>
        <p:spPr>
          <a:xfrm>
            <a:off x="4180220" y="2004873"/>
            <a:ext cx="82695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rgbClr val="FF0000"/>
                </a:solidFill>
                <a:effectLst/>
              </a:rPr>
              <a:t>right, 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6B717B-073B-4F8B-A9D6-04B8190895FD}"/>
              </a:ext>
            </a:extLst>
          </p:cNvPr>
          <p:cNvSpPr/>
          <p:nvPr/>
        </p:nvSpPr>
        <p:spPr>
          <a:xfrm>
            <a:off x="2337969" y="1975844"/>
            <a:ext cx="114646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rgbClr val="FF0000"/>
                </a:solidFill>
                <a:effectLst/>
              </a:rPr>
              <a:t>middle, </a:t>
            </a:r>
            <a:r>
              <a:rPr lang="en-US" b="1" dirty="0">
                <a:ln/>
                <a:solidFill>
                  <a:srgbClr val="FF0000"/>
                </a:solidFill>
              </a:rPr>
              <a:t>m</a:t>
            </a:r>
            <a:endParaRPr lang="en-US" b="1" cap="none" spc="0" dirty="0">
              <a:ln/>
              <a:solidFill>
                <a:srgbClr val="FF0000"/>
              </a:solidFill>
              <a:effectLst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86771C-C7FF-4096-9015-F01B1B7A679D}"/>
              </a:ext>
            </a:extLst>
          </p:cNvPr>
          <p:cNvCxnSpPr/>
          <p:nvPr/>
        </p:nvCxnSpPr>
        <p:spPr>
          <a:xfrm flipV="1">
            <a:off x="5305592" y="2771681"/>
            <a:ext cx="3899444" cy="21238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658473E-2EB0-4855-B27C-2A388FAC431C}"/>
              </a:ext>
            </a:extLst>
          </p:cNvPr>
          <p:cNvSpPr txBox="1"/>
          <p:nvPr/>
        </p:nvSpPr>
        <p:spPr>
          <a:xfrm>
            <a:off x="8032652" y="3571462"/>
            <a:ext cx="3647149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Study how   a  single if statement with several logical ‘and’ and ‘or’  solves our problem for any rule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1593FD-FE12-4437-8A32-9849FB8AC258}"/>
              </a:ext>
            </a:extLst>
          </p:cNvPr>
          <p:cNvSpPr txBox="1"/>
          <p:nvPr/>
        </p:nvSpPr>
        <p:spPr>
          <a:xfrm>
            <a:off x="6328268" y="4781428"/>
            <a:ext cx="3647149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If rule number is changes, the mapping will be different.  Still</a:t>
            </a:r>
          </a:p>
          <a:p>
            <a:r>
              <a:rPr lang="en-IN" sz="2000" dirty="0"/>
              <a:t>the code works. Learn this thoroughly. In EOC(elements of computing you are learning this)</a:t>
            </a:r>
          </a:p>
        </p:txBody>
      </p:sp>
    </p:spTree>
    <p:extLst>
      <p:ext uri="{BB962C8B-B14F-4D97-AF65-F5344CB8AC3E}">
        <p14:creationId xmlns:p14="http://schemas.microsoft.com/office/powerpoint/2010/main" val="3128038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0224B1-7500-CBE0-0541-FD1CE0DDD384}"/>
              </a:ext>
            </a:extLst>
          </p:cNvPr>
          <p:cNvSpPr/>
          <p:nvPr/>
        </p:nvSpPr>
        <p:spPr>
          <a:xfrm>
            <a:off x="4652209" y="2967335"/>
            <a:ext cx="2887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2D Arrays</a:t>
            </a:r>
          </a:p>
        </p:txBody>
      </p:sp>
    </p:spTree>
    <p:extLst>
      <p:ext uri="{BB962C8B-B14F-4D97-AF65-F5344CB8AC3E}">
        <p14:creationId xmlns:p14="http://schemas.microsoft.com/office/powerpoint/2010/main" val="377714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125B2D-F406-B2EF-87B8-59BC4F498441}"/>
              </a:ext>
            </a:extLst>
          </p:cNvPr>
          <p:cNvSpPr/>
          <p:nvPr/>
        </p:nvSpPr>
        <p:spPr>
          <a:xfrm>
            <a:off x="2222871" y="533995"/>
            <a:ext cx="82225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nxn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Magic square for odd 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B7DFE-0FEA-7E94-C86D-9DE7CEE088BD}"/>
              </a:ext>
            </a:extLst>
          </p:cNvPr>
          <p:cNvSpPr/>
          <p:nvPr/>
        </p:nvSpPr>
        <p:spPr>
          <a:xfrm>
            <a:off x="1155809" y="1973035"/>
            <a:ext cx="1001101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Programming to create interesting</a:t>
            </a:r>
          </a:p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Mathematical objects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F9C7EA-1289-E6D1-9FE9-EF6BDD040349}"/>
              </a:ext>
            </a:extLst>
          </p:cNvPr>
          <p:cNvSpPr txBox="1"/>
          <p:nvPr/>
        </p:nvSpPr>
        <p:spPr>
          <a:xfrm>
            <a:off x="2871880" y="4243071"/>
            <a:ext cx="6448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Programming topics for first year students</a:t>
            </a:r>
            <a:endParaRPr lang="en-IN" sz="2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F70A5A-B42D-CFB6-DE99-C5EF27769F13}"/>
              </a:ext>
            </a:extLst>
          </p:cNvPr>
          <p:cNvSpPr/>
          <p:nvPr/>
        </p:nvSpPr>
        <p:spPr>
          <a:xfrm>
            <a:off x="1017964" y="5404952"/>
            <a:ext cx="98388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/>
              </a:rPr>
              <a:t>Program in Scribble by creating 2D Arrays</a:t>
            </a:r>
          </a:p>
        </p:txBody>
      </p:sp>
    </p:spTree>
    <p:extLst>
      <p:ext uri="{BB962C8B-B14F-4D97-AF65-F5344CB8AC3E}">
        <p14:creationId xmlns:p14="http://schemas.microsoft.com/office/powerpoint/2010/main" val="2943130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0940DD6-1DA8-4D13-9AF2-2A26C4917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3525" y="154780"/>
          <a:ext cx="2023041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711000" progId="Equation.DSMT4">
                  <p:embed/>
                </p:oleObj>
              </mc:Choice>
              <mc:Fallback>
                <p:oleObj name="Equation" r:id="rId2" imgW="965160" imgH="7110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0940DD6-1DA8-4D13-9AF2-2A26C4917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33525" y="154780"/>
                        <a:ext cx="2023041" cy="1490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3069D05-C492-9632-EFA5-379D160C5B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49" y="2431595"/>
          <a:ext cx="3895726" cy="250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1143000" progId="Equation.DSMT4">
                  <p:embed/>
                </p:oleObj>
              </mc:Choice>
              <mc:Fallback>
                <p:oleObj name="Equation" r:id="rId4" imgW="1777680" imgH="11430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3069D05-C492-9632-EFA5-379D160C5B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5349" y="2431595"/>
                        <a:ext cx="3895726" cy="2504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DED71C-67B3-0245-C41B-9DE71F0C094E}"/>
              </a:ext>
            </a:extLst>
          </p:cNvPr>
          <p:cNvSpPr txBox="1"/>
          <p:nvPr/>
        </p:nvSpPr>
        <p:spPr>
          <a:xfrm>
            <a:off x="0" y="1578755"/>
            <a:ext cx="6319615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row sum= column sum = diagonal sum=15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10522-3FB9-60D5-F2EB-4E1CB908D0E6}"/>
              </a:ext>
            </a:extLst>
          </p:cNvPr>
          <p:cNvSpPr txBox="1"/>
          <p:nvPr/>
        </p:nvSpPr>
        <p:spPr>
          <a:xfrm>
            <a:off x="123825" y="5198255"/>
            <a:ext cx="6319615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row sum= column sum = diagonal sum=65</a:t>
            </a:r>
            <a:endParaRPr lang="en-IN" sz="28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7C83D64-7D11-CA90-793F-ECE905774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2275" y="1042988"/>
          <a:ext cx="4992688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1600200" progId="Equation.DSMT4">
                  <p:embed/>
                </p:oleObj>
              </mc:Choice>
              <mc:Fallback>
                <p:oleObj name="Equation" r:id="rId6" imgW="2361960" imgH="16002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7C83D64-7D11-CA90-793F-ECE905774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72275" y="1042988"/>
                        <a:ext cx="4992688" cy="338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7511ECC-C3D1-876A-185C-11FAB0434251}"/>
              </a:ext>
            </a:extLst>
          </p:cNvPr>
          <p:cNvSpPr/>
          <p:nvPr/>
        </p:nvSpPr>
        <p:spPr>
          <a:xfrm>
            <a:off x="3434694" y="5934670"/>
            <a:ext cx="57698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do we create?.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AD461-D139-2BE5-AF3E-E595ECFFD292}"/>
              </a:ext>
            </a:extLst>
          </p:cNvPr>
          <p:cNvSpPr txBox="1"/>
          <p:nvPr/>
        </p:nvSpPr>
        <p:spPr>
          <a:xfrm>
            <a:off x="4525343" y="0"/>
            <a:ext cx="35885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Magic squares </a:t>
            </a:r>
            <a:endParaRPr lang="en-IN" sz="4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D997AD-D502-5040-CEFF-8E1C635AC937}"/>
              </a:ext>
            </a:extLst>
          </p:cNvPr>
          <p:cNvCxnSpPr/>
          <p:nvPr/>
        </p:nvCxnSpPr>
        <p:spPr>
          <a:xfrm flipV="1">
            <a:off x="533400" y="1323975"/>
            <a:ext cx="1266825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69FE34-7EA0-F821-377E-C5D878FF717A}"/>
              </a:ext>
            </a:extLst>
          </p:cNvPr>
          <p:cNvCxnSpPr/>
          <p:nvPr/>
        </p:nvCxnSpPr>
        <p:spPr>
          <a:xfrm flipV="1">
            <a:off x="427037" y="4552950"/>
            <a:ext cx="653828" cy="712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514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12B0699-9CD1-68E1-9701-0BCDA393C8BC}"/>
              </a:ext>
            </a:extLst>
          </p:cNvPr>
          <p:cNvGrpSpPr/>
          <p:nvPr/>
        </p:nvGrpSpPr>
        <p:grpSpPr>
          <a:xfrm>
            <a:off x="457201" y="1362269"/>
            <a:ext cx="5326224" cy="4432040"/>
            <a:chOff x="2612572" y="1250302"/>
            <a:chExt cx="5326224" cy="44320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C889F73-C7F0-AB31-F431-50C114F511D4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59DEEA7-8953-93A8-FA02-B060E39DDA86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02CD710-26C1-7C27-A9D8-0EC478CF3874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106B84F-51E7-89C8-17A1-C81AEBE7421B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7F8E8E2-EF77-ABDB-F429-A64011CD1122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b="1" dirty="0">
                    <a:solidFill>
                      <a:srgbClr val="FF0000"/>
                    </a:solidFill>
                  </a:rPr>
                  <a:t>1</a:t>
                </a:r>
                <a:endParaRPr lang="en-IN" sz="4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2EE75DB-F832-48EB-53B4-14E5C407F9AE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0D18CDE-2FD6-CCD4-C7CD-BFA124D700D3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952351-FCC9-AAFD-1D8B-BDDC41B3C968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296A02E-8C7E-AA23-6C1C-3DFFC7542271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9E28F93-38EA-6B86-69A2-84C0334341B8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36FAC18-510B-1662-4ED7-AEEC8B15E9DF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04AC8F-17CB-A519-CE9F-41F258DABEF0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96792C9-53F2-18F4-F5FC-5BEF9407BB47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FD9C6D1-E1F0-B36A-F3A3-A4F6EBE7EA22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248947-4B30-1A82-7D5C-98C3831DA312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2B6505-ED50-52D0-C597-FC984B02DACE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893D9BA-1771-6880-AB75-F6A5FBF085B2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3ED9D12-A8B5-6025-6321-C23651D93395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3EEEBA1-C7B9-52BC-A6B6-DE7E9DF3330B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928A82A-646C-7745-D2DE-4132C5B104EC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A32049E-5BBC-0D3F-2151-DF1DCF4F13C7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3833684-8CAE-A5FA-FA11-80467ED9821B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224EBBE-FA12-F61E-89AD-2EC7583CE574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AD8DADA-0EFE-037F-02EA-ED6971703952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013E1F5-12E0-811B-B59A-5E6A65F15AD8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71268AC-9E28-48C6-26CC-C94C092474CC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8C96789-8942-5183-4E53-A8D542D4FDC6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81303AA-2CE4-8B01-257C-CCD6883C57AF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466E044-B218-3D70-D508-636183FE745E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73FDAE6-48EB-EB2D-6FF7-0A621AEE5363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31636-A10A-3336-5883-FFF7CA3B23FF}"/>
              </a:ext>
            </a:extLst>
          </p:cNvPr>
          <p:cNvSpPr/>
          <p:nvPr/>
        </p:nvSpPr>
        <p:spPr>
          <a:xfrm>
            <a:off x="113747" y="32656"/>
            <a:ext cx="13276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N=5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D5EB763-FC88-D43F-3096-AEFC465FA3C4}"/>
              </a:ext>
            </a:extLst>
          </p:cNvPr>
          <p:cNvCxnSpPr/>
          <p:nvPr/>
        </p:nvCxnSpPr>
        <p:spPr>
          <a:xfrm flipV="1">
            <a:off x="3248803" y="1063689"/>
            <a:ext cx="933839" cy="59715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5E18027-7BE3-6402-EB38-58F5C28AA6DA}"/>
              </a:ext>
            </a:extLst>
          </p:cNvPr>
          <p:cNvSpPr txBox="1"/>
          <p:nvPr/>
        </p:nvSpPr>
        <p:spPr>
          <a:xfrm>
            <a:off x="2712184" y="0"/>
            <a:ext cx="31927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Fill in middle cell of the top row.</a:t>
            </a:r>
          </a:p>
          <a:p>
            <a:r>
              <a:rPr lang="en-US" dirty="0"/>
              <a:t>Move towards right diagonal. </a:t>
            </a:r>
          </a:p>
          <a:p>
            <a:r>
              <a:rPr lang="en-US" dirty="0"/>
              <a:t>We cross the grid</a:t>
            </a:r>
            <a:endParaRPr lang="en-IN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9E6F7BD-B555-3F68-E5DD-A4599F020998}"/>
              </a:ext>
            </a:extLst>
          </p:cNvPr>
          <p:cNvGrpSpPr/>
          <p:nvPr/>
        </p:nvGrpSpPr>
        <p:grpSpPr>
          <a:xfrm>
            <a:off x="6609185" y="1063688"/>
            <a:ext cx="5326224" cy="4808376"/>
            <a:chOff x="6609185" y="1063688"/>
            <a:chExt cx="5326224" cy="480837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D6C04D5-F8F4-53EE-AC71-C9AF56333A80}"/>
                </a:ext>
              </a:extLst>
            </p:cNvPr>
            <p:cNvGrpSpPr/>
            <p:nvPr/>
          </p:nvGrpSpPr>
          <p:grpSpPr>
            <a:xfrm>
              <a:off x="6609185" y="1440024"/>
              <a:ext cx="5326224" cy="4432040"/>
              <a:chOff x="2612572" y="1250302"/>
              <a:chExt cx="5326224" cy="443204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85C0E0D-FA18-FA28-F414-F7C6261D3D42}"/>
                  </a:ext>
                </a:extLst>
              </p:cNvPr>
              <p:cNvGrpSpPr/>
              <p:nvPr/>
            </p:nvGrpSpPr>
            <p:grpSpPr>
              <a:xfrm>
                <a:off x="2627733" y="1250302"/>
                <a:ext cx="5309509" cy="886408"/>
                <a:chOff x="880576" y="1296955"/>
                <a:chExt cx="5309509" cy="886408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321ED77D-DCF2-A5DE-896A-BACFD154AC27}"/>
                    </a:ext>
                  </a:extLst>
                </p:cNvPr>
                <p:cNvSpPr/>
                <p:nvPr/>
              </p:nvSpPr>
              <p:spPr>
                <a:xfrm>
                  <a:off x="88057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95C15922-FC98-4A1D-3DC0-862F3CBFDBAD}"/>
                    </a:ext>
                  </a:extLst>
                </p:cNvPr>
                <p:cNvSpPr/>
                <p:nvPr/>
              </p:nvSpPr>
              <p:spPr>
                <a:xfrm>
                  <a:off x="1950098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D05883E4-4944-4C22-2BB4-F4615BC08708}"/>
                    </a:ext>
                  </a:extLst>
                </p:cNvPr>
                <p:cNvSpPr/>
                <p:nvPr/>
              </p:nvSpPr>
              <p:spPr>
                <a:xfrm>
                  <a:off x="5167605" y="1296955"/>
                  <a:ext cx="1022480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F055C0C-2951-01E2-139C-464D637FF2D1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b="1" dirty="0">
                      <a:solidFill>
                        <a:srgbClr val="FF0000"/>
                      </a:solidFill>
                    </a:rPr>
                    <a:t>1</a:t>
                  </a:r>
                  <a:endParaRPr lang="en-IN" sz="4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3079295A-1B0F-3EF9-E529-61E3DF41DE71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C8500C83-B115-2845-B1BB-4404AF70625A}"/>
                  </a:ext>
                </a:extLst>
              </p:cNvPr>
              <p:cNvGrpSpPr/>
              <p:nvPr/>
            </p:nvGrpSpPr>
            <p:grpSpPr>
              <a:xfrm>
                <a:off x="2612572" y="2136710"/>
                <a:ext cx="5326224" cy="886408"/>
                <a:chOff x="895739" y="1296955"/>
                <a:chExt cx="5326224" cy="886408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F5C0268-AB65-EDB5-09F3-9C778278E5D7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7E00CF8-8FEE-8AA6-3C68-E817C862C521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4D6CA1B8-E170-84F9-7A38-7C691D9CF49B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80C7457D-25C8-5CF6-5AC3-B0612BF10E0D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EA49C80-2AFC-5481-469C-8D7146D33F13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E59E293-6EC7-DD0D-D110-398690C288D9}"/>
                  </a:ext>
                </a:extLst>
              </p:cNvPr>
              <p:cNvGrpSpPr/>
              <p:nvPr/>
            </p:nvGrpSpPr>
            <p:grpSpPr>
              <a:xfrm>
                <a:off x="2612572" y="3023118"/>
                <a:ext cx="5326224" cy="886408"/>
                <a:chOff x="895739" y="1296955"/>
                <a:chExt cx="5326224" cy="886408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AEC6E7A-5F3F-90EF-6709-D892E7C942EE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08468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2D5E2D5-60B7-0590-EDE2-46F7F1496BDA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EB690C34-6C3D-F092-EF1B-B338862F029E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0CBF4E7-8760-8204-DBFF-B2874A952B75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6B5DAB4-47A4-1124-476E-9DCFBD9C6DB5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20E2F8A-D4BE-871C-2F3C-19FA5CEEF512}"/>
                  </a:ext>
                </a:extLst>
              </p:cNvPr>
              <p:cNvGrpSpPr/>
              <p:nvPr/>
            </p:nvGrpSpPr>
            <p:grpSpPr>
              <a:xfrm>
                <a:off x="2612572" y="3909526"/>
                <a:ext cx="5326224" cy="886408"/>
                <a:chOff x="895739" y="1296955"/>
                <a:chExt cx="5326224" cy="886408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C2F94A8-AD7B-AC76-AF11-75D0CEB632C4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08468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7034F2B-9927-2FB4-2C70-32A37E9E242E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797DA25-B3EF-FC20-5408-44379526550B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85684B86-DB34-40AC-06AF-20B2F980D1A3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287460F-4240-9249-E64A-0942244754DE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857FE3D-DB17-3E37-3F73-C5087318BB30}"/>
                  </a:ext>
                </a:extLst>
              </p:cNvPr>
              <p:cNvGrpSpPr/>
              <p:nvPr/>
            </p:nvGrpSpPr>
            <p:grpSpPr>
              <a:xfrm>
                <a:off x="2612572" y="4795934"/>
                <a:ext cx="5326224" cy="886408"/>
                <a:chOff x="895739" y="1296955"/>
                <a:chExt cx="5326224" cy="886408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4E99FF7C-0985-5214-5F0A-65B9E82FC01D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A1172B5-659A-5589-7D62-421019A4C781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75CE512-909B-C526-1B4D-B21773C7ABBB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1B4D06B0-C2E5-FCB8-41C4-CAE30326BBC4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2E5C44EC-E6AA-8441-3A9F-B66FA9128F6E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rgbClr val="FF0000"/>
                      </a:solidFill>
                    </a:rPr>
                    <a:t>2</a:t>
                  </a:r>
                  <a:endParaRPr lang="en-IN" sz="44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F1281CF-B74D-7C32-3CBA-5A80A2446E00}"/>
                </a:ext>
              </a:extLst>
            </p:cNvPr>
            <p:cNvCxnSpPr/>
            <p:nvPr/>
          </p:nvCxnSpPr>
          <p:spPr>
            <a:xfrm flipV="1">
              <a:off x="9332945" y="1063688"/>
              <a:ext cx="933839" cy="597159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4FB0612-BF3E-3060-89D0-B2B764C5D789}"/>
                </a:ext>
              </a:extLst>
            </p:cNvPr>
            <p:cNvCxnSpPr/>
            <p:nvPr/>
          </p:nvCxnSpPr>
          <p:spPr>
            <a:xfrm>
              <a:off x="10266784" y="1063688"/>
              <a:ext cx="0" cy="4203637"/>
            </a:xfrm>
            <a:prstGeom prst="straightConnector1">
              <a:avLst/>
            </a:prstGeom>
            <a:ln w="28575"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595D7D7-1A56-0DE3-0914-81ADADFDCC5C}"/>
              </a:ext>
            </a:extLst>
          </p:cNvPr>
          <p:cNvSpPr txBox="1"/>
          <p:nvPr/>
        </p:nvSpPr>
        <p:spPr>
          <a:xfrm>
            <a:off x="8037296" y="404617"/>
            <a:ext cx="3779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cross top boundary , go down to </a:t>
            </a:r>
          </a:p>
          <a:p>
            <a:r>
              <a:rPr lang="en-US" dirty="0"/>
              <a:t>the column and fill in next number</a:t>
            </a:r>
            <a:endParaRPr lang="en-IN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B745BE8-1D0A-8E39-4CAC-B5B2FFF5F567}"/>
              </a:ext>
            </a:extLst>
          </p:cNvPr>
          <p:cNvSpPr/>
          <p:nvPr/>
        </p:nvSpPr>
        <p:spPr>
          <a:xfrm>
            <a:off x="8548398" y="5932910"/>
            <a:ext cx="19367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1</a:t>
            </a:r>
          </a:p>
        </p:txBody>
      </p:sp>
    </p:spTree>
    <p:extLst>
      <p:ext uri="{BB962C8B-B14F-4D97-AF65-F5344CB8AC3E}">
        <p14:creationId xmlns:p14="http://schemas.microsoft.com/office/powerpoint/2010/main" val="251814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CFE3309-E389-6491-BD0A-44C1EC81C4AD}"/>
              </a:ext>
            </a:extLst>
          </p:cNvPr>
          <p:cNvGrpSpPr/>
          <p:nvPr/>
        </p:nvGrpSpPr>
        <p:grpSpPr>
          <a:xfrm>
            <a:off x="170672" y="511628"/>
            <a:ext cx="5326224" cy="4808376"/>
            <a:chOff x="422989" y="1024812"/>
            <a:chExt cx="5326224" cy="4808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87F441F-9427-2E84-4D75-B3754A88073D}"/>
                </a:ext>
              </a:extLst>
            </p:cNvPr>
            <p:cNvGrpSpPr/>
            <p:nvPr/>
          </p:nvGrpSpPr>
          <p:grpSpPr>
            <a:xfrm>
              <a:off x="422989" y="1024812"/>
              <a:ext cx="5326224" cy="4808376"/>
              <a:chOff x="6609185" y="1063688"/>
              <a:chExt cx="5326224" cy="480837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959FF93-4F87-C9F6-523E-E41BAAE9C316}"/>
                  </a:ext>
                </a:extLst>
              </p:cNvPr>
              <p:cNvGrpSpPr/>
              <p:nvPr/>
            </p:nvGrpSpPr>
            <p:grpSpPr>
              <a:xfrm>
                <a:off x="6609185" y="1440024"/>
                <a:ext cx="5326224" cy="4432040"/>
                <a:chOff x="2612572" y="1250302"/>
                <a:chExt cx="5326224" cy="443204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24443ECF-9193-8F6C-3F7D-E056AE8F223B}"/>
                    </a:ext>
                  </a:extLst>
                </p:cNvPr>
                <p:cNvGrpSpPr/>
                <p:nvPr/>
              </p:nvGrpSpPr>
              <p:grpSpPr>
                <a:xfrm>
                  <a:off x="2627733" y="1250302"/>
                  <a:ext cx="5309509" cy="886408"/>
                  <a:chOff x="880576" y="1296955"/>
                  <a:chExt cx="5309509" cy="886408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D3ECDA16-4B07-841C-B45F-C07767EC3C81}"/>
                      </a:ext>
                    </a:extLst>
                  </p:cNvPr>
                  <p:cNvSpPr/>
                  <p:nvPr/>
                </p:nvSpPr>
                <p:spPr>
                  <a:xfrm>
                    <a:off x="880576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1329B67-4D19-B69D-D16E-E9A4F1B693D7}"/>
                      </a:ext>
                    </a:extLst>
                  </p:cNvPr>
                  <p:cNvSpPr/>
                  <p:nvPr/>
                </p:nvSpPr>
                <p:spPr>
                  <a:xfrm>
                    <a:off x="1950098" y="1296955"/>
                    <a:ext cx="1113453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5B47026-8706-38A6-F6A3-E19E04E1DB57}"/>
                      </a:ext>
                    </a:extLst>
                  </p:cNvPr>
                  <p:cNvSpPr/>
                  <p:nvPr/>
                </p:nvSpPr>
                <p:spPr>
                  <a:xfrm>
                    <a:off x="5167605" y="1296955"/>
                    <a:ext cx="1022480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9FE87BA4-91D7-9C68-B0A6-1E2C36BD1097}"/>
                      </a:ext>
                    </a:extLst>
                  </p:cNvPr>
                  <p:cNvSpPr/>
                  <p:nvPr/>
                </p:nvSpPr>
                <p:spPr>
                  <a:xfrm>
                    <a:off x="3061996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400" b="1" dirty="0">
                        <a:solidFill>
                          <a:srgbClr val="FF0000"/>
                        </a:solidFill>
                      </a:rPr>
                      <a:t>1</a:t>
                    </a:r>
                    <a:endParaRPr lang="en-IN" sz="44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9AB0E424-95F9-AC09-3947-6947C0957E74}"/>
                      </a:ext>
                    </a:extLst>
                  </p:cNvPr>
                  <p:cNvSpPr/>
                  <p:nvPr/>
                </p:nvSpPr>
                <p:spPr>
                  <a:xfrm>
                    <a:off x="4114800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0C1DD170-8770-6AE7-340A-B3A75FABAFFD}"/>
                    </a:ext>
                  </a:extLst>
                </p:cNvPr>
                <p:cNvGrpSpPr/>
                <p:nvPr/>
              </p:nvGrpSpPr>
              <p:grpSpPr>
                <a:xfrm>
                  <a:off x="2612572" y="2136710"/>
                  <a:ext cx="5326224" cy="886408"/>
                  <a:chOff x="895739" y="1296955"/>
                  <a:chExt cx="5326224" cy="886408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EE83A463-4480-F937-36BD-7463D17B3A95}"/>
                      </a:ext>
                    </a:extLst>
                  </p:cNvPr>
                  <p:cNvSpPr/>
                  <p:nvPr/>
                </p:nvSpPr>
                <p:spPr>
                  <a:xfrm>
                    <a:off x="895739" y="1296955"/>
                    <a:ext cx="1113453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D2C5CFC4-91F2-90F7-14A3-6E1312A9A2E5}"/>
                      </a:ext>
                    </a:extLst>
                  </p:cNvPr>
                  <p:cNvSpPr/>
                  <p:nvPr/>
                </p:nvSpPr>
                <p:spPr>
                  <a:xfrm>
                    <a:off x="2009192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C991C544-4E2A-C061-99CA-7C9733747829}"/>
                      </a:ext>
                    </a:extLst>
                  </p:cNvPr>
                  <p:cNvSpPr/>
                  <p:nvPr/>
                </p:nvSpPr>
                <p:spPr>
                  <a:xfrm>
                    <a:off x="5167604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A0D1A2D2-26D7-E384-38A4-E54FC32815E3}"/>
                      </a:ext>
                    </a:extLst>
                  </p:cNvPr>
                  <p:cNvSpPr/>
                  <p:nvPr/>
                </p:nvSpPr>
                <p:spPr>
                  <a:xfrm>
                    <a:off x="3061996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2F0C6BB7-8D02-4C7E-F69D-E99A976A5BEA}"/>
                      </a:ext>
                    </a:extLst>
                  </p:cNvPr>
                  <p:cNvSpPr/>
                  <p:nvPr/>
                </p:nvSpPr>
                <p:spPr>
                  <a:xfrm>
                    <a:off x="4114800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F7BAA39-9968-20AB-43B8-BC0C36A92E8D}"/>
                    </a:ext>
                  </a:extLst>
                </p:cNvPr>
                <p:cNvGrpSpPr/>
                <p:nvPr/>
              </p:nvGrpSpPr>
              <p:grpSpPr>
                <a:xfrm>
                  <a:off x="2612572" y="3023118"/>
                  <a:ext cx="5326224" cy="886408"/>
                  <a:chOff x="895739" y="1296955"/>
                  <a:chExt cx="5326224" cy="886408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F64D0AB2-F706-55B5-9226-AE0CCC963686}"/>
                      </a:ext>
                    </a:extLst>
                  </p:cNvPr>
                  <p:cNvSpPr/>
                  <p:nvPr/>
                </p:nvSpPr>
                <p:spPr>
                  <a:xfrm>
                    <a:off x="895739" y="1296955"/>
                    <a:ext cx="1084683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66C98842-1F34-D7A3-5E03-49D10095C776}"/>
                      </a:ext>
                    </a:extLst>
                  </p:cNvPr>
                  <p:cNvSpPr/>
                  <p:nvPr/>
                </p:nvSpPr>
                <p:spPr>
                  <a:xfrm>
                    <a:off x="2009192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2F5CD50-9AA5-70D8-32FE-6E37743BDB17}"/>
                      </a:ext>
                    </a:extLst>
                  </p:cNvPr>
                  <p:cNvSpPr/>
                  <p:nvPr/>
                </p:nvSpPr>
                <p:spPr>
                  <a:xfrm>
                    <a:off x="5167604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6006D320-FEB2-1094-98D9-E25A8B5F53F1}"/>
                      </a:ext>
                    </a:extLst>
                  </p:cNvPr>
                  <p:cNvSpPr/>
                  <p:nvPr/>
                </p:nvSpPr>
                <p:spPr>
                  <a:xfrm>
                    <a:off x="3061996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27D18ECE-AC7D-4F29-0953-A8F9B563AC89}"/>
                      </a:ext>
                    </a:extLst>
                  </p:cNvPr>
                  <p:cNvSpPr/>
                  <p:nvPr/>
                </p:nvSpPr>
                <p:spPr>
                  <a:xfrm>
                    <a:off x="4114800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82D605-5085-6744-D691-48CF9C5F15B8}"/>
                    </a:ext>
                  </a:extLst>
                </p:cNvPr>
                <p:cNvGrpSpPr/>
                <p:nvPr/>
              </p:nvGrpSpPr>
              <p:grpSpPr>
                <a:xfrm>
                  <a:off x="2612572" y="3909526"/>
                  <a:ext cx="5326224" cy="886408"/>
                  <a:chOff x="895739" y="1296955"/>
                  <a:chExt cx="5326224" cy="88640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C766B39-27CA-F474-A62D-94E10CCEE782}"/>
                      </a:ext>
                    </a:extLst>
                  </p:cNvPr>
                  <p:cNvSpPr/>
                  <p:nvPr/>
                </p:nvSpPr>
                <p:spPr>
                  <a:xfrm>
                    <a:off x="895739" y="1296955"/>
                    <a:ext cx="1084683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80D28EE-B6CE-48C5-4F06-3AF1B18898CE}"/>
                      </a:ext>
                    </a:extLst>
                  </p:cNvPr>
                  <p:cNvSpPr/>
                  <p:nvPr/>
                </p:nvSpPr>
                <p:spPr>
                  <a:xfrm>
                    <a:off x="2009192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B6A1B215-39E6-25AD-DED1-269864D3E328}"/>
                      </a:ext>
                    </a:extLst>
                  </p:cNvPr>
                  <p:cNvSpPr/>
                  <p:nvPr/>
                </p:nvSpPr>
                <p:spPr>
                  <a:xfrm>
                    <a:off x="5167604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200" dirty="0">
                        <a:solidFill>
                          <a:srgbClr val="FF0000"/>
                        </a:solidFill>
                      </a:rPr>
                      <a:t>3</a:t>
                    </a:r>
                    <a:endParaRPr lang="en-IN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B6D140ED-6072-B5BA-201B-95BE97A64ED9}"/>
                      </a:ext>
                    </a:extLst>
                  </p:cNvPr>
                  <p:cNvSpPr/>
                  <p:nvPr/>
                </p:nvSpPr>
                <p:spPr>
                  <a:xfrm>
                    <a:off x="3061996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D6F2E43E-862D-DFAA-FB2F-3EC0939396EA}"/>
                      </a:ext>
                    </a:extLst>
                  </p:cNvPr>
                  <p:cNvSpPr/>
                  <p:nvPr/>
                </p:nvSpPr>
                <p:spPr>
                  <a:xfrm>
                    <a:off x="4114800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A5B3DF4-0D21-47BD-029D-73F730E058E2}"/>
                    </a:ext>
                  </a:extLst>
                </p:cNvPr>
                <p:cNvGrpSpPr/>
                <p:nvPr/>
              </p:nvGrpSpPr>
              <p:grpSpPr>
                <a:xfrm>
                  <a:off x="2612572" y="4795934"/>
                  <a:ext cx="5326224" cy="886408"/>
                  <a:chOff x="895739" y="1296955"/>
                  <a:chExt cx="5326224" cy="886408"/>
                </a:xfrm>
              </p:grpSpPr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61A788A6-E3E3-401E-47B9-7B81D152FED2}"/>
                      </a:ext>
                    </a:extLst>
                  </p:cNvPr>
                  <p:cNvSpPr/>
                  <p:nvPr/>
                </p:nvSpPr>
                <p:spPr>
                  <a:xfrm>
                    <a:off x="895739" y="1296955"/>
                    <a:ext cx="1113453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10BAD69F-3EFF-DC05-4A6F-431294802078}"/>
                      </a:ext>
                    </a:extLst>
                  </p:cNvPr>
                  <p:cNvSpPr/>
                  <p:nvPr/>
                </p:nvSpPr>
                <p:spPr>
                  <a:xfrm>
                    <a:off x="2009192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23637D1-C236-81EE-B8A7-3F9A1D49F4E2}"/>
                      </a:ext>
                    </a:extLst>
                  </p:cNvPr>
                  <p:cNvSpPr/>
                  <p:nvPr/>
                </p:nvSpPr>
                <p:spPr>
                  <a:xfrm>
                    <a:off x="5167604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078F8E84-EE65-DAE9-9D73-8E8F691B67D3}"/>
                      </a:ext>
                    </a:extLst>
                  </p:cNvPr>
                  <p:cNvSpPr/>
                  <p:nvPr/>
                </p:nvSpPr>
                <p:spPr>
                  <a:xfrm>
                    <a:off x="3061996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5D1CDC07-BD3D-DE85-B75C-AC030FB6BA8A}"/>
                      </a:ext>
                    </a:extLst>
                  </p:cNvPr>
                  <p:cNvSpPr/>
                  <p:nvPr/>
                </p:nvSpPr>
                <p:spPr>
                  <a:xfrm>
                    <a:off x="4114800" y="1296955"/>
                    <a:ext cx="1054359" cy="886408"/>
                  </a:xfrm>
                  <a:prstGeom prst="rect">
                    <a:avLst/>
                  </a:prstGeom>
                  <a:noFill/>
                  <a:ln w="539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400" dirty="0">
                        <a:solidFill>
                          <a:srgbClr val="FF0000"/>
                        </a:solidFill>
                      </a:rPr>
                      <a:t>2</a:t>
                    </a:r>
                    <a:endParaRPr lang="en-IN" sz="4400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81D52B1E-30DB-75E3-C84C-C22CAFA20F1B}"/>
                  </a:ext>
                </a:extLst>
              </p:cNvPr>
              <p:cNvCxnSpPr/>
              <p:nvPr/>
            </p:nvCxnSpPr>
            <p:spPr>
              <a:xfrm flipV="1">
                <a:off x="9332945" y="1063688"/>
                <a:ext cx="933839" cy="597159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A734CA9F-5E85-07BF-DB48-CB374109D3D0}"/>
                  </a:ext>
                </a:extLst>
              </p:cNvPr>
              <p:cNvCxnSpPr/>
              <p:nvPr/>
            </p:nvCxnSpPr>
            <p:spPr>
              <a:xfrm>
                <a:off x="10266784" y="1063688"/>
                <a:ext cx="0" cy="4203637"/>
              </a:xfrm>
              <a:prstGeom prst="straightConnector1">
                <a:avLst/>
              </a:prstGeom>
              <a:ln w="28575"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E1C4A58-550A-A337-06A0-1853B96BC251}"/>
                </a:ext>
              </a:extLst>
            </p:cNvPr>
            <p:cNvCxnSpPr/>
            <p:nvPr/>
          </p:nvCxnSpPr>
          <p:spPr>
            <a:xfrm flipV="1">
              <a:off x="4197999" y="4685718"/>
              <a:ext cx="933839" cy="597159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7567FD0-A754-4EEF-5D42-60598523076D}"/>
              </a:ext>
            </a:extLst>
          </p:cNvPr>
          <p:cNvSpPr txBox="1"/>
          <p:nvPr/>
        </p:nvSpPr>
        <p:spPr>
          <a:xfrm>
            <a:off x="2947480" y="5700040"/>
            <a:ext cx="2990114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Move towards right diagonal.</a:t>
            </a:r>
          </a:p>
          <a:p>
            <a:r>
              <a:rPr lang="en-US" dirty="0"/>
              <a:t>It is unfilled . Fill it with 3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1F1B65-7BF2-F3E4-A9E4-986D16AC176C}"/>
              </a:ext>
            </a:extLst>
          </p:cNvPr>
          <p:cNvCxnSpPr>
            <a:endCxn id="38" idx="0"/>
          </p:cNvCxnSpPr>
          <p:nvPr/>
        </p:nvCxnSpPr>
        <p:spPr>
          <a:xfrm>
            <a:off x="4079509" y="4855224"/>
            <a:ext cx="363028" cy="844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B41D60A-595A-B8BA-886C-9AEACE3875F0}"/>
              </a:ext>
            </a:extLst>
          </p:cNvPr>
          <p:cNvGrpSpPr/>
          <p:nvPr/>
        </p:nvGrpSpPr>
        <p:grpSpPr>
          <a:xfrm>
            <a:off x="6111161" y="511628"/>
            <a:ext cx="5903554" cy="4808376"/>
            <a:chOff x="6111161" y="511628"/>
            <a:chExt cx="5903554" cy="4808376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687692D-AEA0-B978-E792-9353EFD8680E}"/>
                </a:ext>
              </a:extLst>
            </p:cNvPr>
            <p:cNvGrpSpPr/>
            <p:nvPr/>
          </p:nvGrpSpPr>
          <p:grpSpPr>
            <a:xfrm>
              <a:off x="6111161" y="511628"/>
              <a:ext cx="5326224" cy="4808376"/>
              <a:chOff x="422989" y="1024812"/>
              <a:chExt cx="5326224" cy="4808376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116FF708-AF00-63F8-5B01-3423304B7F0B}"/>
                  </a:ext>
                </a:extLst>
              </p:cNvPr>
              <p:cNvGrpSpPr/>
              <p:nvPr/>
            </p:nvGrpSpPr>
            <p:grpSpPr>
              <a:xfrm>
                <a:off x="422989" y="1024812"/>
                <a:ext cx="5326224" cy="4808376"/>
                <a:chOff x="6609185" y="1063688"/>
                <a:chExt cx="5326224" cy="4808376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A653BE4D-6C37-34AA-E780-BFB556414B6D}"/>
                    </a:ext>
                  </a:extLst>
                </p:cNvPr>
                <p:cNvGrpSpPr/>
                <p:nvPr/>
              </p:nvGrpSpPr>
              <p:grpSpPr>
                <a:xfrm>
                  <a:off x="6609185" y="1440024"/>
                  <a:ext cx="5326224" cy="4432040"/>
                  <a:chOff x="2612572" y="1250302"/>
                  <a:chExt cx="5326224" cy="4432040"/>
                </a:xfrm>
              </p:grpSpPr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ED488608-A178-DCD6-60E7-745FDA840B05}"/>
                      </a:ext>
                    </a:extLst>
                  </p:cNvPr>
                  <p:cNvGrpSpPr/>
                  <p:nvPr/>
                </p:nvGrpSpPr>
                <p:grpSpPr>
                  <a:xfrm>
                    <a:off x="2627733" y="1250302"/>
                    <a:ext cx="5309509" cy="886408"/>
                    <a:chOff x="880576" y="1296955"/>
                    <a:chExt cx="5309509" cy="886408"/>
                  </a:xfrm>
                </p:grpSpPr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8341A0E7-129A-CF49-7875-33B099B7E6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576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BBA527C7-9B9C-165F-D93F-221B3319F7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098" y="1296955"/>
                      <a:ext cx="1113453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A375C732-2F4E-F95C-C62D-939E7350E8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7605" y="1296955"/>
                      <a:ext cx="1022480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F9479993-DC3A-4793-93BA-0B3982361C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1996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N" sz="44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ED8A30D1-B735-D260-2591-A75EF1ABB4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345A1E94-938A-78D3-C689-0434FDA93A7A}"/>
                      </a:ext>
                    </a:extLst>
                  </p:cNvPr>
                  <p:cNvGrpSpPr/>
                  <p:nvPr/>
                </p:nvGrpSpPr>
                <p:grpSpPr>
                  <a:xfrm>
                    <a:off x="2612572" y="2136710"/>
                    <a:ext cx="5326224" cy="886408"/>
                    <a:chOff x="895739" y="1296955"/>
                    <a:chExt cx="5326224" cy="886408"/>
                  </a:xfrm>
                </p:grpSpPr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459699D-9396-3108-A1D1-C18F3508C4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39" y="1296955"/>
                      <a:ext cx="1113453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A3EE049D-6532-40B9-65FA-26D0A75A03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9192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186AA5FB-8EFB-045E-5140-4217595033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7604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C90A36F9-B466-E6BB-BA8B-53C3CD56C9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1996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A68E69BB-93A0-2333-383A-64D33CA95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68FCB112-6C60-C9B3-70FE-91FB8BD679FC}"/>
                      </a:ext>
                    </a:extLst>
                  </p:cNvPr>
                  <p:cNvGrpSpPr/>
                  <p:nvPr/>
                </p:nvGrpSpPr>
                <p:grpSpPr>
                  <a:xfrm>
                    <a:off x="2612572" y="3023118"/>
                    <a:ext cx="5326224" cy="886408"/>
                    <a:chOff x="895739" y="1296955"/>
                    <a:chExt cx="5326224" cy="886408"/>
                  </a:xfrm>
                </p:grpSpPr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3958D492-5570-C811-1A32-DDCB00D9F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39" y="1296955"/>
                      <a:ext cx="1084683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17AB64C1-7BAA-2128-78B5-655AC7CE70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9192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C4C85198-2A79-A37A-A744-7B264BC072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7604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25AC1572-AD58-431A-15AE-B99827D2D1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1996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95808393-AC9C-DBE4-76F0-BDA3BF3EF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5A5C22B5-A05F-F8E9-837C-6EE8242B89A4}"/>
                      </a:ext>
                    </a:extLst>
                  </p:cNvPr>
                  <p:cNvGrpSpPr/>
                  <p:nvPr/>
                </p:nvGrpSpPr>
                <p:grpSpPr>
                  <a:xfrm>
                    <a:off x="2612572" y="3909526"/>
                    <a:ext cx="5326224" cy="886408"/>
                    <a:chOff x="895739" y="1296955"/>
                    <a:chExt cx="5326224" cy="886408"/>
                  </a:xfrm>
                </p:grpSpPr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301E99AF-849F-14DD-54FC-E93DEF90B2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39" y="1296955"/>
                      <a:ext cx="1084683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AD2C1620-B59F-CFE4-C469-9345B71107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9192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67F2F4DD-9EE4-2767-0A43-62F546F5F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7604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5CDB88B3-F98C-6759-0BF5-A69B9C2615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1996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CC6F7113-C22B-ED84-FC87-DC565E0AD9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31912385-DCDC-9822-9974-D72FD35929BA}"/>
                      </a:ext>
                    </a:extLst>
                  </p:cNvPr>
                  <p:cNvGrpSpPr/>
                  <p:nvPr/>
                </p:nvGrpSpPr>
                <p:grpSpPr>
                  <a:xfrm>
                    <a:off x="2612572" y="4795934"/>
                    <a:ext cx="5326224" cy="886408"/>
                    <a:chOff x="895739" y="1296955"/>
                    <a:chExt cx="5326224" cy="886408"/>
                  </a:xfrm>
                </p:grpSpPr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924C71E0-64EB-E14D-81FE-8AC648A248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39" y="1296955"/>
                      <a:ext cx="1113453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66CA3E81-FAC6-5AB5-F0E9-4A43C2C7D9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9192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316B00E6-14C8-46F1-FAC7-8C4B146124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7604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2B044225-3F87-9AC2-E96B-3A070164D7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1996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169FF06C-CD5D-FB70-93F2-E8F4BB835B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1296955"/>
                      <a:ext cx="1054359" cy="886408"/>
                    </a:xfrm>
                    <a:prstGeom prst="rect">
                      <a:avLst/>
                    </a:prstGeom>
                    <a:noFill/>
                    <a:ln w="539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4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IN" sz="4400" dirty="0">
                        <a:solidFill>
                          <a:srgbClr val="FF0000"/>
                        </a:solidFill>
                      </a:endParaRPr>
                    </a:p>
                  </p:txBody>
                </p:sp>
              </p:grpSp>
            </p:grp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ABF26BED-DAD4-5686-5C3F-9F88E090F50C}"/>
                    </a:ext>
                  </a:extLst>
                </p:cNvPr>
                <p:cNvCxnSpPr/>
                <p:nvPr/>
              </p:nvCxnSpPr>
              <p:spPr>
                <a:xfrm flipV="1">
                  <a:off x="9332945" y="1063688"/>
                  <a:ext cx="933839" cy="597159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98B525E-506D-F800-506C-C130F4287384}"/>
                    </a:ext>
                  </a:extLst>
                </p:cNvPr>
                <p:cNvCxnSpPr/>
                <p:nvPr/>
              </p:nvCxnSpPr>
              <p:spPr>
                <a:xfrm>
                  <a:off x="10266784" y="1063688"/>
                  <a:ext cx="0" cy="4203637"/>
                </a:xfrm>
                <a:prstGeom prst="straightConnector1">
                  <a:avLst/>
                </a:prstGeom>
                <a:ln w="28575">
                  <a:prstDash val="lg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FF11477-F8DA-1888-28A3-2550A708571E}"/>
                  </a:ext>
                </a:extLst>
              </p:cNvPr>
              <p:cNvCxnSpPr/>
              <p:nvPr/>
            </p:nvCxnSpPr>
            <p:spPr>
              <a:xfrm flipV="1">
                <a:off x="4197999" y="4685718"/>
                <a:ext cx="933839" cy="597159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07867AA-31D2-1EEF-1A84-89E4D020BD9B}"/>
                </a:ext>
              </a:extLst>
            </p:cNvPr>
            <p:cNvCxnSpPr/>
            <p:nvPr/>
          </p:nvCxnSpPr>
          <p:spPr>
            <a:xfrm flipV="1">
              <a:off x="11080876" y="3310812"/>
              <a:ext cx="933839" cy="597159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40699AD-7C39-5CA5-02A7-274839C14C1B}"/>
                </a:ext>
              </a:extLst>
            </p:cNvPr>
            <p:cNvCxnSpPr/>
            <p:nvPr/>
          </p:nvCxnSpPr>
          <p:spPr>
            <a:xfrm flipH="1">
              <a:off x="6885992" y="3228392"/>
              <a:ext cx="5128723" cy="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D807B9AD-F099-3F5A-D5C1-7044641D75A1}"/>
              </a:ext>
            </a:extLst>
          </p:cNvPr>
          <p:cNvSpPr txBox="1"/>
          <p:nvPr/>
        </p:nvSpPr>
        <p:spPr>
          <a:xfrm>
            <a:off x="8277418" y="6023206"/>
            <a:ext cx="3748334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Move towards right diagonal.</a:t>
            </a:r>
          </a:p>
          <a:p>
            <a:r>
              <a:rPr lang="en-US" dirty="0"/>
              <a:t>Boundary crossed. Go to left most cell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F3A2E37-77F3-EBCE-22E4-E6198A9A8EB9}"/>
              </a:ext>
            </a:extLst>
          </p:cNvPr>
          <p:cNvSpPr/>
          <p:nvPr/>
        </p:nvSpPr>
        <p:spPr>
          <a:xfrm>
            <a:off x="10151585" y="-76575"/>
            <a:ext cx="19367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2</a:t>
            </a:r>
          </a:p>
        </p:txBody>
      </p:sp>
    </p:spTree>
    <p:extLst>
      <p:ext uri="{BB962C8B-B14F-4D97-AF65-F5344CB8AC3E}">
        <p14:creationId xmlns:p14="http://schemas.microsoft.com/office/powerpoint/2010/main" val="1877897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AF209950-2673-4F13-93D8-619AD2AF4B30}"/>
              </a:ext>
            </a:extLst>
          </p:cNvPr>
          <p:cNvGrpSpPr/>
          <p:nvPr/>
        </p:nvGrpSpPr>
        <p:grpSpPr>
          <a:xfrm>
            <a:off x="121882" y="816040"/>
            <a:ext cx="5903554" cy="4808376"/>
            <a:chOff x="291386" y="854528"/>
            <a:chExt cx="5903554" cy="4808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353015A-7751-421F-991C-11A44DDE7885}"/>
                </a:ext>
              </a:extLst>
            </p:cNvPr>
            <p:cNvGrpSpPr/>
            <p:nvPr/>
          </p:nvGrpSpPr>
          <p:grpSpPr>
            <a:xfrm>
              <a:off x="291386" y="854528"/>
              <a:ext cx="5903554" cy="4808376"/>
              <a:chOff x="6111161" y="511628"/>
              <a:chExt cx="5903554" cy="480837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02750A9-077F-9192-95E8-9C9531BC8B63}"/>
                  </a:ext>
                </a:extLst>
              </p:cNvPr>
              <p:cNvGrpSpPr/>
              <p:nvPr/>
            </p:nvGrpSpPr>
            <p:grpSpPr>
              <a:xfrm>
                <a:off x="6111161" y="511628"/>
                <a:ext cx="5326224" cy="4808376"/>
                <a:chOff x="422989" y="1024812"/>
                <a:chExt cx="5326224" cy="4808376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072067C-7236-068C-320E-8F974CF94431}"/>
                    </a:ext>
                  </a:extLst>
                </p:cNvPr>
                <p:cNvGrpSpPr/>
                <p:nvPr/>
              </p:nvGrpSpPr>
              <p:grpSpPr>
                <a:xfrm>
                  <a:off x="422989" y="1024812"/>
                  <a:ext cx="5326224" cy="4808376"/>
                  <a:chOff x="6609185" y="1063688"/>
                  <a:chExt cx="5326224" cy="4808376"/>
                </a:xfrm>
              </p:grpSpPr>
              <p:grpSp>
                <p:nvGrpSpPr>
                  <p:cNvPr id="8" name="Group 7">
                    <a:extLst>
                      <a:ext uri="{FF2B5EF4-FFF2-40B4-BE49-F238E27FC236}">
                        <a16:creationId xmlns:a16="http://schemas.microsoft.com/office/drawing/2014/main" id="{CECA2B24-BAF0-197A-C0F9-5F630ADE8286}"/>
                      </a:ext>
                    </a:extLst>
                  </p:cNvPr>
                  <p:cNvGrpSpPr/>
                  <p:nvPr/>
                </p:nvGrpSpPr>
                <p:grpSpPr>
                  <a:xfrm>
                    <a:off x="6609185" y="1440024"/>
                    <a:ext cx="5326224" cy="4432040"/>
                    <a:chOff x="2612572" y="1250302"/>
                    <a:chExt cx="5326224" cy="4432040"/>
                  </a:xfrm>
                </p:grpSpPr>
                <p:grpSp>
                  <p:nvGrpSpPr>
                    <p:cNvPr id="11" name="Group 10">
                      <a:extLst>
                        <a:ext uri="{FF2B5EF4-FFF2-40B4-BE49-F238E27FC236}">
                          <a16:creationId xmlns:a16="http://schemas.microsoft.com/office/drawing/2014/main" id="{24C9EAF7-8BD1-9B4C-7DDF-6014AB6B24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7733" y="1250302"/>
                      <a:ext cx="5309509" cy="886408"/>
                      <a:chOff x="880576" y="1296955"/>
                      <a:chExt cx="5309509" cy="886408"/>
                    </a:xfrm>
                  </p:grpSpPr>
                  <p:sp>
                    <p:nvSpPr>
                      <p:cNvPr id="36" name="Rectangle 35">
                        <a:extLst>
                          <a:ext uri="{FF2B5EF4-FFF2-40B4-BE49-F238E27FC236}">
                            <a16:creationId xmlns:a16="http://schemas.microsoft.com/office/drawing/2014/main" id="{72F354F0-40EE-F1C9-33D4-C1764B44DB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057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7" name="Rectangle 36">
                        <a:extLst>
                          <a:ext uri="{FF2B5EF4-FFF2-40B4-BE49-F238E27FC236}">
                            <a16:creationId xmlns:a16="http://schemas.microsoft.com/office/drawing/2014/main" id="{C473E202-F82B-E356-59AD-AB7FE37118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50098" y="1296955"/>
                        <a:ext cx="111345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EE500CBF-43F6-744B-5572-6405B1EC5D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5" y="1296955"/>
                        <a:ext cx="1022480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9D4969B-FE3E-CC3B-4905-F8D10C6213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0" dirty="0">
                            <a:solidFill>
                              <a:srgbClr val="FF0000"/>
                            </a:solidFill>
                          </a:rPr>
                          <a:t>1</a:t>
                        </a:r>
                        <a:endParaRPr lang="en-IN" sz="40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40" name="Rectangle 39">
                        <a:extLst>
                          <a:ext uri="{FF2B5EF4-FFF2-40B4-BE49-F238E27FC236}">
                            <a16:creationId xmlns:a16="http://schemas.microsoft.com/office/drawing/2014/main" id="{882C1422-6F4D-28CE-53D6-8F38D1451B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12" name="Group 11">
                      <a:extLst>
                        <a:ext uri="{FF2B5EF4-FFF2-40B4-BE49-F238E27FC236}">
                          <a16:creationId xmlns:a16="http://schemas.microsoft.com/office/drawing/2014/main" id="{715502C5-B597-E99C-0958-9BE72DDF72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2136710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31" name="Rectangle 30">
                        <a:extLst>
                          <a:ext uri="{FF2B5EF4-FFF2-40B4-BE49-F238E27FC236}">
                            <a16:creationId xmlns:a16="http://schemas.microsoft.com/office/drawing/2014/main" id="{CE14B6FA-6B5F-9DF3-620F-0BAA2DA993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11345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9F7FCF90-EDAA-A0D4-3885-EC14B11BD6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200" dirty="0">
                            <a:solidFill>
                              <a:srgbClr val="FF0000"/>
                            </a:solidFill>
                          </a:rPr>
                          <a:t>5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E8F007EB-B901-B94D-84CA-7430C0EE6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B60BEFE5-7ED4-C5F8-79AE-E577EFD400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5" name="Rectangle 34">
                        <a:extLst>
                          <a:ext uri="{FF2B5EF4-FFF2-40B4-BE49-F238E27FC236}">
                            <a16:creationId xmlns:a16="http://schemas.microsoft.com/office/drawing/2014/main" id="{72B78EBE-8333-597A-F452-0BA290CED8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27A10997-72EA-0E8A-7255-EE6129E181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3023118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26" name="Rectangle 25">
                        <a:extLst>
                          <a:ext uri="{FF2B5EF4-FFF2-40B4-BE49-F238E27FC236}">
                            <a16:creationId xmlns:a16="http://schemas.microsoft.com/office/drawing/2014/main" id="{955BB767-9C64-5695-AB33-58F3ECDE56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08468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600" dirty="0">
                            <a:solidFill>
                              <a:srgbClr val="FF0000"/>
                            </a:solidFill>
                          </a:rPr>
                          <a:t>4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27" name="Rectangle 26">
                        <a:extLst>
                          <a:ext uri="{FF2B5EF4-FFF2-40B4-BE49-F238E27FC236}">
                            <a16:creationId xmlns:a16="http://schemas.microsoft.com/office/drawing/2014/main" id="{DF01CD08-7DB3-CC03-1452-EAC24D5E29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id="{E9F2D006-2BF2-0B68-B185-B09FF9961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29" name="Rectangle 28">
                        <a:extLst>
                          <a:ext uri="{FF2B5EF4-FFF2-40B4-BE49-F238E27FC236}">
                            <a16:creationId xmlns:a16="http://schemas.microsoft.com/office/drawing/2014/main" id="{03BFD99E-3AC4-CFDB-41B0-18B617B139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30" name="Rectangle 29">
                        <a:extLst>
                          <a:ext uri="{FF2B5EF4-FFF2-40B4-BE49-F238E27FC236}">
                            <a16:creationId xmlns:a16="http://schemas.microsoft.com/office/drawing/2014/main" id="{F19CCF40-F7FA-1A55-93F9-D76311F139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E2288B7C-7896-D428-327F-5D41E96A91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3909526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5ED59E8E-4F3B-73F1-E990-A9D71D417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08468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22" name="Rectangle 21">
                        <a:extLst>
                          <a:ext uri="{FF2B5EF4-FFF2-40B4-BE49-F238E27FC236}">
                            <a16:creationId xmlns:a16="http://schemas.microsoft.com/office/drawing/2014/main" id="{DA3A8889-BBCA-668A-DD8D-19BC5CA05A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AA7BF7E1-ADD5-6AB9-C62F-210606CAF1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200" dirty="0">
                            <a:solidFill>
                              <a:srgbClr val="FF0000"/>
                            </a:solidFill>
                          </a:rPr>
                          <a:t>3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861F4418-2E04-9F2A-277A-84FA4574E3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25" name="Rectangle 24">
                        <a:extLst>
                          <a:ext uri="{FF2B5EF4-FFF2-40B4-BE49-F238E27FC236}">
                            <a16:creationId xmlns:a16="http://schemas.microsoft.com/office/drawing/2014/main" id="{039B5F69-E447-7121-B809-DE37FD73A6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3C1C891F-93E0-33A3-7A9F-ECEA55CE9E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4795934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4CCD4519-2267-975F-4E4B-0931E9535E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11345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3E05375C-B938-E939-7714-C9C319894B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61227F44-EEAE-D0B4-92EA-2239BB3E23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1163ADC3-729A-0400-742C-28215E6AED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F479CA80-3FFB-26DA-2E1D-BD95493AF4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400" dirty="0">
                            <a:solidFill>
                              <a:srgbClr val="FF0000"/>
                            </a:solidFill>
                          </a:rPr>
                          <a:t>2</a:t>
                        </a:r>
                        <a:endParaRPr lang="en-IN" sz="44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p:grpSp>
              </p:grpSp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53E87155-7E7B-BE49-C15F-85ECA334C45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332945" y="1063688"/>
                    <a:ext cx="933839" cy="597159"/>
                  </a:xfrm>
                  <a:prstGeom prst="straightConnector1">
                    <a:avLst/>
                  </a:prstGeom>
                  <a:ln w="34925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90A4E5E4-F972-BB49-3865-222B12D91EA0}"/>
                      </a:ext>
                    </a:extLst>
                  </p:cNvPr>
                  <p:cNvCxnSpPr/>
                  <p:nvPr/>
                </p:nvCxnSpPr>
                <p:spPr>
                  <a:xfrm>
                    <a:off x="10266784" y="1063688"/>
                    <a:ext cx="0" cy="4203637"/>
                  </a:xfrm>
                  <a:prstGeom prst="straightConnector1">
                    <a:avLst/>
                  </a:prstGeom>
                  <a:ln w="28575">
                    <a:prstDash val="lg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C62A2F6D-8E30-F517-EFBE-EF79B0486D54}"/>
                    </a:ext>
                  </a:extLst>
                </p:cNvPr>
                <p:cNvCxnSpPr/>
                <p:nvPr/>
              </p:nvCxnSpPr>
              <p:spPr>
                <a:xfrm flipV="1">
                  <a:off x="4197999" y="4685718"/>
                  <a:ext cx="933839" cy="597159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0B393A97-230E-796A-5EC3-BB07178E7C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80876" y="3328307"/>
                <a:ext cx="604353" cy="579664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6DDDEF3D-7C96-FE7B-6194-F057F2BFA4DC}"/>
                  </a:ext>
                </a:extLst>
              </p:cNvPr>
              <p:cNvCxnSpPr/>
              <p:nvPr/>
            </p:nvCxnSpPr>
            <p:spPr>
              <a:xfrm flipH="1">
                <a:off x="6885992" y="3228392"/>
                <a:ext cx="5128723" cy="0"/>
              </a:xfrm>
              <a:prstGeom prst="straightConnector1">
                <a:avLst/>
              </a:prstGeom>
              <a:ln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042951F-A1C4-F87F-8A98-B7FE4B6C4F23}"/>
                </a:ext>
              </a:extLst>
            </p:cNvPr>
            <p:cNvCxnSpPr/>
            <p:nvPr/>
          </p:nvCxnSpPr>
          <p:spPr>
            <a:xfrm flipV="1">
              <a:off x="848889" y="2725316"/>
              <a:ext cx="933839" cy="597159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0CEDF9-EDD9-AB41-6E35-0868A8DD783D}"/>
              </a:ext>
            </a:extLst>
          </p:cNvPr>
          <p:cNvCxnSpPr/>
          <p:nvPr/>
        </p:nvCxnSpPr>
        <p:spPr>
          <a:xfrm flipV="1">
            <a:off x="7678897" y="1824137"/>
            <a:ext cx="933839" cy="59715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1644E0-F83C-85CE-4D9D-4764C5A4A211}"/>
              </a:ext>
            </a:extLst>
          </p:cNvPr>
          <p:cNvGrpSpPr/>
          <p:nvPr/>
        </p:nvGrpSpPr>
        <p:grpSpPr>
          <a:xfrm>
            <a:off x="5964787" y="833535"/>
            <a:ext cx="5903554" cy="4808376"/>
            <a:chOff x="291386" y="854528"/>
            <a:chExt cx="5903554" cy="480837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CDBAA0D-31B9-E88E-8086-EC93B19161AB}"/>
                </a:ext>
              </a:extLst>
            </p:cNvPr>
            <p:cNvGrpSpPr/>
            <p:nvPr/>
          </p:nvGrpSpPr>
          <p:grpSpPr>
            <a:xfrm>
              <a:off x="291386" y="854528"/>
              <a:ext cx="5903554" cy="4808376"/>
              <a:chOff x="6111161" y="511628"/>
              <a:chExt cx="5903554" cy="480837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0DC8435-F727-5293-EAB8-51EE974BAADD}"/>
                  </a:ext>
                </a:extLst>
              </p:cNvPr>
              <p:cNvGrpSpPr/>
              <p:nvPr/>
            </p:nvGrpSpPr>
            <p:grpSpPr>
              <a:xfrm>
                <a:off x="6111161" y="511628"/>
                <a:ext cx="5326224" cy="4808376"/>
                <a:chOff x="422989" y="1024812"/>
                <a:chExt cx="5326224" cy="4808376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606F6723-5E06-B421-9567-467D367302E1}"/>
                    </a:ext>
                  </a:extLst>
                </p:cNvPr>
                <p:cNvGrpSpPr/>
                <p:nvPr/>
              </p:nvGrpSpPr>
              <p:grpSpPr>
                <a:xfrm>
                  <a:off x="422989" y="1024812"/>
                  <a:ext cx="5326224" cy="4808376"/>
                  <a:chOff x="6609185" y="1063688"/>
                  <a:chExt cx="5326224" cy="4808376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1FE01A3A-AAF8-7AE3-0945-4109106795D9}"/>
                      </a:ext>
                    </a:extLst>
                  </p:cNvPr>
                  <p:cNvGrpSpPr/>
                  <p:nvPr/>
                </p:nvGrpSpPr>
                <p:grpSpPr>
                  <a:xfrm>
                    <a:off x="6609185" y="1440024"/>
                    <a:ext cx="5326224" cy="4432040"/>
                    <a:chOff x="2612572" y="1250302"/>
                    <a:chExt cx="5326224" cy="4432040"/>
                  </a:xfrm>
                </p:grpSpPr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B31A6085-4D9C-9C79-9077-3F7906C4E7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7733" y="1250302"/>
                      <a:ext cx="5309509" cy="886408"/>
                      <a:chOff x="880576" y="1296955"/>
                      <a:chExt cx="5309509" cy="886408"/>
                    </a:xfrm>
                  </p:grpSpPr>
                  <p:sp>
                    <p:nvSpPr>
                      <p:cNvPr id="80" name="Rectangle 79">
                        <a:extLst>
                          <a:ext uri="{FF2B5EF4-FFF2-40B4-BE49-F238E27FC236}">
                            <a16:creationId xmlns:a16="http://schemas.microsoft.com/office/drawing/2014/main" id="{3EF4A51D-173B-FC53-8D42-0F42DC8B3A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057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sp>
                    <p:nvSpPr>
                      <p:cNvPr id="81" name="Rectangle 80">
                        <a:extLst>
                          <a:ext uri="{FF2B5EF4-FFF2-40B4-BE49-F238E27FC236}">
                            <a16:creationId xmlns:a16="http://schemas.microsoft.com/office/drawing/2014/main" id="{8D93C549-9892-B3B0-4B13-73FA209806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50098" y="1296955"/>
                        <a:ext cx="111345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BDF2AB62-6E89-7912-48F0-2A11A2F72E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5" y="1296955"/>
                        <a:ext cx="1022480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83" name="Rectangle 82">
                        <a:extLst>
                          <a:ext uri="{FF2B5EF4-FFF2-40B4-BE49-F238E27FC236}">
                            <a16:creationId xmlns:a16="http://schemas.microsoft.com/office/drawing/2014/main" id="{83A61CD6-62E6-731A-DFFE-53CD394ACE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0" dirty="0">
                            <a:solidFill>
                              <a:srgbClr val="FF0000"/>
                            </a:solidFill>
                          </a:rPr>
                          <a:t>1</a:t>
                        </a:r>
                        <a:endParaRPr lang="en-IN" sz="40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84" name="Rectangle 83">
                        <a:extLst>
                          <a:ext uri="{FF2B5EF4-FFF2-40B4-BE49-F238E27FC236}">
                            <a16:creationId xmlns:a16="http://schemas.microsoft.com/office/drawing/2014/main" id="{7D36CFEF-90DC-29CB-7D6C-210AA5643C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E16F96F8-5C27-872C-3394-459F87A134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2136710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21029D69-2E62-4401-B8FD-F7136297B9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11345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76" name="Rectangle 75">
                        <a:extLst>
                          <a:ext uri="{FF2B5EF4-FFF2-40B4-BE49-F238E27FC236}">
                            <a16:creationId xmlns:a16="http://schemas.microsoft.com/office/drawing/2014/main" id="{07120F4F-E7D4-D30F-5447-006634D3CA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200" dirty="0">
                            <a:solidFill>
                              <a:srgbClr val="FF0000"/>
                            </a:solidFill>
                          </a:rPr>
                          <a:t>5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77" name="Rectangle 76">
                        <a:extLst>
                          <a:ext uri="{FF2B5EF4-FFF2-40B4-BE49-F238E27FC236}">
                            <a16:creationId xmlns:a16="http://schemas.microsoft.com/office/drawing/2014/main" id="{9E2CF89C-AB20-0936-BB91-AB340C5040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78" name="Rectangle 77">
                        <a:extLst>
                          <a:ext uri="{FF2B5EF4-FFF2-40B4-BE49-F238E27FC236}">
                            <a16:creationId xmlns:a16="http://schemas.microsoft.com/office/drawing/2014/main" id="{F6C03EA9-D7A3-75B3-2CBC-DA4918542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79" name="Rectangle 78">
                        <a:extLst>
                          <a:ext uri="{FF2B5EF4-FFF2-40B4-BE49-F238E27FC236}">
                            <a16:creationId xmlns:a16="http://schemas.microsoft.com/office/drawing/2014/main" id="{27802ED0-6E9C-68AB-A9C6-B9C39CEDB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53F6A403-741E-1FE0-D5ED-9EC4A48695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3023118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70" name="Rectangle 69">
                        <a:extLst>
                          <a:ext uri="{FF2B5EF4-FFF2-40B4-BE49-F238E27FC236}">
                            <a16:creationId xmlns:a16="http://schemas.microsoft.com/office/drawing/2014/main" id="{C99F2251-4502-1D33-C026-5EC68D4081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08468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600" dirty="0">
                            <a:solidFill>
                              <a:srgbClr val="FF0000"/>
                            </a:solidFill>
                          </a:rPr>
                          <a:t>4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71" name="Rectangle 70">
                        <a:extLst>
                          <a:ext uri="{FF2B5EF4-FFF2-40B4-BE49-F238E27FC236}">
                            <a16:creationId xmlns:a16="http://schemas.microsoft.com/office/drawing/2014/main" id="{58F6ECA3-C557-2D09-D1B9-E5835C767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200" dirty="0">
                            <a:solidFill>
                              <a:srgbClr val="FF0000"/>
                            </a:solidFill>
                          </a:rPr>
                          <a:t>6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72" name="Rectangle 71">
                        <a:extLst>
                          <a:ext uri="{FF2B5EF4-FFF2-40B4-BE49-F238E27FC236}">
                            <a16:creationId xmlns:a16="http://schemas.microsoft.com/office/drawing/2014/main" id="{0F07B36F-9D19-FA28-F6F5-43F53D7A39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73" name="Rectangle 72">
                        <a:extLst>
                          <a:ext uri="{FF2B5EF4-FFF2-40B4-BE49-F238E27FC236}">
                            <a16:creationId xmlns:a16="http://schemas.microsoft.com/office/drawing/2014/main" id="{5D10B52A-3D84-A60A-66D9-AAF88D2571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74" name="Rectangle 73">
                        <a:extLst>
                          <a:ext uri="{FF2B5EF4-FFF2-40B4-BE49-F238E27FC236}">
                            <a16:creationId xmlns:a16="http://schemas.microsoft.com/office/drawing/2014/main" id="{DB489C11-AC65-B8FF-211F-9AC079AB9D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58" name="Group 57">
                      <a:extLst>
                        <a:ext uri="{FF2B5EF4-FFF2-40B4-BE49-F238E27FC236}">
                          <a16:creationId xmlns:a16="http://schemas.microsoft.com/office/drawing/2014/main" id="{DA8B1E91-6705-F5CE-46A6-F15D52693E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3909526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65" name="Rectangle 64">
                        <a:extLst>
                          <a:ext uri="{FF2B5EF4-FFF2-40B4-BE49-F238E27FC236}">
                            <a16:creationId xmlns:a16="http://schemas.microsoft.com/office/drawing/2014/main" id="{5BC6DC88-650D-7669-D08F-39BE0F2628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08468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6" name="Rectangle 65">
                        <a:extLst>
                          <a:ext uri="{FF2B5EF4-FFF2-40B4-BE49-F238E27FC236}">
                            <a16:creationId xmlns:a16="http://schemas.microsoft.com/office/drawing/2014/main" id="{EF3F9315-C9A5-D3C3-26FF-BC4F354D7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7" name="Rectangle 66">
                        <a:extLst>
                          <a:ext uri="{FF2B5EF4-FFF2-40B4-BE49-F238E27FC236}">
                            <a16:creationId xmlns:a16="http://schemas.microsoft.com/office/drawing/2014/main" id="{16221EA3-92EC-385B-F4E2-2D9D61C7AD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3200" dirty="0">
                            <a:solidFill>
                              <a:srgbClr val="FF0000"/>
                            </a:solidFill>
                          </a:rPr>
                          <a:t>3</a:t>
                        </a:r>
                        <a:endParaRPr lang="en-IN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D1A26315-43B6-998A-BC86-D9E4F9B2B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9" name="Rectangle 68">
                        <a:extLst>
                          <a:ext uri="{FF2B5EF4-FFF2-40B4-BE49-F238E27FC236}">
                            <a16:creationId xmlns:a16="http://schemas.microsoft.com/office/drawing/2014/main" id="{04FAE217-32DD-0666-07BD-0A115A878D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</p:grpSp>
                <p:grpSp>
                  <p:nvGrpSpPr>
                    <p:cNvPr id="59" name="Group 58">
                      <a:extLst>
                        <a:ext uri="{FF2B5EF4-FFF2-40B4-BE49-F238E27FC236}">
                          <a16:creationId xmlns:a16="http://schemas.microsoft.com/office/drawing/2014/main" id="{4AADC5D2-C5FB-52F4-D300-9B9D6180D0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2572" y="4795934"/>
                      <a:ext cx="5326224" cy="886408"/>
                      <a:chOff x="895739" y="1296955"/>
                      <a:chExt cx="5326224" cy="886408"/>
                    </a:xfrm>
                  </p:grpSpPr>
                  <p:sp>
                    <p:nvSpPr>
                      <p:cNvPr id="60" name="Rectangle 59">
                        <a:extLst>
                          <a:ext uri="{FF2B5EF4-FFF2-40B4-BE49-F238E27FC236}">
                            <a16:creationId xmlns:a16="http://schemas.microsoft.com/office/drawing/2014/main" id="{8BDDF850-F63C-6DF0-92D8-C426B5F1A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739" y="1296955"/>
                        <a:ext cx="1113453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1" name="Rectangle 60">
                        <a:extLst>
                          <a:ext uri="{FF2B5EF4-FFF2-40B4-BE49-F238E27FC236}">
                            <a16:creationId xmlns:a16="http://schemas.microsoft.com/office/drawing/2014/main" id="{C123EC3B-7257-EF18-DCBA-0F188707C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9192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2" name="Rectangle 61">
                        <a:extLst>
                          <a:ext uri="{FF2B5EF4-FFF2-40B4-BE49-F238E27FC236}">
                            <a16:creationId xmlns:a16="http://schemas.microsoft.com/office/drawing/2014/main" id="{1857FD39-FD7C-0750-30A2-73CD0F90DB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7604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92255E89-A15B-77AE-3105-AF2C3774BC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61996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B52B8BF5-9C75-1160-0777-4B5C0042F1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800" y="1296955"/>
                        <a:ext cx="1054359" cy="886408"/>
                      </a:xfrm>
                      <a:prstGeom prst="rect">
                        <a:avLst/>
                      </a:prstGeom>
                      <a:noFill/>
                      <a:ln w="53975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400" dirty="0">
                            <a:solidFill>
                              <a:srgbClr val="FF0000"/>
                            </a:solidFill>
                          </a:rPr>
                          <a:t>2</a:t>
                        </a:r>
                        <a:endParaRPr lang="en-IN" sz="44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p:grpSp>
              </p:grp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AE706985-9BEA-FF39-2F30-509334F34FB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332945" y="1063688"/>
                    <a:ext cx="933839" cy="597159"/>
                  </a:xfrm>
                  <a:prstGeom prst="straightConnector1">
                    <a:avLst/>
                  </a:prstGeom>
                  <a:ln w="34925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>
                    <a:extLst>
                      <a:ext uri="{FF2B5EF4-FFF2-40B4-BE49-F238E27FC236}">
                        <a16:creationId xmlns:a16="http://schemas.microsoft.com/office/drawing/2014/main" id="{8101163C-3258-E03A-72BB-BF727C653956}"/>
                      </a:ext>
                    </a:extLst>
                  </p:cNvPr>
                  <p:cNvCxnSpPr/>
                  <p:nvPr/>
                </p:nvCxnSpPr>
                <p:spPr>
                  <a:xfrm>
                    <a:off x="10266784" y="1063688"/>
                    <a:ext cx="0" cy="4203637"/>
                  </a:xfrm>
                  <a:prstGeom prst="straightConnector1">
                    <a:avLst/>
                  </a:prstGeom>
                  <a:ln w="28575">
                    <a:prstDash val="lg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A0A18D4F-3E9C-1ECC-0E99-ED83306AED14}"/>
                    </a:ext>
                  </a:extLst>
                </p:cNvPr>
                <p:cNvCxnSpPr/>
                <p:nvPr/>
              </p:nvCxnSpPr>
              <p:spPr>
                <a:xfrm flipV="1">
                  <a:off x="4197999" y="4685718"/>
                  <a:ext cx="933839" cy="597159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70CD96E-EC1A-DC32-8BC8-B5FD80290443}"/>
                  </a:ext>
                </a:extLst>
              </p:cNvPr>
              <p:cNvCxnSpPr/>
              <p:nvPr/>
            </p:nvCxnSpPr>
            <p:spPr>
              <a:xfrm flipV="1">
                <a:off x="11080876" y="3310812"/>
                <a:ext cx="933839" cy="597159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55BA664C-1E4C-C506-21AF-47DF6F920774}"/>
                  </a:ext>
                </a:extLst>
              </p:cNvPr>
              <p:cNvCxnSpPr/>
              <p:nvPr/>
            </p:nvCxnSpPr>
            <p:spPr>
              <a:xfrm flipH="1">
                <a:off x="6885992" y="3228392"/>
                <a:ext cx="5128723" cy="0"/>
              </a:xfrm>
              <a:prstGeom prst="straightConnector1">
                <a:avLst/>
              </a:prstGeom>
              <a:ln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5FE02F0-F601-2D98-2BA9-5FC51D0A5261}"/>
                </a:ext>
              </a:extLst>
            </p:cNvPr>
            <p:cNvCxnSpPr/>
            <p:nvPr/>
          </p:nvCxnSpPr>
          <p:spPr>
            <a:xfrm flipV="1">
              <a:off x="848889" y="2725316"/>
              <a:ext cx="933839" cy="597159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95E49C3-5BC8-F549-163B-7E0AFC9F2D6B}"/>
              </a:ext>
            </a:extLst>
          </p:cNvPr>
          <p:cNvCxnSpPr/>
          <p:nvPr/>
        </p:nvCxnSpPr>
        <p:spPr>
          <a:xfrm flipH="1" flipV="1">
            <a:off x="7722830" y="833535"/>
            <a:ext cx="557503" cy="1123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A8B29BD-93BA-1EED-8F04-F976012AC87C}"/>
              </a:ext>
            </a:extLst>
          </p:cNvPr>
          <p:cNvSpPr txBox="1"/>
          <p:nvPr/>
        </p:nvSpPr>
        <p:spPr>
          <a:xfrm>
            <a:off x="6863996" y="194395"/>
            <a:ext cx="32295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Already Filled</a:t>
            </a:r>
          </a:p>
          <a:p>
            <a:r>
              <a:rPr lang="en-US" dirty="0"/>
              <a:t>Retrace and go down by one cell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E1A067F-2BE1-737C-1FBC-2711689E47D1}"/>
              </a:ext>
            </a:extLst>
          </p:cNvPr>
          <p:cNvCxnSpPr/>
          <p:nvPr/>
        </p:nvCxnSpPr>
        <p:spPr>
          <a:xfrm>
            <a:off x="7810500" y="2539483"/>
            <a:ext cx="0" cy="8226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521F10E9-E968-3AE4-CE59-E043284513CA}"/>
              </a:ext>
            </a:extLst>
          </p:cNvPr>
          <p:cNvSpPr/>
          <p:nvPr/>
        </p:nvSpPr>
        <p:spPr>
          <a:xfrm>
            <a:off x="6754455" y="5703726"/>
            <a:ext cx="19367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3</a:t>
            </a:r>
          </a:p>
        </p:txBody>
      </p:sp>
    </p:spTree>
    <p:extLst>
      <p:ext uri="{BB962C8B-B14F-4D97-AF65-F5344CB8AC3E}">
        <p14:creationId xmlns:p14="http://schemas.microsoft.com/office/powerpoint/2010/main" val="2552268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1DD367EA-3FAA-7709-4D1C-4B8E1CB4F4D8}"/>
              </a:ext>
            </a:extLst>
          </p:cNvPr>
          <p:cNvGrpSpPr/>
          <p:nvPr/>
        </p:nvGrpSpPr>
        <p:grpSpPr>
          <a:xfrm>
            <a:off x="769776" y="971746"/>
            <a:ext cx="5326224" cy="4432040"/>
            <a:chOff x="1183237" y="1000321"/>
            <a:chExt cx="5326224" cy="443204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534909-E3FD-CEFD-A42E-6E580E6C83E2}"/>
                </a:ext>
              </a:extLst>
            </p:cNvPr>
            <p:cNvGrpSpPr/>
            <p:nvPr/>
          </p:nvGrpSpPr>
          <p:grpSpPr>
            <a:xfrm>
              <a:off x="1183237" y="1000321"/>
              <a:ext cx="5326224" cy="4432040"/>
              <a:chOff x="2612572" y="1250302"/>
              <a:chExt cx="5326224" cy="443204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8F582F3-2082-2BEE-BFC3-D3FD7E737B0E}"/>
                  </a:ext>
                </a:extLst>
              </p:cNvPr>
              <p:cNvGrpSpPr/>
              <p:nvPr/>
            </p:nvGrpSpPr>
            <p:grpSpPr>
              <a:xfrm>
                <a:off x="2627733" y="1250302"/>
                <a:ext cx="5309509" cy="886408"/>
                <a:chOff x="880576" y="1296955"/>
                <a:chExt cx="5309509" cy="886408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D84F0CFD-73DB-3974-BE0F-8FFAE18DEE00}"/>
                    </a:ext>
                  </a:extLst>
                </p:cNvPr>
                <p:cNvSpPr/>
                <p:nvPr/>
              </p:nvSpPr>
              <p:spPr>
                <a:xfrm>
                  <a:off x="88057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F3AB544-F01E-973B-C6E6-5502A6C2A949}"/>
                    </a:ext>
                  </a:extLst>
                </p:cNvPr>
                <p:cNvSpPr/>
                <p:nvPr/>
              </p:nvSpPr>
              <p:spPr>
                <a:xfrm>
                  <a:off x="1950098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6EEB5DC-521C-AD11-7E46-A5A325D79F7F}"/>
                    </a:ext>
                  </a:extLst>
                </p:cNvPr>
                <p:cNvSpPr/>
                <p:nvPr/>
              </p:nvSpPr>
              <p:spPr>
                <a:xfrm>
                  <a:off x="5167605" y="1296955"/>
                  <a:ext cx="1022480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02414287-0EDE-FB53-6BA1-9BFA0E0A9990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0" dirty="0">
                      <a:solidFill>
                        <a:srgbClr val="FF0000"/>
                      </a:solidFill>
                    </a:rPr>
                    <a:t>1</a:t>
                  </a:r>
                  <a:endParaRPr lang="en-IN" sz="40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6AE08D2-FEF2-4AAB-3A1E-F25B46C8EB7D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F016BEF-8CE8-475E-51DB-4AF733FDAB1C}"/>
                  </a:ext>
                </a:extLst>
              </p:cNvPr>
              <p:cNvGrpSpPr/>
              <p:nvPr/>
            </p:nvGrpSpPr>
            <p:grpSpPr>
              <a:xfrm>
                <a:off x="2612572" y="2136710"/>
                <a:ext cx="5326224" cy="886408"/>
                <a:chOff x="895739" y="1296955"/>
                <a:chExt cx="5326224" cy="886408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4537F97-E7E2-8391-2430-46A50A4B5DE8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294CE04-B401-CF88-8A15-9469EE7BCCD2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rgbClr val="FF0000"/>
                      </a:solidFill>
                    </a:rPr>
                    <a:t>5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618211C-E4AC-4E2B-3658-A4871074FB40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20EFF7C-C36B-0C2F-B3DB-145BB52BE20F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7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56DA825-C454-ECF7-D02A-C27C2527A5F5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DF32766-2F4B-753C-8376-453EDB0FFDC2}"/>
                  </a:ext>
                </a:extLst>
              </p:cNvPr>
              <p:cNvGrpSpPr/>
              <p:nvPr/>
            </p:nvGrpSpPr>
            <p:grpSpPr>
              <a:xfrm>
                <a:off x="2612572" y="3023118"/>
                <a:ext cx="5326224" cy="886408"/>
                <a:chOff x="895739" y="1296955"/>
                <a:chExt cx="5326224" cy="88640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66887296-7912-82B1-700D-3FB3BEB2B363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08468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rgbClr val="FF0000"/>
                      </a:solidFill>
                    </a:rPr>
                    <a:t>4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05EA07C-1633-8D9A-5C92-316F8F135A7C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rgbClr val="FF0000"/>
                      </a:solidFill>
                    </a:rPr>
                    <a:t>6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6C6BA9F-2350-44D6-90F4-3DA7C6BDBDDE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19226D51-C52A-8AC5-942A-A5340DFD621C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4D7934B-7B17-ED35-24BF-6B051A9E98C3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2C510B6-B846-4C11-A0E5-9700DD661D58}"/>
                  </a:ext>
                </a:extLst>
              </p:cNvPr>
              <p:cNvGrpSpPr/>
              <p:nvPr/>
            </p:nvGrpSpPr>
            <p:grpSpPr>
              <a:xfrm>
                <a:off x="2612572" y="3909526"/>
                <a:ext cx="5326224" cy="886408"/>
                <a:chOff x="895739" y="1296955"/>
                <a:chExt cx="5326224" cy="88640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8E3DF7F-C2D9-8993-042E-2C876185B73B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08468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858563F-9FB7-52A1-9D7F-20FBACA4E217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1596D21-DF27-D590-ED8F-7A08294BA744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rgbClr val="FF0000"/>
                      </a:solidFill>
                    </a:rPr>
                    <a:t>3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106DBD7-B63B-B519-27FF-66F4794150A7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C363EDB-C039-E0FE-1390-21C5738BD76F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1CAC0C1-37CE-2A6E-978A-BA25DC472FAB}"/>
                  </a:ext>
                </a:extLst>
              </p:cNvPr>
              <p:cNvGrpSpPr/>
              <p:nvPr/>
            </p:nvGrpSpPr>
            <p:grpSpPr>
              <a:xfrm>
                <a:off x="2612572" y="4795934"/>
                <a:ext cx="5326224" cy="886408"/>
                <a:chOff x="895739" y="1296955"/>
                <a:chExt cx="5326224" cy="886408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A516C6E-95BA-1D5E-FDF2-1D88FE6DD571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3E29F96-4098-3503-3DBF-1A115BDD99B0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795AA0B-DE97-24AE-DE72-2F8F12285EFC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759FBA9-79F0-D069-1A7C-61BEF51BC5EF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B354BE5-1378-E493-1CEE-D284FAC905E9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rgbClr val="FF0000"/>
                      </a:solidFill>
                    </a:rPr>
                    <a:t>2</a:t>
                  </a:r>
                  <a:endParaRPr lang="en-IN" sz="36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DFDBAA4-2404-D85D-3B0A-AA4801DE784F}"/>
                </a:ext>
              </a:extLst>
            </p:cNvPr>
            <p:cNvCxnSpPr/>
            <p:nvPr/>
          </p:nvCxnSpPr>
          <p:spPr>
            <a:xfrm flipV="1">
              <a:off x="2942057" y="2474557"/>
              <a:ext cx="933839" cy="597159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E51F23D-44DE-6F48-98E0-7CCCFBBE995D}"/>
              </a:ext>
            </a:extLst>
          </p:cNvPr>
          <p:cNvGrpSpPr/>
          <p:nvPr/>
        </p:nvGrpSpPr>
        <p:grpSpPr>
          <a:xfrm>
            <a:off x="6484776" y="971746"/>
            <a:ext cx="5326224" cy="4432040"/>
            <a:chOff x="2612572" y="1250302"/>
            <a:chExt cx="5326224" cy="443204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6DF30BF-E4F5-E604-5C0F-FA8C079BCAD5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41AE0FD-03BF-F4B3-96CE-9215703A981F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DE58C86-D780-7E13-57AF-FB1D4DA63E5D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46FC7EC-17B3-A63C-72D8-C65748312ED1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5DF564E-6F82-AF38-43D4-E0AB0198E331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dirty="0">
                    <a:solidFill>
                      <a:srgbClr val="FF0000"/>
                    </a:solidFill>
                  </a:rPr>
                  <a:t>1</a:t>
                </a:r>
                <a:endParaRPr lang="en-IN" sz="4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A31F38E-A0DB-0F7F-2AE1-1E07DE2BB1EB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A449B43-F83C-D9BA-2775-BD542304B401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D82DAAF8-09CE-B9C4-2F55-AC65D58F24D9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9367095-7931-EBE0-323B-EED53A77E480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EB5C7DC-6DBA-EF73-4C4B-70CD700EA29F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814ABCD-DB3C-142D-AD6B-022F13302D81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0152616-5402-DDE5-FD50-6AB5179B8414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3E9315B-7808-EC57-AB3B-10586F89505A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0B0A02B-8B77-6E15-C2E3-B12EEDE3EDFF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53F29D1-0C45-E735-E739-B3F9EC8F2CDA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5CA3092-A88E-32ED-08A8-79520A36D4E6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505F234-CFAE-F4BB-8FAD-7A8627A2596C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8843A3A-2499-CF50-F1C1-1F2210B306D7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F6B06A1-9670-C54D-9712-092466473F09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5500C89-4589-6BF4-CE31-B4333AC98530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9B605F8-FDE1-49E8-E728-CFC695E62F9F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12B8289-00CD-B8CF-0AA8-25872C01805B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0DCD7E6-8722-8BF5-BBD8-4394D194437E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7111E03-6295-DDDE-F440-EB1D38E9E722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25CC8C5-90CF-3862-81F3-F57671FD6361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546BE9B-A759-A63B-B21D-444CAC8E93DA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3F7F4C2-59CE-62EB-2904-24A27C12A50C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E65B7BB-8500-7082-A14C-8DEC41F2801A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590E731-F28E-3B68-A38D-6C40BF16C4B3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AFAA442-6C83-FE86-CDF6-C7DC619B9840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6369B65-93C2-091E-42EA-2D77B61E11D8}"/>
              </a:ext>
            </a:extLst>
          </p:cNvPr>
          <p:cNvCxnSpPr/>
          <p:nvPr/>
        </p:nvCxnSpPr>
        <p:spPr>
          <a:xfrm flipV="1">
            <a:off x="9239250" y="1559574"/>
            <a:ext cx="933839" cy="59715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302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AA3C74F-4EFD-36EA-BD9B-04683C46D56C}"/>
              </a:ext>
            </a:extLst>
          </p:cNvPr>
          <p:cNvCxnSpPr/>
          <p:nvPr/>
        </p:nvCxnSpPr>
        <p:spPr>
          <a:xfrm flipV="1">
            <a:off x="4415906" y="768416"/>
            <a:ext cx="933839" cy="59715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7E876A9-04A9-E9AE-8D3E-1886651DBFC6}"/>
              </a:ext>
            </a:extLst>
          </p:cNvPr>
          <p:cNvGrpSpPr/>
          <p:nvPr/>
        </p:nvGrpSpPr>
        <p:grpSpPr>
          <a:xfrm>
            <a:off x="493161" y="1066995"/>
            <a:ext cx="5326224" cy="4432040"/>
            <a:chOff x="2612572" y="1250302"/>
            <a:chExt cx="5326224" cy="443204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6400924-D913-49A5-4B74-A26DDE6BAC44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7A6CCC3-A0A0-30E2-2DB7-A0F089A2FD45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6B88C76-8670-C161-CE28-0E975523621A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2BE558-05A2-1D52-EFEB-6F85422C2FF0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C7BEB3-37F7-4C1C-485C-06B7004B22BF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dirty="0">
                    <a:solidFill>
                      <a:srgbClr val="FF0000"/>
                    </a:solidFill>
                  </a:rPr>
                  <a:t>1</a:t>
                </a:r>
                <a:endParaRPr lang="en-IN" sz="4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A3D5774-9E4A-D1FB-59C9-FF43B9767DDB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6BBACA-5DFB-C145-7B44-AE560FB18FF9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CDF169-14B7-236F-5DFE-A24EBD380495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BB85D57-6255-62C9-9C0F-C422DDD8CCCF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1CEA96D-7BAB-A901-762C-4A3EBE943889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AF7AEC2-4F64-7129-A8EE-9012775FA6BE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97F5D51-3AB5-FDDB-A5C4-F8F5F3252B3C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6EE0828-22BB-E5AD-D82E-3AD05DECE21B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DE1001C-A50B-7493-7C73-58E559E9C5E9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AF0F568-CDBE-9FD7-5D24-0CBE501A957D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CD5D538-D7A3-B61E-431C-807DB41660CE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A87D00E-835F-C24D-BA07-37D41E46F6F9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BC051B7-4FDA-1FB5-2C0A-07DF54BAA924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CB92BB-D5A9-EE74-67EA-C248C4436F96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3759FE0-A7A0-CFFD-6B69-2A54E9835FD2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F4788D-816B-FE89-BE50-79F8C8CF9875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3CF71C-82DE-2A4B-A66D-8EBC8985C2A0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F3864B1-F23D-A687-FB4B-25EE09FF3448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08B73E5-8B29-D357-95E1-840A00262FA7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BA9E045-A5AC-6226-1C80-37D9659A8776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300E81-3E5D-CAA1-1307-06D8ADBE52BA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81F2D6-CC77-A74D-104E-7A641E9FC7B5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BA5293-8ACE-D17D-1FD7-0CA19B92C52D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9D5031-324C-DEA1-5795-7F7C5739B504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7AB247-6695-59D4-F9F2-E2280FB976EB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507CDF-BEF4-09A4-77F2-8A0DCEA07720}"/>
              </a:ext>
            </a:extLst>
          </p:cNvPr>
          <p:cNvCxnSpPr/>
          <p:nvPr/>
        </p:nvCxnSpPr>
        <p:spPr>
          <a:xfrm>
            <a:off x="5349745" y="781050"/>
            <a:ext cx="0" cy="4123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F83629-5053-E08D-7506-E991519C0DF5}"/>
              </a:ext>
            </a:extLst>
          </p:cNvPr>
          <p:cNvGrpSpPr/>
          <p:nvPr/>
        </p:nvGrpSpPr>
        <p:grpSpPr>
          <a:xfrm>
            <a:off x="6400994" y="1066995"/>
            <a:ext cx="5326224" cy="4432040"/>
            <a:chOff x="2612572" y="1250302"/>
            <a:chExt cx="5326224" cy="44320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80D222-4CCE-F539-34FF-31D28F0E95EF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AAE6382-526A-AE48-5D27-2C4DF8A07773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29D6F71-D1A2-DCFE-8F21-0C1E728A8E3A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7C06C56-4212-0E5C-854C-69BAE53AF693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9328023-1B5F-A23A-1704-4860A33B1D36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dirty="0">
                    <a:solidFill>
                      <a:srgbClr val="FF0000"/>
                    </a:solidFill>
                  </a:rPr>
                  <a:t>1</a:t>
                </a:r>
                <a:endParaRPr lang="en-IN" sz="4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79FF6A5-15BB-F3AB-9819-C3E4781EB15F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10B59F9-D29E-E00A-74DB-7213D08EB268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024A6AC-00E3-AC1C-0C22-F4295E381487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74B7D5C-22CF-19F5-1A51-962B0BBC57C7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3FF1030-E353-C90A-D750-6A5086D42202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078667E-E3D3-3AC3-EE30-FE0A92F6C4D9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B776175-7A1C-92FB-0E49-0017841DB210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6B907A0-A3BF-AB4E-28EE-AF01AC2EA75B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11D7BE1-B1E7-8724-BF56-C2644F4610F6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7B89437-A8DD-734B-999B-809E92599D84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C11EE25-509A-ED3D-3CAC-0B3CF152E373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12E5C93-7905-B2CE-2E66-5E79D2CC2BAF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EB32823-F7EA-F360-410B-374E04E1540D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AE4A588-89B6-42CC-15A6-AA03C6D0B979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43C2D96-90ED-6F68-A209-A8A1CD99C49F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871D5AC-69B4-0F45-6032-E4012F341352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EFDCCC6-4C08-9CF5-E8F0-AF428015ED96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7BC88B-ED00-A722-DBB3-B0A3389FDC65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EF4120D-06A6-C44A-3E98-4353A1E08815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7EAFE38-6FE7-4B45-7584-F32CBA9C070F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A577077-2097-A9A9-F8A8-BB01DDCFFB46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C401C0D-377A-C6E9-8CC3-82232BBF7E63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E2B09A6-DB6D-F900-8A0B-FBE7D7F9FA5D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2186117-5A35-7CB0-6215-2DA8B05FAF44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9F609DA-C96B-BB29-D319-5875D4CCEAB3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3822080-CD08-C032-4547-2A33251A3161}"/>
              </a:ext>
            </a:extLst>
          </p:cNvPr>
          <p:cNvCxnSpPr/>
          <p:nvPr/>
        </p:nvCxnSpPr>
        <p:spPr>
          <a:xfrm flipV="1">
            <a:off x="11195762" y="4366533"/>
            <a:ext cx="933839" cy="59715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847E7C3-8748-7655-810A-285C71B7D30E}"/>
              </a:ext>
            </a:extLst>
          </p:cNvPr>
          <p:cNvCxnSpPr/>
          <p:nvPr/>
        </p:nvCxnSpPr>
        <p:spPr>
          <a:xfrm flipH="1" flipV="1">
            <a:off x="6870634" y="4267200"/>
            <a:ext cx="5216591" cy="952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563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D2C8DDA-2AF7-B078-83FE-D8612FB0C655}"/>
              </a:ext>
            </a:extLst>
          </p:cNvPr>
          <p:cNvGrpSpPr/>
          <p:nvPr/>
        </p:nvGrpSpPr>
        <p:grpSpPr>
          <a:xfrm>
            <a:off x="866969" y="581220"/>
            <a:ext cx="5326224" cy="4432040"/>
            <a:chOff x="2612572" y="1250302"/>
            <a:chExt cx="5326224" cy="44320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C8A1F10-C100-1468-4060-45005523A7C5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0C619CF-6342-2CEA-0398-D8DBDD99EDDC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8012368-2FB3-AF93-78CE-EAEF2E84FB47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C75FB2-6109-47E4-8B60-D8608158D68E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EB10F54-139E-3DD9-80B8-C9235E6C1F78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1</a:t>
                </a:r>
                <a:endParaRPr lang="en-IN" sz="3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0DE7F28-B6C6-E4BE-09E2-486351EBDF22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5B02590-20F9-0C28-B186-94D6ECA9E1D0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7881373-0782-7739-D6EA-6C552586C1DE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9AD55B7-3671-7039-5F30-DE79CFA9CE0D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C4D27E3-469D-A6F4-1CC1-9BDD87A88F31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E54D002-F89D-9A83-5443-132232B16556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1A6EC5A-95FA-6170-92A0-A3CD3B94D808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0DC126-C5BD-F04F-57AE-4B153F86EEEE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A5975E6-57DB-5C05-625E-9259227B586F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A160A45-CDD9-434E-DECC-FE04B18A66A3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617923-8D3D-1A8E-344B-735E58A83679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01A044-E051-C353-F99B-9F80F728A94E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6F9EC41-E1DE-D6FC-72A6-81A132B76D34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09F158-AD7B-EC6D-1142-501003FC7846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A07CC9-0196-6B5C-422E-C3DA7A5B8A85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82FC2EA-0DD1-53CE-DD3F-09FB0F8857F4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793462B-0655-14DF-0167-82E254DBF7EE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486E112-49D5-DDB6-3944-9C5F268C470D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1FDA69-2336-D734-1482-F43CFC5011D9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69CA66-D348-8422-ECFA-20158B7854CA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B282A0-4871-A76A-94B1-1BA5CFD65A2D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B02BF8-D84D-FFA3-8D6E-CD7F05394435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64DB76-73D3-B386-186B-40A61AD4A5D7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0477A79-EA54-FAE4-7C3F-FB5F867A5A0A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59F0E7-28E8-50E6-84F4-F15CD88E2F7E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5FF5972-97B2-B309-D65D-FBDC8CAED282}"/>
              </a:ext>
            </a:extLst>
          </p:cNvPr>
          <p:cNvSpPr/>
          <p:nvPr/>
        </p:nvSpPr>
        <p:spPr>
          <a:xfrm>
            <a:off x="363180" y="5390372"/>
            <a:ext cx="19367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3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9C78F0-7EBA-A370-9D93-C689DB355DBC}"/>
              </a:ext>
            </a:extLst>
          </p:cNvPr>
          <p:cNvCxnSpPr/>
          <p:nvPr/>
        </p:nvCxnSpPr>
        <p:spPr>
          <a:xfrm flipV="1">
            <a:off x="1484732" y="2976466"/>
            <a:ext cx="933839" cy="59715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8BBC562-BF76-7E65-7EF5-CE76928DAE29}"/>
              </a:ext>
            </a:extLst>
          </p:cNvPr>
          <p:cNvCxnSpPr/>
          <p:nvPr/>
        </p:nvCxnSpPr>
        <p:spPr>
          <a:xfrm>
            <a:off x="1771650" y="3429000"/>
            <a:ext cx="0" cy="990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C00D6F-6450-A04D-B43D-27A21801EF30}"/>
              </a:ext>
            </a:extLst>
          </p:cNvPr>
          <p:cNvGrpSpPr/>
          <p:nvPr/>
        </p:nvGrpSpPr>
        <p:grpSpPr>
          <a:xfrm>
            <a:off x="6677219" y="581220"/>
            <a:ext cx="5326224" cy="4432040"/>
            <a:chOff x="2612572" y="1250302"/>
            <a:chExt cx="5326224" cy="443204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5D58F5E-CED1-8441-AE3D-CDFD79EAC724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6D76AB1-1347-733E-126C-E4BADA2366E7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93E7E66-5DF0-8A9B-E91C-EA3AE4D696D2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43C6587-D720-A0B9-2082-1DE7A4401AC7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15</a:t>
                </a:r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0AD8353-A07E-3760-FA72-B96D5AC0699C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</a:t>
                </a:r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A86FB3E-8EE0-2BF3-25F8-F45757A0E74D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E1A1A79-D1FF-2494-2349-1D21CC119B1C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1B36A75-167D-399E-C283-68E832DD177A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4A5C51E-60C7-0AD7-3352-2E58689F68C9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D912EB-7145-3748-6DA0-E171EE8F03B5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16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7E9414F-E557-87D5-0720-F724B3C2D9E3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36D84F2-5F76-13ED-E355-20374CCFC2E2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14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208F5F-DBC4-A388-A8C1-923E8056891A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DE17AE2-B893-F146-A17A-C16C253E3E73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0E27B5-FF13-EAE4-8DB8-28FFCDBE7E3C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1D357AC-48A4-F1FE-15BE-D79F7C60FE82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69E1B65-ECD8-B749-ADBC-98D0A2D5CD0C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13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429E9AB-F783-D00F-0856-987C24CECE0A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30CA592-8BA0-FEAC-CB63-4BB32F446EA4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F35F7A9-CA38-D7B7-DA5C-7CD14B8E2B0E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B7F26F-B6C4-302C-5C62-E157D6B86EB3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12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2791720-0977-6526-1C5F-94F9B813BE15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4401BBF-7A3C-CD81-43BC-A48A94665E1F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2373516-CA08-C0E3-5463-27CB2F15F9AB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22AB6E3-361F-3B49-AEA5-48A82CCAA78B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90E629C-5B02-D6F9-8B04-B03AB1233C1B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EF49E69-F23B-B57F-1F15-97DD0C2BC127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474407E-9803-0168-F8BD-632A45815CBD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D113AD4-A0A9-3548-9990-FD80EF6C744E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D098121-D354-44C4-17C1-D349D45EBF08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4423C2D9-B684-2A1F-B833-4498ACBB10F9}"/>
              </a:ext>
            </a:extLst>
          </p:cNvPr>
          <p:cNvSpPr/>
          <p:nvPr/>
        </p:nvSpPr>
        <p:spPr>
          <a:xfrm>
            <a:off x="9288105" y="5390372"/>
            <a:ext cx="19367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4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E140F03-05E0-6473-58AF-74EB4C61925F}"/>
              </a:ext>
            </a:extLst>
          </p:cNvPr>
          <p:cNvCxnSpPr/>
          <p:nvPr/>
        </p:nvCxnSpPr>
        <p:spPr>
          <a:xfrm>
            <a:off x="11490649" y="1114425"/>
            <a:ext cx="0" cy="704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802F8FA-3878-BA0E-8FBE-D31A99E68F6A}"/>
              </a:ext>
            </a:extLst>
          </p:cNvPr>
          <p:cNvCxnSpPr/>
          <p:nvPr/>
        </p:nvCxnSpPr>
        <p:spPr>
          <a:xfrm flipV="1">
            <a:off x="11563350" y="1114425"/>
            <a:ext cx="561975" cy="7048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C6D8FD2-A8AD-71B4-5F4F-D08C0DCDE248}"/>
              </a:ext>
            </a:extLst>
          </p:cNvPr>
          <p:cNvCxnSpPr/>
          <p:nvPr/>
        </p:nvCxnSpPr>
        <p:spPr>
          <a:xfrm flipH="1">
            <a:off x="7486650" y="1114425"/>
            <a:ext cx="4638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4B12094-340E-E4D4-EBD0-538001D3F829}"/>
              </a:ext>
            </a:extLst>
          </p:cNvPr>
          <p:cNvCxnSpPr/>
          <p:nvPr/>
        </p:nvCxnSpPr>
        <p:spPr>
          <a:xfrm flipV="1">
            <a:off x="11563350" y="438150"/>
            <a:ext cx="561975" cy="504825"/>
          </a:xfrm>
          <a:prstGeom prst="straightConnector1">
            <a:avLst/>
          </a:prstGeom>
          <a:ln w="222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FB4DA95-A423-5631-0243-9965DAC45E30}"/>
              </a:ext>
            </a:extLst>
          </p:cNvPr>
          <p:cNvSpPr txBox="1"/>
          <p:nvPr/>
        </p:nvSpPr>
        <p:spPr>
          <a:xfrm>
            <a:off x="7267956" y="6189017"/>
            <a:ext cx="457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Special rule for right top corner cell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18971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24E9DB-604E-ED32-B6E1-89A156A66586}"/>
              </a:ext>
            </a:extLst>
          </p:cNvPr>
          <p:cNvGrpSpPr/>
          <p:nvPr/>
        </p:nvGrpSpPr>
        <p:grpSpPr>
          <a:xfrm>
            <a:off x="647894" y="619320"/>
            <a:ext cx="5326224" cy="4432040"/>
            <a:chOff x="2612572" y="1250302"/>
            <a:chExt cx="5326224" cy="44320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FF878E-940F-A3F2-0772-A1730D04546D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5DEA4C6-8BC4-7C15-C828-28F92ED52BAB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17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E8754A5-BDB3-1776-4071-EADB32A41E65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0CE98E3-8099-64CF-FD66-A40E6B5C991A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15</a:t>
                </a:r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B5E895A-FB48-FBA0-278E-1247B55F346F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</a:t>
                </a:r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A81299E-5022-FB0A-E8E6-4B115BA8EF43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0B46D09-E179-E89F-AFB9-5BBAAE93BAF6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B68911-F5A1-E2C2-8A0E-F93AD81CB539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7B1AD5-10BB-CA26-B14B-46D48EF63815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3BE4E88-9C23-ACFF-4E71-912DFAFB1E07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16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92A75E2-30D7-2677-51A1-BE4B501FEFFF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6E7CE1D-7A3A-E443-1C4E-CEE06E82668B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14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58BFEC9-7DC2-7A09-EE3E-27A617923112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E6B4B9-051F-486F-CDF7-0E32D765072C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DD8514-DA87-491D-A260-DCBE11CB0631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3B080E-39AD-AEFA-B4E5-3D591CC16E1C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494DCD4-8BBC-C4A8-37AD-3695F91D6EF8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13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8C4859A-23E4-E4B7-AB24-A4E33BFC24B4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9B5596-BB0C-62DE-2B6D-924351CEC65C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E0597B8-CD20-1DB6-CD51-0615A6807851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1D62C6-EDCC-972E-3171-4FBDEB7D5AF4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12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2D74D1-0445-6FC4-3AD6-6B9774771AA3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82A43FD-C0B0-CE60-FB2B-D4E182651A7B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7D6BB04-3C1F-7A5D-C21C-E538BC1FA981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548C73-F75E-02E7-7B40-1C1C06B13CF2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7C53A0-BE52-106C-547D-AED82B844449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38E7FC-7BA1-4C72-8E7B-B06126705A90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18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98D026C-1613-1120-C72C-2E611E46CA70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C2918FB-23FE-61D4-F380-4CDF8EF9E484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AAD6E24-12E3-261D-E09C-CA8A1DA615FD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80EEE40-7EE1-0C9D-88D6-8FBB1336AF60}"/>
              </a:ext>
            </a:extLst>
          </p:cNvPr>
          <p:cNvCxnSpPr/>
          <p:nvPr/>
        </p:nvCxnSpPr>
        <p:spPr>
          <a:xfrm flipV="1">
            <a:off x="1362075" y="323850"/>
            <a:ext cx="771525" cy="63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FCC2AED-3D19-11D3-FD5B-FE7C8065B24B}"/>
              </a:ext>
            </a:extLst>
          </p:cNvPr>
          <p:cNvCxnSpPr/>
          <p:nvPr/>
        </p:nvCxnSpPr>
        <p:spPr>
          <a:xfrm>
            <a:off x="2133600" y="323850"/>
            <a:ext cx="0" cy="4284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CD498C-E8F9-FB48-DEA5-4520D82A7D6A}"/>
              </a:ext>
            </a:extLst>
          </p:cNvPr>
          <p:cNvGrpSpPr/>
          <p:nvPr/>
        </p:nvGrpSpPr>
        <p:grpSpPr>
          <a:xfrm>
            <a:off x="6429569" y="619320"/>
            <a:ext cx="5326224" cy="4432040"/>
            <a:chOff x="2612572" y="1250302"/>
            <a:chExt cx="5326224" cy="443204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8D0ABAC-0CFD-B4D3-043B-58BAE9BFF90C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C680C70-AFA3-7211-FBEB-B5D3DC53F5CA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17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E4F1557-AB9E-2783-88E9-B3B1A505D86D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9C2E696-2C5B-88A6-AF94-55A312851139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15</a:t>
                </a:r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D8AD200-535C-4058-4C21-4BCA772FAED6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</a:t>
                </a:r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5F2E816-79F3-5A12-A1FD-6133B3824A46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D921057-F9CA-00BE-D829-E9521179838A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92DEEBA-1619-C8FD-2A85-B726BB09E0F6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FE39C45-0DBD-6B6D-5849-F5EE399EB081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1A8B6EB-7CA6-2FE7-687F-C8C5FE8C3576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16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E4193A0-DB5E-7B4F-FF1D-C5D0AB6F8EB6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C030DB5-A657-9E35-2845-2CD6889061DF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14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2E2E603-576A-3F33-EBF1-B1403964F172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A616A21-833A-06FF-774C-90ECB6406CAB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98F6E09-D031-14C8-3947-250B683E0EEF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9A9356-A136-9B1C-C19D-48754EE8C69A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F46777C-2964-3732-9010-CFC21AA7570C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13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E668D61-A588-214E-0097-9E0FBBBE2081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20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054CE99-1430-D89C-97E7-93AAEF66C916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AF524CC-30A4-4D5F-2C50-3955FAF2A140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15A1526-310F-77C5-C93B-03692BE10EA9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12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3813E98-30A7-0475-0F26-21E0632026ED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CB0F3BE-226B-3B17-C3CA-FC369275DB9C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19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8697017-840F-C72A-7B5F-4A9181074448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832740-6CB7-D951-5838-C7F33BF5AAEB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AD18A12-8F3E-40BA-7F5F-1BF94773ABBA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2257E77-1CEE-DC8B-549B-1BE3C07EDC6D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18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CCA3CE1-0A27-067F-235D-E6EFCE0E7370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5F2A9B9-00B7-D7FF-04E5-7C111B07176E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01CC460-9893-E462-0F7E-EB856FFDDE60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DE2474B-724C-C779-E73D-5E8FEAD49989}"/>
              </a:ext>
            </a:extLst>
          </p:cNvPr>
          <p:cNvCxnSpPr/>
          <p:nvPr/>
        </p:nvCxnSpPr>
        <p:spPr>
          <a:xfrm flipV="1">
            <a:off x="8086725" y="3867150"/>
            <a:ext cx="771525" cy="74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D99A0EF-0FDD-F33B-A645-FA5D851172B2}"/>
              </a:ext>
            </a:extLst>
          </p:cNvPr>
          <p:cNvCxnSpPr/>
          <p:nvPr/>
        </p:nvCxnSpPr>
        <p:spPr>
          <a:xfrm flipV="1">
            <a:off x="9220200" y="2905125"/>
            <a:ext cx="828675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60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54EAF9-3FA7-1C66-DF16-BE629D3BE1F4}"/>
              </a:ext>
            </a:extLst>
          </p:cNvPr>
          <p:cNvGrpSpPr/>
          <p:nvPr/>
        </p:nvGrpSpPr>
        <p:grpSpPr>
          <a:xfrm>
            <a:off x="343094" y="695520"/>
            <a:ext cx="5326224" cy="4432040"/>
            <a:chOff x="2612572" y="1250302"/>
            <a:chExt cx="5326224" cy="44320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D7FF679-1457-DBD3-99C9-A004E613B96C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127F0AD-8772-FEBB-8C0C-544768D9F805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17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980DF1-90DC-4E46-7117-5FD62413EE21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157B116-5F3C-7A73-CA71-246CE23B1E00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15</a:t>
                </a:r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E714824-150A-405B-FAE8-2CB877637C4D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</a:t>
                </a:r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3DE2103-1216-943A-C798-F2E3051465F8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D2B79A-050B-221E-1A8B-2EBEA103632C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C221949-5483-CA0D-BB50-158DE84CC386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B748DD7-B15F-F3A8-79C2-548E1F4273C6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6D6D87F-18C6-FDD4-BEC7-E136DC9C8406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16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FAADE06-FDA7-5C40-6227-879827B9FCC4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73C2BCE-1875-F87F-FEEA-57AD278C6F9E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14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FE5E38-7BF0-F7ED-5C70-5C65A6AEEC93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4D80AD3-F86B-8622-2045-956449075D33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E7CCC2A-465F-66B6-B752-DB6C3A3D4BED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4CAC89E-CD76-9E75-899C-BF7DF63C66BE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27BE90-1F14-6F56-7868-E110A2B3C130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13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C97C985-68D1-9194-79C4-8F4490E1F0EC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20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EF3F269-B79C-A7FF-63EF-C534BB87CC0E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A76498-CFAD-2E1B-754C-BD2A2F2AD602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85AE4F-33F3-88ED-5BAC-A7EF75E6519D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12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7320B45-FB52-D10A-1682-DD5C226E8B07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021EC29-E965-3F38-9AAB-AF8159E7A647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19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48A628-C78D-E3ED-8DDC-C5F1A37E46FF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21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CE4177A-4B54-B89D-16AF-75DE7E4FDD84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9FC805-7FCD-AC1E-5081-4554AD960656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C6BC87B-F91E-7D62-F0ED-1F57F86CCD86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18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19CD5C2-AA5A-8875-0DA9-E173E9169A97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807DDC-DD16-6D0F-3107-B443301CC8B8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60EC79-723C-241A-E19E-0E74F44CB329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F410E9A-F736-D639-380A-3374F7463996}"/>
              </a:ext>
            </a:extLst>
          </p:cNvPr>
          <p:cNvCxnSpPr/>
          <p:nvPr/>
        </p:nvCxnSpPr>
        <p:spPr>
          <a:xfrm flipV="1">
            <a:off x="4238625" y="2247900"/>
            <a:ext cx="657225" cy="61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453B192-887E-C809-316E-8A4CDCF8C37F}"/>
              </a:ext>
            </a:extLst>
          </p:cNvPr>
          <p:cNvCxnSpPr>
            <a:cxnSpLocks/>
          </p:cNvCxnSpPr>
          <p:nvPr/>
        </p:nvCxnSpPr>
        <p:spPr>
          <a:xfrm>
            <a:off x="4089334" y="2911540"/>
            <a:ext cx="30324" cy="663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9EC8241-2430-FC34-4CEB-C65105FFF618}"/>
              </a:ext>
            </a:extLst>
          </p:cNvPr>
          <p:cNvGrpSpPr/>
          <p:nvPr/>
        </p:nvGrpSpPr>
        <p:grpSpPr>
          <a:xfrm>
            <a:off x="6164619" y="762195"/>
            <a:ext cx="5326224" cy="4432040"/>
            <a:chOff x="2612572" y="1250302"/>
            <a:chExt cx="5326224" cy="443204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4A928F-2077-2BB2-F7B1-CDA8D544B7BD}"/>
                </a:ext>
              </a:extLst>
            </p:cNvPr>
            <p:cNvGrpSpPr/>
            <p:nvPr/>
          </p:nvGrpSpPr>
          <p:grpSpPr>
            <a:xfrm>
              <a:off x="2627733" y="1250302"/>
              <a:ext cx="5309509" cy="886408"/>
              <a:chOff x="880576" y="1296955"/>
              <a:chExt cx="5309509" cy="88640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C43744E-DF69-2EA4-BCC3-D7478A34260D}"/>
                  </a:ext>
                </a:extLst>
              </p:cNvPr>
              <p:cNvSpPr/>
              <p:nvPr/>
            </p:nvSpPr>
            <p:spPr>
              <a:xfrm>
                <a:off x="88057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17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08CDD3-7359-5B42-36B3-6867DD80A5D4}"/>
                  </a:ext>
                </a:extLst>
              </p:cNvPr>
              <p:cNvSpPr/>
              <p:nvPr/>
            </p:nvSpPr>
            <p:spPr>
              <a:xfrm>
                <a:off x="1950098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0FDDB0C-F051-D13D-A650-DF8F6053A47D}"/>
                  </a:ext>
                </a:extLst>
              </p:cNvPr>
              <p:cNvSpPr/>
              <p:nvPr/>
            </p:nvSpPr>
            <p:spPr>
              <a:xfrm>
                <a:off x="5167605" y="1296955"/>
                <a:ext cx="1022480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15</a:t>
                </a:r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4F13067-35D9-FD4A-246E-143C1149D0E8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</a:t>
                </a:r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914A05A-7EC6-12B8-4589-6D5FAF0445AE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8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6F26508-9C15-8263-3FCB-9325810E5F80}"/>
                </a:ext>
              </a:extLst>
            </p:cNvPr>
            <p:cNvGrpSpPr/>
            <p:nvPr/>
          </p:nvGrpSpPr>
          <p:grpSpPr>
            <a:xfrm>
              <a:off x="2612572" y="2136710"/>
              <a:ext cx="5326224" cy="886408"/>
              <a:chOff x="895739" y="1296955"/>
              <a:chExt cx="5326224" cy="886408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D5E038E-B0FB-F9C6-FE28-758B51CFFE9A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0E13D6B-93C8-117A-935B-D6899B61F321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3A5CA69-6B7A-66D7-08CA-2C1970A13AF0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16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E72AA2A-8325-CC79-B69B-70E4D96EED61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7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C548C3-1258-4AD4-ABDC-D9535F551E38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14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00DE4F0-422B-227C-0A12-DD0C3F4C6E79}"/>
                </a:ext>
              </a:extLst>
            </p:cNvPr>
            <p:cNvGrpSpPr/>
            <p:nvPr/>
          </p:nvGrpSpPr>
          <p:grpSpPr>
            <a:xfrm>
              <a:off x="2612572" y="3023118"/>
              <a:ext cx="5326224" cy="886408"/>
              <a:chOff x="895739" y="1296955"/>
              <a:chExt cx="5326224" cy="886408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A2DFBAC-97BA-DB1E-CD4D-B7096DE3650A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4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6B4541B-DF19-CAF4-3E66-105A5E4E4972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6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05025D1-E45B-047D-7859-421FF73771AA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22</a:t>
                </a:r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1A11063-183D-CEFC-7FFA-85A1C630E9AD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13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171B327-283D-CC65-6302-FF3F1935F5F2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20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55D5275-A507-135E-F628-B8E3B37A8B93}"/>
                </a:ext>
              </a:extLst>
            </p:cNvPr>
            <p:cNvGrpSpPr/>
            <p:nvPr/>
          </p:nvGrpSpPr>
          <p:grpSpPr>
            <a:xfrm>
              <a:off x="2612572" y="3909526"/>
              <a:ext cx="5326224" cy="886408"/>
              <a:chOff x="895739" y="1296955"/>
              <a:chExt cx="5326224" cy="886408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67026AC-1F87-9216-C479-5E75773AB6C1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08468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10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FCAAA1D-232F-1B4C-EE51-C1C88E6FD33E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12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1512F5A-2E2E-8618-6FA5-5746FC315A18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3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2BF8AC6-4EE1-B6D1-A994-60B4CD24EF41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19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56E8933-01AF-82EA-8C40-3EFB4BA84A02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21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EF2EFED-4083-70AE-6831-BC40E953F1DB}"/>
                </a:ext>
              </a:extLst>
            </p:cNvPr>
            <p:cNvGrpSpPr/>
            <p:nvPr/>
          </p:nvGrpSpPr>
          <p:grpSpPr>
            <a:xfrm>
              <a:off x="2612572" y="4795934"/>
              <a:ext cx="5326224" cy="886408"/>
              <a:chOff x="895739" y="1296955"/>
              <a:chExt cx="5326224" cy="88640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7CFF162-80C8-0C31-765B-83DA10E89550}"/>
                  </a:ext>
                </a:extLst>
              </p:cNvPr>
              <p:cNvSpPr/>
              <p:nvPr/>
            </p:nvSpPr>
            <p:spPr>
              <a:xfrm>
                <a:off x="895739" y="1296955"/>
                <a:ext cx="1113453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11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EEF6D7F-D6CE-6454-F989-137ACF765162}"/>
                  </a:ext>
                </a:extLst>
              </p:cNvPr>
              <p:cNvSpPr/>
              <p:nvPr/>
            </p:nvSpPr>
            <p:spPr>
              <a:xfrm>
                <a:off x="2009192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18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7DF876C-90D4-14AF-337D-E51F199C3B21}"/>
                  </a:ext>
                </a:extLst>
              </p:cNvPr>
              <p:cNvSpPr/>
              <p:nvPr/>
            </p:nvSpPr>
            <p:spPr>
              <a:xfrm>
                <a:off x="5167604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9</a:t>
                </a:r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C9D4F74-034D-F680-0FDC-33CC55B12F2C}"/>
                  </a:ext>
                </a:extLst>
              </p:cNvPr>
              <p:cNvSpPr/>
              <p:nvPr/>
            </p:nvSpPr>
            <p:spPr>
              <a:xfrm>
                <a:off x="3061996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5DA6A1C-ECCB-3A7F-9583-0DFB97DB8836}"/>
                  </a:ext>
                </a:extLst>
              </p:cNvPr>
              <p:cNvSpPr/>
              <p:nvPr/>
            </p:nvSpPr>
            <p:spPr>
              <a:xfrm>
                <a:off x="4114800" y="1296955"/>
                <a:ext cx="1054359" cy="886408"/>
              </a:xfrm>
              <a:prstGeom prst="rect">
                <a:avLst/>
              </a:prstGeom>
              <a:noFill/>
              <a:ln w="539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</a:rPr>
                  <a:t>2</a:t>
                </a:r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p:grp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5D7E626-30E2-9865-DB85-90D1ED96A2BB}"/>
              </a:ext>
            </a:extLst>
          </p:cNvPr>
          <p:cNvCxnSpPr/>
          <p:nvPr/>
        </p:nvCxnSpPr>
        <p:spPr>
          <a:xfrm flipV="1">
            <a:off x="9953625" y="3095625"/>
            <a:ext cx="781828" cy="702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5EA20CEC-A99E-B6E3-EFFD-0662861E0F52}"/>
              </a:ext>
            </a:extLst>
          </p:cNvPr>
          <p:cNvSpPr/>
          <p:nvPr/>
        </p:nvSpPr>
        <p:spPr>
          <a:xfrm>
            <a:off x="3205389" y="5331867"/>
            <a:ext cx="19367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3</a:t>
            </a:r>
          </a:p>
        </p:txBody>
      </p:sp>
    </p:spTree>
    <p:extLst>
      <p:ext uri="{BB962C8B-B14F-4D97-AF65-F5344CB8AC3E}">
        <p14:creationId xmlns:p14="http://schemas.microsoft.com/office/powerpoint/2010/main" val="2542544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F26275B-B536-3DEB-08DB-0BB08E941D06}"/>
              </a:ext>
            </a:extLst>
          </p:cNvPr>
          <p:cNvGrpSpPr/>
          <p:nvPr/>
        </p:nvGrpSpPr>
        <p:grpSpPr>
          <a:xfrm>
            <a:off x="2849919" y="904875"/>
            <a:ext cx="5665431" cy="4756085"/>
            <a:chOff x="335319" y="485775"/>
            <a:chExt cx="5665431" cy="47560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2F97CDA-7FC9-5DCC-228B-47A560802345}"/>
                </a:ext>
              </a:extLst>
            </p:cNvPr>
            <p:cNvGrpSpPr/>
            <p:nvPr/>
          </p:nvGrpSpPr>
          <p:grpSpPr>
            <a:xfrm>
              <a:off x="335319" y="809820"/>
              <a:ext cx="5326224" cy="4432040"/>
              <a:chOff x="2612572" y="1250302"/>
              <a:chExt cx="5326224" cy="443204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32843EB-60C2-0D8D-0A51-264EFBDFF305}"/>
                  </a:ext>
                </a:extLst>
              </p:cNvPr>
              <p:cNvGrpSpPr/>
              <p:nvPr/>
            </p:nvGrpSpPr>
            <p:grpSpPr>
              <a:xfrm>
                <a:off x="2627733" y="1250302"/>
                <a:ext cx="5309509" cy="886408"/>
                <a:chOff x="880576" y="1296955"/>
                <a:chExt cx="5309509" cy="88640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2664349-B1EB-6969-BC7F-22187461A6A0}"/>
                    </a:ext>
                  </a:extLst>
                </p:cNvPr>
                <p:cNvSpPr/>
                <p:nvPr/>
              </p:nvSpPr>
              <p:spPr>
                <a:xfrm>
                  <a:off x="88057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17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8EF9C3A8-3414-B1C0-FED6-708C790F11D5}"/>
                    </a:ext>
                  </a:extLst>
                </p:cNvPr>
                <p:cNvSpPr/>
                <p:nvPr/>
              </p:nvSpPr>
              <p:spPr>
                <a:xfrm>
                  <a:off x="1950098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solidFill>
                        <a:srgbClr val="FF0000"/>
                      </a:solidFill>
                    </a:rPr>
                    <a:t>24</a:t>
                  </a:r>
                  <a:endParaRPr lang="en-IN" sz="20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F334960-D4C0-3581-3274-8652A5DEEA7C}"/>
                    </a:ext>
                  </a:extLst>
                </p:cNvPr>
                <p:cNvSpPr/>
                <p:nvPr/>
              </p:nvSpPr>
              <p:spPr>
                <a:xfrm>
                  <a:off x="5167605" y="1296955"/>
                  <a:ext cx="1022480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solidFill>
                        <a:srgbClr val="FF0000"/>
                      </a:solidFill>
                    </a:rPr>
                    <a:t>15</a:t>
                  </a:r>
                  <a:endParaRPr lang="en-IN" sz="20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9A408C0-8F55-FC78-B52A-7414079D343C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1</a:t>
                  </a:r>
                  <a:endParaRPr lang="en-IN" sz="28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BC32005-85A8-20CC-73E3-DFD41685ED55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8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CF9FC67-8844-1D59-593A-1F08DEBF784A}"/>
                  </a:ext>
                </a:extLst>
              </p:cNvPr>
              <p:cNvGrpSpPr/>
              <p:nvPr/>
            </p:nvGrpSpPr>
            <p:grpSpPr>
              <a:xfrm>
                <a:off x="2612572" y="2136710"/>
                <a:ext cx="5326224" cy="886408"/>
                <a:chOff x="895739" y="1296955"/>
                <a:chExt cx="5326224" cy="88640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9884B42-B42D-A6DD-40AE-F39AF4B21B2E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23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8DFB3B8-1427-09CD-3FDD-D7051582172C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5</a:t>
                  </a:r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232EB24-BD63-55B3-69F4-A536CF9562DE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16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1EEEB8E2-EABA-A713-5AAD-F844B87D8613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7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6C3D417-6D7B-6EFC-BC0D-CD19F28B5F96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14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0142A60-05E2-3DD8-227F-AB2124C7E103}"/>
                  </a:ext>
                </a:extLst>
              </p:cNvPr>
              <p:cNvGrpSpPr/>
              <p:nvPr/>
            </p:nvGrpSpPr>
            <p:grpSpPr>
              <a:xfrm>
                <a:off x="2612572" y="3023118"/>
                <a:ext cx="5326224" cy="886408"/>
                <a:chOff x="895739" y="1296955"/>
                <a:chExt cx="5326224" cy="886408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0C506A4-A5F5-2B07-6903-B8FE0B528C2E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08468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4</a:t>
                  </a:r>
                  <a:endParaRPr lang="en-IN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9B63D66-4EC6-553F-0BC8-6D9D77A31C79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6</a:t>
                  </a:r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CD33C10C-027E-DE84-F8CC-83FFAB968CAB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22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E1A162C-C50F-C725-75FD-92A3A6EB3AB7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13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5DE6A2-87C4-00E3-F997-3CB461A290E5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20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7A638A8-8DAD-ECFB-4AA0-9884702F04F9}"/>
                  </a:ext>
                </a:extLst>
              </p:cNvPr>
              <p:cNvGrpSpPr/>
              <p:nvPr/>
            </p:nvGrpSpPr>
            <p:grpSpPr>
              <a:xfrm>
                <a:off x="2612572" y="3909526"/>
                <a:ext cx="5326224" cy="886408"/>
                <a:chOff x="895739" y="1296955"/>
                <a:chExt cx="5326224" cy="886408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9F2773B-6E7B-7664-279A-6B73DEA4575F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08468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10</a:t>
                  </a:r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A4072FF-B3C4-3057-78F9-D93681B550B9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12</a:t>
                  </a:r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3B0779D-29A4-B23E-62AC-33AF51514726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3</a:t>
                  </a:r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FCD6148-6903-889C-9CF8-C0ACAB4965BB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19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66CAF48-AB00-38DA-458B-78577AD50E30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21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A7FA5C5-3D1B-5101-BC04-5D66DD6C1C08}"/>
                  </a:ext>
                </a:extLst>
              </p:cNvPr>
              <p:cNvGrpSpPr/>
              <p:nvPr/>
            </p:nvGrpSpPr>
            <p:grpSpPr>
              <a:xfrm>
                <a:off x="2612572" y="4795934"/>
                <a:ext cx="5326224" cy="886408"/>
                <a:chOff x="895739" y="1296955"/>
                <a:chExt cx="5326224" cy="886408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9E5D310-6E4A-078A-88FB-65E24C48E10D}"/>
                    </a:ext>
                  </a:extLst>
                </p:cNvPr>
                <p:cNvSpPr/>
                <p:nvPr/>
              </p:nvSpPr>
              <p:spPr>
                <a:xfrm>
                  <a:off x="895739" y="1296955"/>
                  <a:ext cx="1113453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11</a:t>
                  </a:r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2EDB088-2501-FFBE-2D34-4CED6A32B8F2}"/>
                    </a:ext>
                  </a:extLst>
                </p:cNvPr>
                <p:cNvSpPr/>
                <p:nvPr/>
              </p:nvSpPr>
              <p:spPr>
                <a:xfrm>
                  <a:off x="2009192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18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E5C7773-F9EF-7AD9-AC29-B6DE2EA615EF}"/>
                    </a:ext>
                  </a:extLst>
                </p:cNvPr>
                <p:cNvSpPr/>
                <p:nvPr/>
              </p:nvSpPr>
              <p:spPr>
                <a:xfrm>
                  <a:off x="5167604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9</a:t>
                  </a:r>
                  <a:endParaRPr lang="en-IN" sz="1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D67525F-735A-F905-9797-28611325044A}"/>
                    </a:ext>
                  </a:extLst>
                </p:cNvPr>
                <p:cNvSpPr/>
                <p:nvPr/>
              </p:nvSpPr>
              <p:spPr>
                <a:xfrm>
                  <a:off x="3061996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25</a:t>
                  </a:r>
                  <a:endParaRPr lang="en-IN" sz="2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F107D699-E6E5-A10E-4CA2-7A33D9CA635A}"/>
                    </a:ext>
                  </a:extLst>
                </p:cNvPr>
                <p:cNvSpPr/>
                <p:nvPr/>
              </p:nvSpPr>
              <p:spPr>
                <a:xfrm>
                  <a:off x="4114800" y="1296955"/>
                  <a:ext cx="1054359" cy="886408"/>
                </a:xfrm>
                <a:prstGeom prst="rect">
                  <a:avLst/>
                </a:prstGeom>
                <a:noFill/>
                <a:ln w="539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rgbClr val="FF0000"/>
                      </a:solidFill>
                    </a:rPr>
                    <a:t>2</a:t>
                  </a:r>
                  <a:endParaRPr lang="en-IN" sz="28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69ED5A5-4453-A5B1-EB56-EB7A876F54A9}"/>
                </a:ext>
              </a:extLst>
            </p:cNvPr>
            <p:cNvCxnSpPr/>
            <p:nvPr/>
          </p:nvCxnSpPr>
          <p:spPr>
            <a:xfrm flipV="1">
              <a:off x="5229225" y="2139432"/>
              <a:ext cx="771525" cy="8864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4182025-690E-1BBA-695A-A7C24727134F}"/>
                </a:ext>
              </a:extLst>
            </p:cNvPr>
            <p:cNvCxnSpPr/>
            <p:nvPr/>
          </p:nvCxnSpPr>
          <p:spPr>
            <a:xfrm flipH="1">
              <a:off x="1209675" y="2139432"/>
              <a:ext cx="4791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4BFE291-B5DA-7F5B-8977-5F1DE227BD57}"/>
                </a:ext>
              </a:extLst>
            </p:cNvPr>
            <p:cNvCxnSpPr/>
            <p:nvPr/>
          </p:nvCxnSpPr>
          <p:spPr>
            <a:xfrm flipV="1">
              <a:off x="1038225" y="1323975"/>
              <a:ext cx="781050" cy="7143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952ACD8-B14F-2CF2-083D-687D416960B1}"/>
                </a:ext>
              </a:extLst>
            </p:cNvPr>
            <p:cNvCxnSpPr/>
            <p:nvPr/>
          </p:nvCxnSpPr>
          <p:spPr>
            <a:xfrm flipV="1">
              <a:off x="1975951" y="485775"/>
              <a:ext cx="1052804" cy="6667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62020C1-5C9B-1609-9D7A-5F423C263A81}"/>
                </a:ext>
              </a:extLst>
            </p:cNvPr>
            <p:cNvCxnSpPr/>
            <p:nvPr/>
          </p:nvCxnSpPr>
          <p:spPr>
            <a:xfrm>
              <a:off x="2943225" y="485775"/>
              <a:ext cx="0" cy="40100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4336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24FE0-1E58-E957-4D75-BB8C805DA808}"/>
              </a:ext>
            </a:extLst>
          </p:cNvPr>
          <p:cNvSpPr txBox="1"/>
          <p:nvPr/>
        </p:nvSpPr>
        <p:spPr>
          <a:xfrm>
            <a:off x="190500" y="58846"/>
            <a:ext cx="6515100" cy="67403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Menlo"/>
              </a:rPr>
              <a:t>clear </a:t>
            </a:r>
            <a:r>
              <a:rPr lang="en-US" sz="24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% Fill in a odd magic </a:t>
            </a:r>
            <a:r>
              <a:rPr lang="en-US" sz="2400" b="0" i="0" dirty="0" err="1">
                <a:solidFill>
                  <a:srgbClr val="008013"/>
                </a:solidFill>
                <a:effectLst/>
                <a:latin typeface="Menlo"/>
              </a:rPr>
              <a:t>squre</a:t>
            </a:r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 from 1 to N^2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% In general numbers must form an Arithmetic %Progression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effectLst/>
                <a:latin typeface="Menlo"/>
              </a:rPr>
              <a:t>N=7; </a:t>
            </a:r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% N must be odd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effectLst/>
                <a:latin typeface="Menlo"/>
              </a:rPr>
              <a:t>A=zeros(N,N);</a:t>
            </a:r>
          </a:p>
          <a:p>
            <a:r>
              <a:rPr lang="en-US" sz="2400" b="0" i="0" dirty="0">
                <a:effectLst/>
                <a:latin typeface="Menlo"/>
              </a:rPr>
              <a:t>j=1+(N-1)/2 ; </a:t>
            </a:r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% fill </a:t>
            </a:r>
            <a:r>
              <a:rPr lang="en-US" sz="2400" b="0" i="0" dirty="0" err="1">
                <a:solidFill>
                  <a:srgbClr val="008013"/>
                </a:solidFill>
                <a:effectLst/>
                <a:latin typeface="Menlo"/>
              </a:rPr>
              <a:t>centre</a:t>
            </a:r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 cell in the first row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=1;   A(</a:t>
            </a:r>
            <a:r>
              <a:rPr lang="en-US" sz="2400" b="0" i="0" dirty="0" err="1">
                <a:effectLst/>
                <a:latin typeface="Menlo"/>
              </a:rPr>
              <a:t>i,j</a:t>
            </a:r>
            <a:r>
              <a:rPr lang="en-US" sz="2400" b="0" i="0" dirty="0">
                <a:effectLst/>
                <a:latin typeface="Menlo"/>
              </a:rPr>
              <a:t>)=1</a:t>
            </a:r>
          </a:p>
          <a:p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2400" b="0" i="0" dirty="0">
                <a:effectLst/>
                <a:latin typeface="Menlo"/>
              </a:rPr>
              <a:t>K=2:N*N</a:t>
            </a:r>
          </a:p>
          <a:p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=i-1; j=j+1; </a:t>
            </a:r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% Advance towards right diagonal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08013"/>
                </a:solidFill>
                <a:effectLst/>
                <a:latin typeface="Menlo"/>
              </a:rPr>
              <a:t>% putback into the matrix if gone out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2400" b="0" i="0" dirty="0">
                <a:effectLst/>
                <a:latin typeface="Menlo"/>
              </a:rPr>
              <a:t>and(</a:t>
            </a:r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&lt;1, j==N+1) </a:t>
            </a:r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=2; j=N; </a:t>
            </a:r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2400" b="0" i="0" dirty="0">
                <a:effectLst/>
                <a:latin typeface="Menlo"/>
              </a:rPr>
              <a:t>and (j&lt;=N , </a:t>
            </a:r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&lt;1) </a:t>
            </a:r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=N; </a:t>
            </a:r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2400" b="0" i="0" dirty="0">
                <a:effectLst/>
                <a:latin typeface="Menlo"/>
              </a:rPr>
              <a:t>and (</a:t>
            </a:r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&gt;0 , j&gt;N) j=1; </a:t>
            </a:r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if</a:t>
            </a:r>
            <a:r>
              <a:rPr lang="en-US" sz="2400" b="0" i="0" dirty="0">
                <a:effectLst/>
                <a:latin typeface="Menlo"/>
              </a:rPr>
              <a:t> A(</a:t>
            </a:r>
            <a:r>
              <a:rPr lang="en-US" sz="2400" b="0" i="0" dirty="0" err="1">
                <a:effectLst/>
                <a:latin typeface="Menlo"/>
              </a:rPr>
              <a:t>i,j</a:t>
            </a:r>
            <a:r>
              <a:rPr lang="en-US" sz="2400" b="0" i="0" dirty="0">
                <a:effectLst/>
                <a:latin typeface="Menlo"/>
              </a:rPr>
              <a:t>)~=0 </a:t>
            </a:r>
            <a:r>
              <a:rPr lang="en-US" sz="2400" b="0" i="0" dirty="0" err="1">
                <a:effectLst/>
                <a:latin typeface="Menlo"/>
              </a:rPr>
              <a:t>i</a:t>
            </a:r>
            <a:r>
              <a:rPr lang="en-US" sz="2400" b="0" i="0" dirty="0">
                <a:effectLst/>
                <a:latin typeface="Menlo"/>
              </a:rPr>
              <a:t>=i+2; j=j-1 ; </a:t>
            </a:r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effectLst/>
                <a:latin typeface="Menlo"/>
              </a:rPr>
              <a:t>A(</a:t>
            </a:r>
            <a:r>
              <a:rPr lang="en-US" sz="2400" b="0" i="0" dirty="0" err="1">
                <a:effectLst/>
                <a:latin typeface="Menlo"/>
              </a:rPr>
              <a:t>i,j</a:t>
            </a:r>
            <a:r>
              <a:rPr lang="en-US" sz="2400" b="0" i="0" dirty="0">
                <a:effectLst/>
                <a:latin typeface="Menlo"/>
              </a:rPr>
              <a:t>)=K;</a:t>
            </a:r>
          </a:p>
          <a:p>
            <a:r>
              <a:rPr lang="en-US" sz="2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2400" b="0" i="0" dirty="0">
              <a:effectLst/>
              <a:latin typeface="Menlo"/>
            </a:endParaRPr>
          </a:p>
          <a:p>
            <a:r>
              <a:rPr lang="en-US" sz="2400" b="0" i="0" dirty="0">
                <a:effectLst/>
                <a:latin typeface="Menlo"/>
              </a:rPr>
              <a:t>A</a:t>
            </a:r>
            <a:endParaRPr lang="en-US" sz="1800" b="0" i="0" dirty="0">
              <a:effectLst/>
              <a:latin typeface="Menlo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57C3134-F70F-83D3-0E7B-FE1C59E1F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9875" y="1547813"/>
          <a:ext cx="4992688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960" imgH="1600200" progId="Equation.DSMT4">
                  <p:embed/>
                </p:oleObj>
              </mc:Choice>
              <mc:Fallback>
                <p:oleObj name="Equation" r:id="rId2" imgW="2361960" imgH="1600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57C3134-F70F-83D3-0E7B-FE1C59E1F9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19875" y="1547813"/>
                        <a:ext cx="4992688" cy="338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4894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FE362-B647-5850-9BD1-E5B89AA51728}"/>
              </a:ext>
            </a:extLst>
          </p:cNvPr>
          <p:cNvSpPr/>
          <p:nvPr/>
        </p:nvSpPr>
        <p:spPr>
          <a:xfrm>
            <a:off x="324548" y="1263640"/>
            <a:ext cx="11542903" cy="526297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>
              <a:buAutoNum type="arabicPeriod"/>
            </a:pPr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to create 4x4 magic square</a:t>
            </a:r>
          </a:p>
          <a:p>
            <a:pPr marL="914400" indent="-914400">
              <a:buAutoNum type="arabicPeriod"/>
            </a:pPr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to create </a:t>
            </a:r>
            <a:r>
              <a:rPr lang="en-US" sz="4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mxm</a:t>
            </a:r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magic square</a:t>
            </a:r>
          </a:p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where m =‘odd number’x2</a:t>
            </a:r>
          </a:p>
          <a:p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What is determinant  of odd magic squares</a:t>
            </a:r>
          </a:p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(in relation to the magic sum and why?.)</a:t>
            </a:r>
          </a:p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What is so special about Ramanujan’s 4x4</a:t>
            </a:r>
          </a:p>
          <a:p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magic square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4B840-82FD-A871-5CA7-681BDF6DBAAB}"/>
              </a:ext>
            </a:extLst>
          </p:cNvPr>
          <p:cNvSpPr/>
          <p:nvPr/>
        </p:nvSpPr>
        <p:spPr>
          <a:xfrm>
            <a:off x="3726880" y="224135"/>
            <a:ext cx="33094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Investigate</a:t>
            </a:r>
          </a:p>
        </p:txBody>
      </p:sp>
    </p:spTree>
    <p:extLst>
      <p:ext uri="{BB962C8B-B14F-4D97-AF65-F5344CB8AC3E}">
        <p14:creationId xmlns:p14="http://schemas.microsoft.com/office/powerpoint/2010/main" val="1361537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204B15-756B-4F3A-9786-7E15B183396E}"/>
              </a:ext>
            </a:extLst>
          </p:cNvPr>
          <p:cNvSpPr/>
          <p:nvPr/>
        </p:nvSpPr>
        <p:spPr>
          <a:xfrm>
            <a:off x="2340228" y="2094498"/>
            <a:ext cx="7511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Recreational mathematics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D7A4E-2724-439E-966B-4E993F12636F}"/>
              </a:ext>
            </a:extLst>
          </p:cNvPr>
          <p:cNvSpPr/>
          <p:nvPr/>
        </p:nvSpPr>
        <p:spPr>
          <a:xfrm>
            <a:off x="1520181" y="4279300"/>
            <a:ext cx="8356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Magic Square by Ramanujan</a:t>
            </a:r>
          </a:p>
        </p:txBody>
      </p:sp>
    </p:spTree>
    <p:extLst>
      <p:ext uri="{BB962C8B-B14F-4D97-AF65-F5344CB8AC3E}">
        <p14:creationId xmlns:p14="http://schemas.microsoft.com/office/powerpoint/2010/main" val="42803172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dia map with indian national flag inside vector illustration Stock Vector  Image &amp; Art - Alamy">
            <a:extLst>
              <a:ext uri="{FF2B5EF4-FFF2-40B4-BE49-F238E27FC236}">
                <a16:creationId xmlns:a16="http://schemas.microsoft.com/office/drawing/2014/main" id="{B11FA5D2-74BF-4E48-A3A5-837137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38"/>
            <a:ext cx="641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A70F94-D68E-4778-8A0B-F8F8E50C5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56" y="2628033"/>
            <a:ext cx="1477226" cy="135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7259D-C86B-400A-90B4-54BAE38DD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543" y="1795629"/>
            <a:ext cx="4273695" cy="32667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CD4AFD-276E-4592-9BAF-06C7F8FE70F7}"/>
              </a:ext>
            </a:extLst>
          </p:cNvPr>
          <p:cNvSpPr/>
          <p:nvPr/>
        </p:nvSpPr>
        <p:spPr>
          <a:xfrm>
            <a:off x="6883091" y="260638"/>
            <a:ext cx="428322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Magic Square by</a:t>
            </a:r>
            <a:endParaRPr lang="en-US" sz="3600" b="1" cap="none" spc="0" dirty="0">
              <a:ln/>
              <a:solidFill>
                <a:schemeClr val="accent4"/>
              </a:solidFill>
              <a:effectLst/>
            </a:endParaRPr>
          </a:p>
          <a:p>
            <a:pPr algn="ctr"/>
            <a:r>
              <a:rPr lang="en-US" sz="3600" b="1" cap="none" spc="0" dirty="0">
                <a:ln/>
                <a:solidFill>
                  <a:schemeClr val="accent4"/>
                </a:solidFill>
                <a:effectLst/>
              </a:rPr>
              <a:t>Srinivasa  Ramanujan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449CD-5605-4DBF-B207-662D489C02CA}"/>
              </a:ext>
            </a:extLst>
          </p:cNvPr>
          <p:cNvSpPr txBox="1"/>
          <p:nvPr/>
        </p:nvSpPr>
        <p:spPr>
          <a:xfrm>
            <a:off x="7259782" y="5555673"/>
            <a:ext cx="48507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22/12/1887    is  his date of birth. See the top row</a:t>
            </a:r>
          </a:p>
          <a:p>
            <a:r>
              <a:rPr lang="en-IN" dirty="0"/>
              <a:t>Each column/sum is 139</a:t>
            </a:r>
          </a:p>
          <a:p>
            <a:r>
              <a:rPr lang="en-IN" dirty="0"/>
              <a:t>Both Diagonal  sum is 139</a:t>
            </a:r>
          </a:p>
        </p:txBody>
      </p:sp>
    </p:spTree>
    <p:extLst>
      <p:ext uri="{BB962C8B-B14F-4D97-AF65-F5344CB8AC3E}">
        <p14:creationId xmlns:p14="http://schemas.microsoft.com/office/powerpoint/2010/main" val="3255321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B5BFF-30A2-4BD4-B89A-AEACD45CE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30" y="385072"/>
            <a:ext cx="2257425" cy="1781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28ECA-FF5D-4FBC-A1F7-9CE56805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704" y="325262"/>
            <a:ext cx="2362200" cy="1876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8F7171-756D-4F2B-A364-27135D516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30429"/>
            <a:ext cx="2521527" cy="1935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81D239-CAC9-4934-B34D-9030F1C73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167" y="325262"/>
            <a:ext cx="2521527" cy="19480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C7DA2F-5885-4E14-8403-9D622CAD1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30" y="3715699"/>
            <a:ext cx="2333625" cy="1857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5EF542-63EE-43CE-BFF6-5AE105579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8314" y="3715699"/>
            <a:ext cx="2333625" cy="18859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4A216A-6009-45FE-ADA9-C435283001DD}"/>
              </a:ext>
            </a:extLst>
          </p:cNvPr>
          <p:cNvSpPr txBox="1"/>
          <p:nvPr/>
        </p:nvSpPr>
        <p:spPr>
          <a:xfrm>
            <a:off x="304800" y="2493818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Corner sum is 139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219014-09CC-4D6A-9EB6-130D6298D3EC}"/>
              </a:ext>
            </a:extLst>
          </p:cNvPr>
          <p:cNvSpPr txBox="1"/>
          <p:nvPr/>
        </p:nvSpPr>
        <p:spPr>
          <a:xfrm>
            <a:off x="2677982" y="2374803"/>
            <a:ext cx="3129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Blue colour number sum is 139</a:t>
            </a:r>
          </a:p>
          <a:p>
            <a:r>
              <a:rPr lang="en-IN" dirty="0"/>
              <a:t>Pink colour number sum is 139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F31618-F02D-4987-ACFC-BAE8BAEABB86}"/>
              </a:ext>
            </a:extLst>
          </p:cNvPr>
          <p:cNvSpPr txBox="1"/>
          <p:nvPr/>
        </p:nvSpPr>
        <p:spPr>
          <a:xfrm>
            <a:off x="6269126" y="2360949"/>
            <a:ext cx="2615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Blue colour  sum is 139</a:t>
            </a:r>
          </a:p>
          <a:p>
            <a:r>
              <a:rPr lang="en-IN" dirty="0"/>
              <a:t>Orange colour sum is 139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E59DC3-EA20-4077-92CE-8714AE6C9A86}"/>
              </a:ext>
            </a:extLst>
          </p:cNvPr>
          <p:cNvSpPr txBox="1"/>
          <p:nvPr/>
        </p:nvSpPr>
        <p:spPr>
          <a:xfrm>
            <a:off x="9040035" y="2374803"/>
            <a:ext cx="2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Pea Green colour sum is 139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401892-925B-4AB6-8DA3-AAA5ED57CF99}"/>
              </a:ext>
            </a:extLst>
          </p:cNvPr>
          <p:cNvSpPr txBox="1"/>
          <p:nvPr/>
        </p:nvSpPr>
        <p:spPr>
          <a:xfrm>
            <a:off x="193530" y="5999018"/>
            <a:ext cx="267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All same colour sum is 139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5D5911-26E7-4D2E-A63C-19CB0BB2144B}"/>
              </a:ext>
            </a:extLst>
          </p:cNvPr>
          <p:cNvSpPr txBox="1"/>
          <p:nvPr/>
        </p:nvSpPr>
        <p:spPr>
          <a:xfrm>
            <a:off x="3488314" y="5722019"/>
            <a:ext cx="2962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Blue colour  sum is 139</a:t>
            </a:r>
          </a:p>
          <a:p>
            <a:r>
              <a:rPr lang="en-IN" dirty="0"/>
              <a:t>Dark green colour sum is 139 </a:t>
            </a:r>
          </a:p>
        </p:txBody>
      </p:sp>
    </p:spTree>
    <p:extLst>
      <p:ext uri="{BB962C8B-B14F-4D97-AF65-F5344CB8AC3E}">
        <p14:creationId xmlns:p14="http://schemas.microsoft.com/office/powerpoint/2010/main" val="272742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Map Of India transparent background PNG cliparts free download | HiClipart">
            <a:extLst>
              <a:ext uri="{FF2B5EF4-FFF2-40B4-BE49-F238E27FC236}">
                <a16:creationId xmlns:a16="http://schemas.microsoft.com/office/drawing/2014/main" id="{1F8BE926-DF54-4F70-AF32-B14A5BD2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63" y="510627"/>
            <a:ext cx="5506363" cy="583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C66BE-7730-48A7-B944-4CD98EA76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19" y="2561100"/>
            <a:ext cx="1381125" cy="1352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B6A96F-F1DD-4A19-AFFC-45A3ED7015E6}"/>
              </a:ext>
            </a:extLst>
          </p:cNvPr>
          <p:cNvSpPr/>
          <p:nvPr/>
        </p:nvSpPr>
        <p:spPr>
          <a:xfrm>
            <a:off x="5563464" y="474344"/>
            <a:ext cx="6423360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Create one each with </a:t>
            </a:r>
          </a:p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Your</a:t>
            </a:r>
          </a:p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Date of birth</a:t>
            </a:r>
          </a:p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9127A-6498-404D-AD4F-1BB0C3F39B2B}"/>
              </a:ext>
            </a:extLst>
          </p:cNvPr>
          <p:cNvSpPr txBox="1"/>
          <p:nvPr/>
        </p:nvSpPr>
        <p:spPr>
          <a:xfrm>
            <a:off x="7140273" y="6162706"/>
            <a:ext cx="3269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How to create. See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908447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3F6EF-D4B2-4CE6-BC38-6C97156EB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74"/>
            <a:ext cx="3732934" cy="3311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2435E0-9EAA-4DE9-B858-E00A8F6D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49" y="470709"/>
            <a:ext cx="3489554" cy="279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9B958B-E353-4416-877D-D5734490E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518" y="470709"/>
            <a:ext cx="3491353" cy="2798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C90946-8032-4477-BCDD-D1B16D111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2481" y="4294909"/>
            <a:ext cx="3339665" cy="24141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C0A9FC-9C51-485E-9645-0F5FE2BA5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1580" y="4175991"/>
            <a:ext cx="3489554" cy="246456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CB3019A6-A6E1-49A4-9590-1C1958942BC8}"/>
              </a:ext>
            </a:extLst>
          </p:cNvPr>
          <p:cNvSpPr/>
          <p:nvPr/>
        </p:nvSpPr>
        <p:spPr>
          <a:xfrm>
            <a:off x="3732934" y="1620982"/>
            <a:ext cx="368011" cy="484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7CB784B-76F7-4B70-9D2A-D47464A2FEDF}"/>
              </a:ext>
            </a:extLst>
          </p:cNvPr>
          <p:cNvSpPr/>
          <p:nvPr/>
        </p:nvSpPr>
        <p:spPr>
          <a:xfrm>
            <a:off x="7929503" y="1620982"/>
            <a:ext cx="452497" cy="484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311DC49-9E0F-4EED-841A-E84DF05BA89E}"/>
              </a:ext>
            </a:extLst>
          </p:cNvPr>
          <p:cNvSpPr/>
          <p:nvPr/>
        </p:nvSpPr>
        <p:spPr>
          <a:xfrm>
            <a:off x="9670473" y="3269673"/>
            <a:ext cx="609600" cy="6650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42FAC4E2-3B2B-4A12-9CE0-25046AD49EC7}"/>
              </a:ext>
            </a:extLst>
          </p:cNvPr>
          <p:cNvSpPr/>
          <p:nvPr/>
        </p:nvSpPr>
        <p:spPr>
          <a:xfrm>
            <a:off x="8155751" y="4987636"/>
            <a:ext cx="716730" cy="48490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281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08F0-58EA-48A2-9C97-B3A0E9711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367" y="1122363"/>
            <a:ext cx="9144000" cy="2387600"/>
          </a:xfrm>
        </p:spPr>
        <p:txBody>
          <a:bodyPr/>
          <a:lstStyle/>
          <a:p>
            <a:r>
              <a:rPr lang="en-US" dirty="0"/>
              <a:t>L –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A33AE-B7A5-42FE-8999-6916756CD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12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7647-60CA-4491-8E1B-E0AA302C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219" y="547743"/>
            <a:ext cx="5945372" cy="1472443"/>
          </a:xfrm>
        </p:spPr>
        <p:txBody>
          <a:bodyPr>
            <a:noAutofit/>
          </a:bodyPr>
          <a:lstStyle/>
          <a:p>
            <a:r>
              <a:rPr lang="en-US" sz="2400" dirty="0"/>
              <a:t>“F” – Move Forward by 1 unit</a:t>
            </a:r>
            <a:br>
              <a:rPr lang="en-US" sz="2400" dirty="0"/>
            </a:br>
            <a:r>
              <a:rPr lang="en-US" sz="2400" dirty="0"/>
              <a:t>“[“ – Store the current location to the stack</a:t>
            </a:r>
            <a:br>
              <a:rPr lang="en-US" sz="2400" dirty="0"/>
            </a:br>
            <a:r>
              <a:rPr lang="en-US" sz="2400" dirty="0"/>
              <a:t>“]” – Retrieve the saved location from the stack</a:t>
            </a:r>
            <a:br>
              <a:rPr lang="en-US" sz="2400" dirty="0"/>
            </a:br>
            <a:r>
              <a:rPr lang="en-US" sz="2400" dirty="0"/>
              <a:t>“n” – Denotes the level / depth of substitution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E8109-DB2F-4041-899E-5F5FA6BA7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0" t="2933" r="69157" b="47790"/>
          <a:stretch/>
        </p:blipFill>
        <p:spPr>
          <a:xfrm>
            <a:off x="1559656" y="2020186"/>
            <a:ext cx="1883885" cy="422864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48CD96-75AD-417E-B118-A5427B2F0681}"/>
              </a:ext>
            </a:extLst>
          </p:cNvPr>
          <p:cNvSpPr txBox="1">
            <a:spLocks/>
          </p:cNvSpPr>
          <p:nvPr/>
        </p:nvSpPr>
        <p:spPr>
          <a:xfrm>
            <a:off x="6974954" y="427848"/>
            <a:ext cx="47687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400" dirty="0"/>
            </a:br>
            <a:r>
              <a:rPr lang="en-US" sz="2400" dirty="0"/>
              <a:t>“+” - Rotate counter clockwise by </a:t>
            </a:r>
            <a:r>
              <a:rPr lang="en-US" sz="2400" dirty="0">
                <a:sym typeface="Symbol" panose="05050102010706020507" pitchFamily="18" charset="2"/>
              </a:rPr>
              <a:t></a:t>
            </a:r>
            <a:br>
              <a:rPr lang="en-US" sz="2400" dirty="0">
                <a:sym typeface="Symbol" panose="05050102010706020507" pitchFamily="18" charset="2"/>
              </a:rPr>
            </a:br>
            <a:r>
              <a:rPr lang="en-US" sz="2400" dirty="0">
                <a:sym typeface="Symbol" panose="05050102010706020507" pitchFamily="18" charset="2"/>
              </a:rPr>
              <a:t>“-” - Rotate clockwise by </a:t>
            </a:r>
            <a:br>
              <a:rPr lang="en-US" sz="2400" dirty="0">
                <a:sym typeface="Symbol" panose="05050102010706020507" pitchFamily="18" charset="2"/>
              </a:rPr>
            </a:br>
            <a:r>
              <a:rPr lang="en-US" sz="2400" dirty="0">
                <a:sym typeface="Symbol" panose="05050102010706020507" pitchFamily="18" charset="2"/>
              </a:rPr>
              <a:t>“” - Angle of Rotation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C5DB4C3-F1E7-403F-825F-45EABB0A7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1" t="2120" r="36306" b="47637"/>
          <a:stretch/>
        </p:blipFill>
        <p:spPr>
          <a:xfrm>
            <a:off x="4876795" y="2020186"/>
            <a:ext cx="2236382" cy="4228642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0DC830D-9B1A-4709-A6E9-31D75CC38F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4" t="2119" r="5702" b="47060"/>
          <a:stretch/>
        </p:blipFill>
        <p:spPr>
          <a:xfrm>
            <a:off x="8546431" y="2020186"/>
            <a:ext cx="2118020" cy="440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19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7647-60CA-4491-8E1B-E0AA302C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219" y="547743"/>
            <a:ext cx="5945372" cy="1472443"/>
          </a:xfrm>
        </p:spPr>
        <p:txBody>
          <a:bodyPr>
            <a:noAutofit/>
          </a:bodyPr>
          <a:lstStyle/>
          <a:p>
            <a:r>
              <a:rPr lang="en-US" sz="2400" dirty="0"/>
              <a:t>“F” or “X” – Move Forward by 1 unit</a:t>
            </a:r>
            <a:br>
              <a:rPr lang="en-US" sz="2400" dirty="0"/>
            </a:br>
            <a:r>
              <a:rPr lang="en-US" sz="2400" dirty="0"/>
              <a:t>“[“ – Store the current location to the stack</a:t>
            </a:r>
            <a:br>
              <a:rPr lang="en-US" sz="2400" dirty="0"/>
            </a:br>
            <a:r>
              <a:rPr lang="en-US" sz="2400" dirty="0"/>
              <a:t>“]” – Retrieve the saved location from the stack</a:t>
            </a:r>
            <a:br>
              <a:rPr lang="en-US" sz="2400" dirty="0"/>
            </a:br>
            <a:r>
              <a:rPr lang="en-US" sz="2400" dirty="0"/>
              <a:t>“n” – Denotes the level / depth of substitution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E8109-DB2F-4041-899E-5F5FA6BA7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1" t="51554" r="66636" b="-831"/>
          <a:stretch/>
        </p:blipFill>
        <p:spPr>
          <a:xfrm>
            <a:off x="1559656" y="2020186"/>
            <a:ext cx="1883885" cy="422864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48CD96-75AD-417E-B118-A5427B2F0681}"/>
              </a:ext>
            </a:extLst>
          </p:cNvPr>
          <p:cNvSpPr txBox="1">
            <a:spLocks/>
          </p:cNvSpPr>
          <p:nvPr/>
        </p:nvSpPr>
        <p:spPr>
          <a:xfrm>
            <a:off x="6974954" y="427848"/>
            <a:ext cx="47687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400" dirty="0"/>
            </a:br>
            <a:r>
              <a:rPr lang="en-US" sz="2400" dirty="0"/>
              <a:t>“+” - Rotate counter clockwise by </a:t>
            </a:r>
            <a:r>
              <a:rPr lang="en-US" sz="2400" dirty="0">
                <a:sym typeface="Symbol" panose="05050102010706020507" pitchFamily="18" charset="2"/>
              </a:rPr>
              <a:t></a:t>
            </a:r>
            <a:br>
              <a:rPr lang="en-US" sz="2400" dirty="0">
                <a:sym typeface="Symbol" panose="05050102010706020507" pitchFamily="18" charset="2"/>
              </a:rPr>
            </a:br>
            <a:r>
              <a:rPr lang="en-US" sz="2400" dirty="0">
                <a:sym typeface="Symbol" panose="05050102010706020507" pitchFamily="18" charset="2"/>
              </a:rPr>
              <a:t>“-” - Rotate clockwise by </a:t>
            </a:r>
            <a:br>
              <a:rPr lang="en-US" sz="2400" dirty="0">
                <a:sym typeface="Symbol" panose="05050102010706020507" pitchFamily="18" charset="2"/>
              </a:rPr>
            </a:br>
            <a:r>
              <a:rPr lang="en-US" sz="2400" dirty="0">
                <a:sym typeface="Symbol" panose="05050102010706020507" pitchFamily="18" charset="2"/>
              </a:rPr>
              <a:t>“” - Angle of Rotation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C5DB4C3-F1E7-403F-825F-45EABB0A7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37" t="51410" r="37973" b="-1653"/>
          <a:stretch/>
        </p:blipFill>
        <p:spPr>
          <a:xfrm>
            <a:off x="4995157" y="2020186"/>
            <a:ext cx="1990434" cy="4228642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0DC830D-9B1A-4709-A6E9-31D75CC38F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77" t="53627" r="4249" b="-2358"/>
          <a:stretch/>
        </p:blipFill>
        <p:spPr>
          <a:xfrm>
            <a:off x="8546431" y="2201510"/>
            <a:ext cx="2213718" cy="42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89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33CCB-804D-4261-9088-5DDD04E29196}"/>
              </a:ext>
            </a:extLst>
          </p:cNvPr>
          <p:cNvSpPr/>
          <p:nvPr/>
        </p:nvSpPr>
        <p:spPr>
          <a:xfrm>
            <a:off x="1112221" y="2505670"/>
            <a:ext cx="101531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Plotting a branching tree in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/>
              </a:rPr>
              <a:t>matlab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814425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61A163-481B-4260-9811-CBFE566F0AF5}"/>
              </a:ext>
            </a:extLst>
          </p:cNvPr>
          <p:cNvSpPr/>
          <p:nvPr/>
        </p:nvSpPr>
        <p:spPr>
          <a:xfrm>
            <a:off x="1525846" y="56328"/>
            <a:ext cx="78681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String to plot: “F[+X][-X]FX”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73B190-A58E-49F8-A35A-022EEE182BA5}"/>
              </a:ext>
            </a:extLst>
          </p:cNvPr>
          <p:cNvSpPr/>
          <p:nvPr/>
        </p:nvSpPr>
        <p:spPr>
          <a:xfrm>
            <a:off x="333934" y="1305341"/>
            <a:ext cx="11858066" cy="59093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Interpretation:</a:t>
            </a:r>
          </a:p>
          <a:p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F,X 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 move one step</a:t>
            </a:r>
          </a:p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+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 rotate clock wise by 30 degree</a:t>
            </a:r>
          </a:p>
          <a:p>
            <a:pPr marL="685800" indent="-685800">
              <a:buFontTx/>
              <a:buChar char="-"/>
            </a:pP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 rotate </a:t>
            </a:r>
            <a:r>
              <a:rPr lang="en-U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anticlock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wise by 30 degree</a:t>
            </a:r>
          </a:p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  store current state (</a:t>
            </a:r>
            <a:r>
              <a:rPr lang="en-U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angle,x,y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)</a:t>
            </a:r>
          </a:p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  get back the stored state (</a:t>
            </a:r>
            <a:r>
              <a:rPr lang="en-U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angle,x,y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)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26359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6AB68-8812-4C05-96E9-578C8C15DBA7}"/>
              </a:ext>
            </a:extLst>
          </p:cNvPr>
          <p:cNvSpPr/>
          <p:nvPr/>
        </p:nvSpPr>
        <p:spPr>
          <a:xfrm>
            <a:off x="432398" y="0"/>
            <a:ext cx="1132720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will use three arrays to store state values</a:t>
            </a:r>
          </a:p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whenever required.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3A5AE-C1E2-4CBB-BC24-BE83B7018409}"/>
              </a:ext>
            </a:extLst>
          </p:cNvPr>
          <p:cNvSpPr/>
          <p:nvPr/>
        </p:nvSpPr>
        <p:spPr>
          <a:xfrm>
            <a:off x="581392" y="1763516"/>
            <a:ext cx="9800565" cy="1754326"/>
          </a:xfrm>
          <a:prstGeom prst="rect">
            <a:avLst/>
          </a:prstGeom>
          <a:noFill/>
          <a:ln w="69850"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 current command  is ‘[‘ </a:t>
            </a: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ndex=index+1;  %  increment index</a:t>
            </a:r>
          </a:p>
          <a:p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Store current </a:t>
            </a:r>
            <a:r>
              <a:rPr lang="en-US" sz="3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x,y,angle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values using the new 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D7BCCB-425C-4B9F-A470-07AD8276E077}"/>
              </a:ext>
            </a:extLst>
          </p:cNvPr>
          <p:cNvSpPr/>
          <p:nvPr/>
        </p:nvSpPr>
        <p:spPr>
          <a:xfrm>
            <a:off x="-162496" y="6134339"/>
            <a:ext cx="119220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i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Keep track of ‘index</a:t>
            </a:r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 to store and restore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AC852-DA1C-45FD-A32E-2B1C213A9FE3}"/>
              </a:ext>
            </a:extLst>
          </p:cNvPr>
          <p:cNvSpPr/>
          <p:nvPr/>
        </p:nvSpPr>
        <p:spPr>
          <a:xfrm>
            <a:off x="432398" y="3902761"/>
            <a:ext cx="11637682" cy="2308324"/>
          </a:xfrm>
          <a:prstGeom prst="rect">
            <a:avLst/>
          </a:prstGeom>
          <a:noFill/>
          <a:ln w="69850"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 current command  is ‘]‘ </a:t>
            </a:r>
          </a:p>
          <a:p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Restore the values at the current index, then update index</a:t>
            </a: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ndex=index-1;</a:t>
            </a:r>
          </a:p>
          <a:p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15142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2CEE86-8EED-44EC-B267-7F19B5B429ED}"/>
              </a:ext>
            </a:extLst>
          </p:cNvPr>
          <p:cNvSpPr/>
          <p:nvPr/>
        </p:nvSpPr>
        <p:spPr>
          <a:xfrm>
            <a:off x="762211" y="2260801"/>
            <a:ext cx="1066757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will use line command in MATLAB to plot line segment</a:t>
            </a:r>
          </a:p>
        </p:txBody>
      </p:sp>
    </p:spTree>
    <p:extLst>
      <p:ext uri="{BB962C8B-B14F-4D97-AF65-F5344CB8AC3E}">
        <p14:creationId xmlns:p14="http://schemas.microsoft.com/office/powerpoint/2010/main" val="2364795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1F7CF5-4D50-497A-B891-E0D382CADB28}"/>
              </a:ext>
            </a:extLst>
          </p:cNvPr>
          <p:cNvSpPr/>
          <p:nvPr/>
        </p:nvSpPr>
        <p:spPr>
          <a:xfrm>
            <a:off x="477077" y="360485"/>
            <a:ext cx="1027043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Strg=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'F[+X][-X]FX'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Str1=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strrep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Strg,</a:t>
            </a:r>
            <a:r>
              <a:rPr lang="en-IN" dirty="0" err="1">
                <a:solidFill>
                  <a:srgbClr val="A020F0"/>
                </a:solidFill>
                <a:latin typeface="Courier New" panose="02070309020205020404" pitchFamily="49" charset="0"/>
              </a:rPr>
              <a:t>'X'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,Strg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Str2=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strrep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(Str1,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'X'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,Strg);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Str3=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strrep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(Str2,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'X'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,Strg);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=Str3;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n=length(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index=0;</a:t>
            </a:r>
          </a:p>
          <a:p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% following three arrays are to track branching in the tree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(1)=0;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posy(1)=0;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(1)=90;</a:t>
            </a:r>
          </a:p>
          <a:p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% following variables are for drawing line segment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=0;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oldy=0;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=0;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newy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=0;</a:t>
            </a:r>
          </a:p>
          <a:p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% after plotting a segment, </a:t>
            </a:r>
            <a:r>
              <a:rPr lang="en-IN" dirty="0" err="1">
                <a:solidFill>
                  <a:srgbClr val="3C763D"/>
                </a:solidFill>
                <a:latin typeface="Courier New" panose="02070309020205020404" pitchFamily="49" charset="0"/>
              </a:rPr>
              <a:t>newx</a:t>
            </a:r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 and </a:t>
            </a:r>
            <a:r>
              <a:rPr lang="en-IN" dirty="0" err="1">
                <a:solidFill>
                  <a:srgbClr val="3C763D"/>
                </a:solidFill>
                <a:latin typeface="Courier New" panose="02070309020205020404" pitchFamily="49" charset="0"/>
              </a:rPr>
              <a:t>newy</a:t>
            </a:r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 become </a:t>
            </a:r>
            <a:r>
              <a:rPr lang="en-IN" dirty="0" err="1">
                <a:solidFill>
                  <a:srgbClr val="3C763D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 and oldy</a:t>
            </a:r>
          </a:p>
          <a:p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=90; % Current angle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rota=30;</a:t>
            </a:r>
          </a:p>
          <a:p>
            <a:r>
              <a:rPr lang="en-IN" dirty="0">
                <a:solidFill>
                  <a:srgbClr val="3C763D"/>
                </a:solidFill>
                <a:latin typeface="Courier New" panose="02070309020205020404" pitchFamily="49" charset="0"/>
              </a:rPr>
              <a:t>% on getting a command above will be updated</a:t>
            </a:r>
          </a:p>
          <a:p>
            <a:endParaRPr lang="en-IN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349C1-3960-472F-B183-09232261AF87}"/>
              </a:ext>
            </a:extLst>
          </p:cNvPr>
          <p:cNvSpPr/>
          <p:nvPr/>
        </p:nvSpPr>
        <p:spPr>
          <a:xfrm>
            <a:off x="9290192" y="3048000"/>
            <a:ext cx="45719" cy="778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E0909F-38CD-4622-9FE1-C4E37C17A610}"/>
              </a:ext>
            </a:extLst>
          </p:cNvPr>
          <p:cNvSpPr txBox="1"/>
          <p:nvPr/>
        </p:nvSpPr>
        <p:spPr>
          <a:xfrm>
            <a:off x="9810045" y="360485"/>
            <a:ext cx="1112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Turtle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A921B9-4881-42B4-A888-5CF5434E1791}"/>
              </a:ext>
            </a:extLst>
          </p:cNvPr>
          <p:cNvCxnSpPr/>
          <p:nvPr/>
        </p:nvCxnSpPr>
        <p:spPr>
          <a:xfrm flipV="1">
            <a:off x="10923042" y="3510844"/>
            <a:ext cx="0" cy="481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C16457-2588-4644-BE34-83D89B0E0BED}"/>
              </a:ext>
            </a:extLst>
          </p:cNvPr>
          <p:cNvSpPr txBox="1"/>
          <p:nvPr/>
        </p:nvSpPr>
        <p:spPr>
          <a:xfrm>
            <a:off x="10088934" y="4334933"/>
            <a:ext cx="65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stack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9173E3-0EB5-4028-AFEE-8076EE9E58CA}"/>
              </a:ext>
            </a:extLst>
          </p:cNvPr>
          <p:cNvCxnSpPr/>
          <p:nvPr/>
        </p:nvCxnSpPr>
        <p:spPr>
          <a:xfrm>
            <a:off x="9414933" y="4334933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5EA36FD-5501-4A28-9B0F-43DA56D000E0}"/>
              </a:ext>
            </a:extLst>
          </p:cNvPr>
          <p:cNvSpPr/>
          <p:nvPr/>
        </p:nvSpPr>
        <p:spPr>
          <a:xfrm rot="2812181">
            <a:off x="9612913" y="2425014"/>
            <a:ext cx="45719" cy="778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0DA1E-F726-454D-8602-97BA3CE8F464}"/>
              </a:ext>
            </a:extLst>
          </p:cNvPr>
          <p:cNvSpPr/>
          <p:nvPr/>
        </p:nvSpPr>
        <p:spPr>
          <a:xfrm rot="18615965">
            <a:off x="8968278" y="2438790"/>
            <a:ext cx="45719" cy="778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B42D89-A0E2-4E30-B624-4B1C4FC55F90}"/>
              </a:ext>
            </a:extLst>
          </p:cNvPr>
          <p:cNvSpPr/>
          <p:nvPr/>
        </p:nvSpPr>
        <p:spPr>
          <a:xfrm>
            <a:off x="9296644" y="2301560"/>
            <a:ext cx="45719" cy="778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2425AA-60E1-4618-8F19-2510E266294A}"/>
              </a:ext>
            </a:extLst>
          </p:cNvPr>
          <p:cNvSpPr/>
          <p:nvPr/>
        </p:nvSpPr>
        <p:spPr>
          <a:xfrm>
            <a:off x="9296643" y="1521920"/>
            <a:ext cx="45719" cy="778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7213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5B7DA5-ACED-4460-94A9-8AEE8DEEF42C}"/>
              </a:ext>
            </a:extLst>
          </p:cNvPr>
          <p:cNvSpPr/>
          <p:nvPr/>
        </p:nvSpPr>
        <p:spPr>
          <a:xfrm>
            <a:off x="185530" y="1080657"/>
            <a:ext cx="604299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=1:n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comd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comd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'F'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newx=oldx+cos(deg2rad(cura));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newy=oldy+sin(deg2rad(cura));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line([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],[oldy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newy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drawnow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oldy=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newy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'X'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newx=oldx+cos(deg2rad(cura));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newy=oldy+sin(deg2rad(cura)); 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line([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],[oldy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newy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drawnow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oldy=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newy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2EED3E-FA57-49A2-AFD0-0C8D0A60D51E}"/>
              </a:ext>
            </a:extLst>
          </p:cNvPr>
          <p:cNvSpPr/>
          <p:nvPr/>
        </p:nvSpPr>
        <p:spPr>
          <a:xfrm>
            <a:off x="6659931" y="683787"/>
            <a:ext cx="553206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'+'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=mod(cura+rota,360);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'-'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=mod(cura-rota,360);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'['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index=index+1;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(index)=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posy(index)=oldy;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(index)=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A020F0"/>
                </a:solidFill>
                <a:latin typeface="Courier New" panose="02070309020205020404" pitchFamily="49" charset="0"/>
              </a:rPr>
              <a:t>']'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posx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(index);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oldy= posy(index);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IN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posa</a:t>
            </a:r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(index);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      index=index-1;</a:t>
            </a:r>
          </a:p>
          <a:p>
            <a:r>
              <a:rPr lang="en-I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IN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F6FC60-3DF6-42B0-87E9-DD04687A8534}"/>
              </a:ext>
            </a:extLst>
          </p:cNvPr>
          <p:cNvSpPr/>
          <p:nvPr/>
        </p:nvSpPr>
        <p:spPr>
          <a:xfrm>
            <a:off x="6228522" y="406788"/>
            <a:ext cx="172278" cy="55719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55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2948</Words>
  <Application>Microsoft Office PowerPoint</Application>
  <PresentationFormat>Widescreen</PresentationFormat>
  <Paragraphs>587</Paragraphs>
  <Slides>50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Calibri</vt:lpstr>
      <vt:lpstr>Calibri Light</vt:lpstr>
      <vt:lpstr>Courier New</vt:lpstr>
      <vt:lpstr>Menlo</vt:lpstr>
      <vt:lpstr>Office Theme</vt:lpstr>
      <vt:lpstr>MathType 7.0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 – System</vt:lpstr>
      <vt:lpstr>“F” – Move Forward by 1 unit “[“ – Store the current location to the stack “]” – Retrieve the saved location from the stack “n” – Denotes the level / depth of substitution</vt:lpstr>
      <vt:lpstr>“F” or “X” – Move Forward by 1 unit “[“ – Store the current location to the stack “]” – Retrieve the saved location from the stack “n” – Denotes the level / depth of substitution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Soman K.P (CEN)</dc:creator>
  <cp:lastModifiedBy>Dr. Soman K.P (CEN)</cp:lastModifiedBy>
  <cp:revision>14</cp:revision>
  <dcterms:created xsi:type="dcterms:W3CDTF">2022-10-21T23:48:45Z</dcterms:created>
  <dcterms:modified xsi:type="dcterms:W3CDTF">2022-10-22T02:19:07Z</dcterms:modified>
</cp:coreProperties>
</file>