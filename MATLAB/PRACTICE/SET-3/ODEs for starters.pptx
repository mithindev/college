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3" r:id="rId6"/>
    <p:sldId id="273" r:id="rId7"/>
    <p:sldId id="260" r:id="rId8"/>
    <p:sldId id="271" r:id="rId9"/>
    <p:sldId id="261" r:id="rId10"/>
    <p:sldId id="262" r:id="rId11"/>
    <p:sldId id="274" r:id="rId12"/>
    <p:sldId id="264" r:id="rId13"/>
    <p:sldId id="266" r:id="rId14"/>
    <p:sldId id="265" r:id="rId15"/>
    <p:sldId id="268" r:id="rId16"/>
    <p:sldId id="267" r:id="rId17"/>
    <p:sldId id="269" r:id="rId18"/>
    <p:sldId id="270"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841BD-144E-A292-76BF-43A4D109E0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602A0A-C2E0-874A-50EE-2A30C6D2B0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0CF1383-1FF3-F2CD-0CBB-D95B2E0B3E1A}"/>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5" name="Footer Placeholder 4">
            <a:extLst>
              <a:ext uri="{FF2B5EF4-FFF2-40B4-BE49-F238E27FC236}">
                <a16:creationId xmlns:a16="http://schemas.microsoft.com/office/drawing/2014/main" id="{6886DC43-B4F1-AA7F-45AB-826B21BC92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0DDDB9-B0C4-CC5D-66EB-5B43FFB805AA}"/>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735779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B0BC6-BD35-4CC4-C91D-182D48B080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B2DD10-E7CF-3D85-8FB0-4FF04130B2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C6A311-8C04-4468-5813-A99E9C3700C8}"/>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5" name="Footer Placeholder 4">
            <a:extLst>
              <a:ext uri="{FF2B5EF4-FFF2-40B4-BE49-F238E27FC236}">
                <a16:creationId xmlns:a16="http://schemas.microsoft.com/office/drawing/2014/main" id="{DFBD74B9-8D94-3645-6B70-5EBA212686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49DB10-4726-88D9-8E9C-4837FC547C94}"/>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2748957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E1E3-5B94-F8EF-2686-1D92F44904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908109-79D6-3AAA-3D18-C434844B07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2B8BCB-3767-ACF3-6384-20FCA8322060}"/>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5" name="Footer Placeholder 4">
            <a:extLst>
              <a:ext uri="{FF2B5EF4-FFF2-40B4-BE49-F238E27FC236}">
                <a16:creationId xmlns:a16="http://schemas.microsoft.com/office/drawing/2014/main" id="{053C2463-097D-3A4C-888B-1E23030A6A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43D5CF-429D-B605-7448-6A1E19E4A811}"/>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3512667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0489E-CD74-7E35-1D2A-545A5AE3E8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DE542E-AF7A-C1E0-C662-7F810B79AA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C0E1A73-784C-78C4-00A8-642EAB6519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74F239-4BE6-4559-0419-32BC2F75C8E1}"/>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6" name="Footer Placeholder 5">
            <a:extLst>
              <a:ext uri="{FF2B5EF4-FFF2-40B4-BE49-F238E27FC236}">
                <a16:creationId xmlns:a16="http://schemas.microsoft.com/office/drawing/2014/main" id="{900C6800-3640-2D62-5D67-49D34FD68C5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6717C8-6D66-BB6F-7019-7D8A5CC371A3}"/>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2894224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2A342-C641-70D4-0FEE-43ED7A55F0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78BF55-1E5B-1CF5-2A74-D3847ED49D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22BF03-2BBA-4EA5-3B6B-CCC3567765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638C18-3C2B-1484-B7D0-505D9CF1DD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32F658-00F6-69B7-85CF-8CFE35D95C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D13DB8-5F01-95C9-2ADE-26DC07714B5D}"/>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8" name="Footer Placeholder 7">
            <a:extLst>
              <a:ext uri="{FF2B5EF4-FFF2-40B4-BE49-F238E27FC236}">
                <a16:creationId xmlns:a16="http://schemas.microsoft.com/office/drawing/2014/main" id="{D6D160BB-BA53-4AF5-02BF-A5F62C2BD5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CE6E8B-B5B1-9913-2DAA-18727BA70376}"/>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241613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91165-FB4C-7450-FB94-F7016E307C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272109-CDFC-999E-FD98-77122D92EA7E}"/>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4" name="Footer Placeholder 3">
            <a:extLst>
              <a:ext uri="{FF2B5EF4-FFF2-40B4-BE49-F238E27FC236}">
                <a16:creationId xmlns:a16="http://schemas.microsoft.com/office/drawing/2014/main" id="{EBEEA9FE-1637-44B6-EC2B-F562681546A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4E0C99-AA23-F438-FCD9-08E12D8D4F61}"/>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1103950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8DD44-8C46-864A-D0DF-3B7AD1ED529A}"/>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3" name="Footer Placeholder 2">
            <a:extLst>
              <a:ext uri="{FF2B5EF4-FFF2-40B4-BE49-F238E27FC236}">
                <a16:creationId xmlns:a16="http://schemas.microsoft.com/office/drawing/2014/main" id="{2642741E-3CE8-E05F-C4AA-D0996A03AB0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8A1A555-CA7D-2A58-9679-A7BE4E5F47BA}"/>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594687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C4D26-95A8-9B3F-BE55-A41A37EA97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7D2174-8274-4D74-E354-E0A88B8F7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14D3A1-8F24-3096-99E6-8AA7FE07F1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CB9401-A6AC-AAC6-BE7D-1E77EC3BD0AE}"/>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6" name="Footer Placeholder 5">
            <a:extLst>
              <a:ext uri="{FF2B5EF4-FFF2-40B4-BE49-F238E27FC236}">
                <a16:creationId xmlns:a16="http://schemas.microsoft.com/office/drawing/2014/main" id="{CB192720-A8FD-3FE1-E5CF-20F2F00225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704D98-67CF-C100-AA71-EA71EDA9091A}"/>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1336464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2582F-88CC-97FD-050E-D016CC525E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1C32F8-6A05-0740-D3B3-FA83D5EF21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30629A-DCFC-2613-02B0-D800D2D11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05D0D5-DF43-7009-1A63-8F743B5D6AC6}"/>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6" name="Footer Placeholder 5">
            <a:extLst>
              <a:ext uri="{FF2B5EF4-FFF2-40B4-BE49-F238E27FC236}">
                <a16:creationId xmlns:a16="http://schemas.microsoft.com/office/drawing/2014/main" id="{2079E1C6-C77A-37F9-CBEB-432D759D38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FC82A4-F3EB-27CF-E88E-243F0E19612D}"/>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2596374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17EC3-6BB6-6830-D07C-2FE36E8864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55D2A8-4CF4-5A4E-775E-A473F2A1C0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0181C1-7F13-979D-65BA-AF14CB552137}"/>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5" name="Footer Placeholder 4">
            <a:extLst>
              <a:ext uri="{FF2B5EF4-FFF2-40B4-BE49-F238E27FC236}">
                <a16:creationId xmlns:a16="http://schemas.microsoft.com/office/drawing/2014/main" id="{55093754-B1FA-1097-9236-D5E9CEF4DF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150E2B-B2D5-10E6-B4F5-AFC80C77AD97}"/>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1743741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6F4F5-8817-1403-A410-FF4B96EC34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3C75F0-B180-1AEA-1F13-3EF1CCCAB1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6521B1-14F4-3E2D-4BB4-823189E307C4}"/>
              </a:ext>
            </a:extLst>
          </p:cNvPr>
          <p:cNvSpPr>
            <a:spLocks noGrp="1"/>
          </p:cNvSpPr>
          <p:nvPr>
            <p:ph type="dt" sz="half" idx="10"/>
          </p:nvPr>
        </p:nvSpPr>
        <p:spPr/>
        <p:txBody>
          <a:bodyPr/>
          <a:lstStyle/>
          <a:p>
            <a:fld id="{E854D3ED-400A-4B05-AF2D-FA46D1F5328A}" type="datetimeFigureOut">
              <a:rPr lang="en-IN" smtClean="0"/>
              <a:t>07-01-2023</a:t>
            </a:fld>
            <a:endParaRPr lang="en-IN"/>
          </a:p>
        </p:txBody>
      </p:sp>
      <p:sp>
        <p:nvSpPr>
          <p:cNvPr id="5" name="Footer Placeholder 4">
            <a:extLst>
              <a:ext uri="{FF2B5EF4-FFF2-40B4-BE49-F238E27FC236}">
                <a16:creationId xmlns:a16="http://schemas.microsoft.com/office/drawing/2014/main" id="{7EB318D1-2AAF-0709-F6B1-4B6DAFED58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C6A465-EE8D-B7B6-F434-13429CE4D5A8}"/>
              </a:ext>
            </a:extLst>
          </p:cNvPr>
          <p:cNvSpPr>
            <a:spLocks noGrp="1"/>
          </p:cNvSpPr>
          <p:nvPr>
            <p:ph type="sldNum" sz="quarter" idx="12"/>
          </p:nvPr>
        </p:nvSpPr>
        <p:spPr/>
        <p:txBody>
          <a:bodyPr/>
          <a:lstStyle/>
          <a:p>
            <a:fld id="{008A3949-F147-4176-8773-73A72BC6E657}" type="slidenum">
              <a:rPr lang="en-IN" smtClean="0"/>
              <a:t>‹#›</a:t>
            </a:fld>
            <a:endParaRPr lang="en-IN"/>
          </a:p>
        </p:txBody>
      </p:sp>
    </p:spTree>
    <p:extLst>
      <p:ext uri="{BB962C8B-B14F-4D97-AF65-F5344CB8AC3E}">
        <p14:creationId xmlns:p14="http://schemas.microsoft.com/office/powerpoint/2010/main" val="316224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BF1458-2688-CDDE-2AA3-D50D7E8372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610542-D153-54E0-C33B-454BA6EFB7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78DACD-8C68-AB91-3C83-2150CBB170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4D3ED-400A-4B05-AF2D-FA46D1F5328A}" type="datetimeFigureOut">
              <a:rPr lang="en-IN" smtClean="0"/>
              <a:t>07-01-2023</a:t>
            </a:fld>
            <a:endParaRPr lang="en-IN"/>
          </a:p>
        </p:txBody>
      </p:sp>
      <p:sp>
        <p:nvSpPr>
          <p:cNvPr id="5" name="Footer Placeholder 4">
            <a:extLst>
              <a:ext uri="{FF2B5EF4-FFF2-40B4-BE49-F238E27FC236}">
                <a16:creationId xmlns:a16="http://schemas.microsoft.com/office/drawing/2014/main" id="{3B539B18-1338-3569-06D8-FE33DF3EBF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4227ABE-ECE7-B5F3-EFB1-8455919CF7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A3949-F147-4176-8773-73A72BC6E657}" type="slidenum">
              <a:rPr lang="en-IN" smtClean="0"/>
              <a:t>‹#›</a:t>
            </a:fld>
            <a:endParaRPr lang="en-IN"/>
          </a:p>
        </p:txBody>
      </p:sp>
    </p:spTree>
    <p:extLst>
      <p:ext uri="{BB962C8B-B14F-4D97-AF65-F5344CB8AC3E}">
        <p14:creationId xmlns:p14="http://schemas.microsoft.com/office/powerpoint/2010/main" val="1129516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9.bin"/><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3.wmf"/><Relationship Id="rId7" Type="http://schemas.openxmlformats.org/officeDocument/2006/relationships/image" Target="../media/image12.wmf"/><Relationship Id="rId2" Type="http://schemas.openxmlformats.org/officeDocument/2006/relationships/oleObject" Target="../embeddings/oleObject11.bin"/><Relationship Id="rId1" Type="http://schemas.openxmlformats.org/officeDocument/2006/relationships/slideLayout" Target="../slideLayouts/slideLayout7.xml"/><Relationship Id="rId6" Type="http://schemas.openxmlformats.org/officeDocument/2006/relationships/oleObject" Target="../embeddings/oleObject13.bin"/><Relationship Id="rId5" Type="http://schemas.openxmlformats.org/officeDocument/2006/relationships/image" Target="../media/image11.wmf"/><Relationship Id="rId4" Type="http://schemas.openxmlformats.org/officeDocument/2006/relationships/oleObject" Target="../embeddings/oleObject12.bin"/><Relationship Id="rId9" Type="http://schemas.openxmlformats.org/officeDocument/2006/relationships/image" Target="../media/image13.wmf"/></Relationships>
</file>

<file path=ppt/slides/_rels/slide1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5.bin"/><Relationship Id="rId1" Type="http://schemas.openxmlformats.org/officeDocument/2006/relationships/slideLayout" Target="../slideLayouts/slideLayout7.xml"/><Relationship Id="rId5" Type="http://schemas.openxmlformats.org/officeDocument/2006/relationships/image" Target="../media/image15.wmf"/><Relationship Id="rId4" Type="http://schemas.openxmlformats.org/officeDocument/2006/relationships/oleObject" Target="../embeddings/oleObject16.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7.bin"/><Relationship Id="rId1" Type="http://schemas.openxmlformats.org/officeDocument/2006/relationships/slideLayout" Target="../slideLayouts/slideLayout7.xml"/><Relationship Id="rId5" Type="http://schemas.openxmlformats.org/officeDocument/2006/relationships/image" Target="../media/image17.wmf"/><Relationship Id="rId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9.bin"/><Relationship Id="rId1" Type="http://schemas.openxmlformats.org/officeDocument/2006/relationships/slideLayout" Target="../slideLayouts/slideLayout7.xml"/><Relationship Id="rId5" Type="http://schemas.openxmlformats.org/officeDocument/2006/relationships/image" Target="../media/image19.wmf"/><Relationship Id="rId4" Type="http://schemas.openxmlformats.org/officeDocument/2006/relationships/oleObject" Target="../embeddings/oleObject20.bin"/></Relationships>
</file>

<file path=ppt/slides/_rels/slide14.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21.bin"/><Relationship Id="rId1"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oleObject" Target="../embeddings/oleObject22.bin"/><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3.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4.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5.bin"/><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6.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491A25-CDE8-4F96-42F0-F99FF357B358}"/>
              </a:ext>
            </a:extLst>
          </p:cNvPr>
          <p:cNvSpPr/>
          <p:nvPr/>
        </p:nvSpPr>
        <p:spPr>
          <a:xfrm>
            <a:off x="1383908" y="895940"/>
            <a:ext cx="942418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Linear Constant Coefficient ODEs</a:t>
            </a:r>
          </a:p>
        </p:txBody>
      </p:sp>
      <p:sp>
        <p:nvSpPr>
          <p:cNvPr id="3" name="Rectangle 2">
            <a:extLst>
              <a:ext uri="{FF2B5EF4-FFF2-40B4-BE49-F238E27FC236}">
                <a16:creationId xmlns:a16="http://schemas.microsoft.com/office/drawing/2014/main" id="{BFF78E10-ABC6-B15A-B159-788EB0201010}"/>
              </a:ext>
            </a:extLst>
          </p:cNvPr>
          <p:cNvSpPr/>
          <p:nvPr/>
        </p:nvSpPr>
        <p:spPr>
          <a:xfrm>
            <a:off x="1265997" y="4444485"/>
            <a:ext cx="9907649"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highlight>
                  <a:srgbClr val="FFFF00"/>
                </a:highlight>
              </a:rPr>
              <a:t>Minimal thing that one must know</a:t>
            </a:r>
            <a:endParaRPr lang="en-US" sz="5400" b="0" cap="none" spc="0" dirty="0">
              <a:ln w="0"/>
              <a:solidFill>
                <a:schemeClr val="tx1"/>
              </a:solidFill>
              <a:effectLst>
                <a:outerShdw blurRad="38100" dist="19050" dir="2700000" algn="tl" rotWithShape="0">
                  <a:schemeClr val="dk1">
                    <a:alpha val="40000"/>
                  </a:schemeClr>
                </a:outerShdw>
              </a:effectLst>
              <a:highlight>
                <a:srgbClr val="FFFF00"/>
              </a:highlight>
            </a:endParaRPr>
          </a:p>
        </p:txBody>
      </p:sp>
      <p:sp>
        <p:nvSpPr>
          <p:cNvPr id="4" name="Rectangle 3">
            <a:extLst>
              <a:ext uri="{FF2B5EF4-FFF2-40B4-BE49-F238E27FC236}">
                <a16:creationId xmlns:a16="http://schemas.microsoft.com/office/drawing/2014/main" id="{1F11AEC4-5801-EA69-9DE5-3E71C3B4FAA8}"/>
              </a:ext>
            </a:extLst>
          </p:cNvPr>
          <p:cNvSpPr/>
          <p:nvPr/>
        </p:nvSpPr>
        <p:spPr>
          <a:xfrm>
            <a:off x="1992120" y="3521154"/>
            <a:ext cx="820776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1. First order ODEs (revision)</a:t>
            </a:r>
          </a:p>
        </p:txBody>
      </p:sp>
      <p:sp>
        <p:nvSpPr>
          <p:cNvPr id="6" name="TextBox 5">
            <a:extLst>
              <a:ext uri="{FF2B5EF4-FFF2-40B4-BE49-F238E27FC236}">
                <a16:creationId xmlns:a16="http://schemas.microsoft.com/office/drawing/2014/main" id="{AEC5B333-39AB-7569-6700-5683C4065AAD}"/>
              </a:ext>
            </a:extLst>
          </p:cNvPr>
          <p:cNvSpPr txBox="1"/>
          <p:nvPr/>
        </p:nvSpPr>
        <p:spPr>
          <a:xfrm>
            <a:off x="3527033" y="5777394"/>
            <a:ext cx="4735720" cy="369332"/>
          </a:xfrm>
          <a:prstGeom prst="rect">
            <a:avLst/>
          </a:prstGeom>
          <a:noFill/>
        </p:spPr>
        <p:txBody>
          <a:bodyPr wrap="none" rtlCol="0">
            <a:spAutoFit/>
          </a:bodyPr>
          <a:lstStyle/>
          <a:p>
            <a:r>
              <a:rPr lang="en-IN" dirty="0"/>
              <a:t>Assignment at the last slides. Submit on Monday</a:t>
            </a:r>
          </a:p>
        </p:txBody>
      </p:sp>
    </p:spTree>
    <p:extLst>
      <p:ext uri="{BB962C8B-B14F-4D97-AF65-F5344CB8AC3E}">
        <p14:creationId xmlns:p14="http://schemas.microsoft.com/office/powerpoint/2010/main" val="2609399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19CAD8FA-B5AF-77ED-C67D-F878162C7EEF}"/>
              </a:ext>
            </a:extLst>
          </p:cNvPr>
          <p:cNvGraphicFramePr>
            <a:graphicFrameLocks noChangeAspect="1"/>
          </p:cNvGraphicFramePr>
          <p:nvPr>
            <p:extLst>
              <p:ext uri="{D42A27DB-BD31-4B8C-83A1-F6EECF244321}">
                <p14:modId xmlns:p14="http://schemas.microsoft.com/office/powerpoint/2010/main" val="2933732919"/>
              </p:ext>
            </p:extLst>
          </p:nvPr>
        </p:nvGraphicFramePr>
        <p:xfrm>
          <a:off x="896938" y="249238"/>
          <a:ext cx="9772650" cy="2120900"/>
        </p:xfrm>
        <a:graphic>
          <a:graphicData uri="http://schemas.openxmlformats.org/presentationml/2006/ole">
            <mc:AlternateContent xmlns:mc="http://schemas.openxmlformats.org/markup-compatibility/2006">
              <mc:Choice xmlns:v="urn:schemas-microsoft-com:vml" Requires="v">
                <p:oleObj name="Equation" r:id="rId2" imgW="4216320" imgH="914400" progId="Equation.DSMT4">
                  <p:embed/>
                </p:oleObj>
              </mc:Choice>
              <mc:Fallback>
                <p:oleObj name="Equation" r:id="rId2" imgW="4216320" imgH="914400" progId="Equation.DSMT4">
                  <p:embed/>
                  <p:pic>
                    <p:nvPicPr>
                      <p:cNvPr id="0" name=""/>
                      <p:cNvPicPr/>
                      <p:nvPr/>
                    </p:nvPicPr>
                    <p:blipFill>
                      <a:blip r:embed="rId3"/>
                      <a:stretch>
                        <a:fillRect/>
                      </a:stretch>
                    </p:blipFill>
                    <p:spPr>
                      <a:xfrm>
                        <a:off x="896938" y="249238"/>
                        <a:ext cx="9772650" cy="21209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136FA8E6-0B50-9778-E000-4D5A90B5C2F9}"/>
              </a:ext>
            </a:extLst>
          </p:cNvPr>
          <p:cNvSpPr txBox="1"/>
          <p:nvPr/>
        </p:nvSpPr>
        <p:spPr>
          <a:xfrm>
            <a:off x="153954" y="4419849"/>
            <a:ext cx="12038046" cy="1938992"/>
          </a:xfrm>
          <a:prstGeom prst="rect">
            <a:avLst/>
          </a:prstGeom>
          <a:solidFill>
            <a:schemeClr val="accent5">
              <a:lumMod val="40000"/>
              <a:lumOff val="60000"/>
            </a:schemeClr>
          </a:solidFill>
        </p:spPr>
        <p:txBody>
          <a:bodyPr wrap="square">
            <a:spAutoFit/>
          </a:bodyPr>
          <a:lstStyle/>
          <a:p>
            <a:pPr algn="just"/>
            <a:r>
              <a:rPr lang="en-US" sz="2400" b="0" i="0" dirty="0">
                <a:solidFill>
                  <a:srgbClr val="333333"/>
                </a:solidFill>
                <a:effectLst/>
                <a:latin typeface="Helvetica" panose="020B0604020202020204" pitchFamily="34" charset="0"/>
              </a:rPr>
              <a:t>The question naturally arises: why split a single problem into two separate problems?  There are several reasons: the two problems are each easier to solve; the effects of the initial conditions are separated from those due to the inputs; if the solution is to be solved with several different initial conditions (or inputs), only part of the problem needs to be solved again.</a:t>
            </a:r>
          </a:p>
        </p:txBody>
      </p:sp>
      <p:sp>
        <p:nvSpPr>
          <p:cNvPr id="8" name="TextBox 7">
            <a:extLst>
              <a:ext uri="{FF2B5EF4-FFF2-40B4-BE49-F238E27FC236}">
                <a16:creationId xmlns:a16="http://schemas.microsoft.com/office/drawing/2014/main" id="{ACD72BAA-BCF0-E334-8C2C-76790CD6C442}"/>
              </a:ext>
            </a:extLst>
          </p:cNvPr>
          <p:cNvSpPr txBox="1"/>
          <p:nvPr/>
        </p:nvSpPr>
        <p:spPr>
          <a:xfrm>
            <a:off x="153953" y="2634093"/>
            <a:ext cx="11929189" cy="1323439"/>
          </a:xfrm>
          <a:prstGeom prst="rect">
            <a:avLst/>
          </a:prstGeom>
          <a:solidFill>
            <a:schemeClr val="accent2">
              <a:lumMod val="20000"/>
              <a:lumOff val="80000"/>
            </a:schemeClr>
          </a:solidFill>
        </p:spPr>
        <p:txBody>
          <a:bodyPr wrap="square">
            <a:spAutoFit/>
          </a:bodyPr>
          <a:lstStyle/>
          <a:p>
            <a:pPr algn="just"/>
            <a:r>
              <a:rPr lang="en-US" sz="2000" b="0" i="0" dirty="0">
                <a:solidFill>
                  <a:srgbClr val="333333"/>
                </a:solidFill>
                <a:effectLst/>
                <a:latin typeface="Helvetica" panose="020B0604020202020204" pitchFamily="34" charset="0"/>
              </a:rPr>
              <a:t>It is possible to split up the solution of the problem into two parts, the </a:t>
            </a:r>
            <a:r>
              <a:rPr lang="en-US" sz="2000" b="0" i="0" dirty="0">
                <a:solidFill>
                  <a:srgbClr val="FF0000"/>
                </a:solidFill>
                <a:effectLst/>
                <a:latin typeface="Helvetica" panose="020B0604020202020204" pitchFamily="34" charset="0"/>
              </a:rPr>
              <a:t>zero input solution</a:t>
            </a:r>
            <a:r>
              <a:rPr lang="en-US" sz="2000" b="0" i="0" dirty="0">
                <a:solidFill>
                  <a:srgbClr val="333333"/>
                </a:solidFill>
                <a:effectLst/>
                <a:latin typeface="Helvetica" panose="020B0604020202020204" pitchFamily="34" charset="0"/>
              </a:rPr>
              <a:t>, and the </a:t>
            </a:r>
            <a:r>
              <a:rPr lang="en-US" sz="2000" b="0" i="0" dirty="0">
                <a:solidFill>
                  <a:srgbClr val="FF0000"/>
                </a:solidFill>
                <a:effectLst/>
                <a:latin typeface="Helvetica" panose="020B0604020202020204" pitchFamily="34" charset="0"/>
              </a:rPr>
              <a:t>zero state solution.</a:t>
            </a:r>
            <a:r>
              <a:rPr lang="en-US" sz="2000" b="0" i="0" dirty="0">
                <a:solidFill>
                  <a:srgbClr val="333333"/>
                </a:solidFill>
                <a:effectLst/>
                <a:latin typeface="Helvetica" panose="020B0604020202020204" pitchFamily="34" charset="0"/>
              </a:rPr>
              <a:t>  The </a:t>
            </a:r>
            <a:r>
              <a:rPr lang="en-US" sz="2000" b="0" i="0" dirty="0">
                <a:solidFill>
                  <a:srgbClr val="FF0000"/>
                </a:solidFill>
                <a:effectLst/>
                <a:latin typeface="Helvetica" panose="020B0604020202020204" pitchFamily="34" charset="0"/>
              </a:rPr>
              <a:t>zero input </a:t>
            </a:r>
            <a:r>
              <a:rPr lang="en-US" sz="2000" b="0" i="0" dirty="0">
                <a:solidFill>
                  <a:srgbClr val="333333"/>
                </a:solidFill>
                <a:effectLst/>
                <a:latin typeface="Helvetica" panose="020B0604020202020204" pitchFamily="34" charset="0"/>
              </a:rPr>
              <a:t>solution is the response of the system to the initial conditions, with the input set to zero.  The zero state solution is the response of the system to the input, with initial conditions set to zero.  The complete response is simply the sum of the zero input and zero state response.</a:t>
            </a:r>
          </a:p>
        </p:txBody>
      </p:sp>
    </p:spTree>
    <p:extLst>
      <p:ext uri="{BB962C8B-B14F-4D97-AF65-F5344CB8AC3E}">
        <p14:creationId xmlns:p14="http://schemas.microsoft.com/office/powerpoint/2010/main" val="2862164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B8293ABA-7A62-3629-705F-A7B340A138F3}"/>
              </a:ext>
            </a:extLst>
          </p:cNvPr>
          <p:cNvGraphicFramePr>
            <a:graphicFrameLocks noChangeAspect="1"/>
          </p:cNvGraphicFramePr>
          <p:nvPr>
            <p:extLst>
              <p:ext uri="{D42A27DB-BD31-4B8C-83A1-F6EECF244321}">
                <p14:modId xmlns:p14="http://schemas.microsoft.com/office/powerpoint/2010/main" val="1944512369"/>
              </p:ext>
            </p:extLst>
          </p:nvPr>
        </p:nvGraphicFramePr>
        <p:xfrm>
          <a:off x="297057" y="68262"/>
          <a:ext cx="8150225" cy="6721475"/>
        </p:xfrm>
        <a:graphic>
          <a:graphicData uri="http://schemas.openxmlformats.org/presentationml/2006/ole">
            <mc:AlternateContent xmlns:mc="http://schemas.openxmlformats.org/markup-compatibility/2006">
              <mc:Choice xmlns:v="urn:schemas-microsoft-com:vml" Requires="v">
                <p:oleObj name="Equation" r:id="rId2" imgW="4394160" imgH="3619440" progId="Equation.DSMT4">
                  <p:embed/>
                </p:oleObj>
              </mc:Choice>
              <mc:Fallback>
                <p:oleObj name="Equation" r:id="rId2" imgW="4394160" imgH="3619440" progId="Equation.DSMT4">
                  <p:embed/>
                  <p:pic>
                    <p:nvPicPr>
                      <p:cNvPr id="4" name="Object 3">
                        <a:extLst>
                          <a:ext uri="{FF2B5EF4-FFF2-40B4-BE49-F238E27FC236}">
                            <a16:creationId xmlns:a16="http://schemas.microsoft.com/office/drawing/2014/main" id="{19CAD8FA-B5AF-77ED-C67D-F878162C7EEF}"/>
                          </a:ext>
                        </a:extLst>
                      </p:cNvPr>
                      <p:cNvPicPr/>
                      <p:nvPr/>
                    </p:nvPicPr>
                    <p:blipFill>
                      <a:blip r:embed="rId3"/>
                      <a:stretch>
                        <a:fillRect/>
                      </a:stretch>
                    </p:blipFill>
                    <p:spPr>
                      <a:xfrm>
                        <a:off x="297057" y="68262"/>
                        <a:ext cx="8150225" cy="6721475"/>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8F8ACBEF-5E0E-3F7C-B317-F318B460127B}"/>
              </a:ext>
            </a:extLst>
          </p:cNvPr>
          <p:cNvSpPr/>
          <p:nvPr/>
        </p:nvSpPr>
        <p:spPr>
          <a:xfrm>
            <a:off x="7945111" y="0"/>
            <a:ext cx="4175353" cy="646331"/>
          </a:xfrm>
          <a:prstGeom prst="rect">
            <a:avLst/>
          </a:prstGeom>
          <a:solidFill>
            <a:schemeClr val="accent2">
              <a:lumMod val="40000"/>
              <a:lumOff val="60000"/>
            </a:schemeClr>
          </a:solid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Zero input solution  </a:t>
            </a:r>
          </a:p>
        </p:txBody>
      </p:sp>
    </p:spTree>
    <p:extLst>
      <p:ext uri="{BB962C8B-B14F-4D97-AF65-F5344CB8AC3E}">
        <p14:creationId xmlns:p14="http://schemas.microsoft.com/office/powerpoint/2010/main" val="2268212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1A07963-6CDD-C95C-6320-6CFBC3BCBD6F}"/>
              </a:ext>
            </a:extLst>
          </p:cNvPr>
          <p:cNvGrpSpPr/>
          <p:nvPr/>
        </p:nvGrpSpPr>
        <p:grpSpPr>
          <a:xfrm>
            <a:off x="69979" y="305772"/>
            <a:ext cx="11892952" cy="6202330"/>
            <a:chOff x="69979" y="305772"/>
            <a:chExt cx="11892952" cy="6202330"/>
          </a:xfrm>
        </p:grpSpPr>
        <p:graphicFrame>
          <p:nvGraphicFramePr>
            <p:cNvPr id="2" name="Object 1">
              <a:extLst>
                <a:ext uri="{FF2B5EF4-FFF2-40B4-BE49-F238E27FC236}">
                  <a16:creationId xmlns:a16="http://schemas.microsoft.com/office/drawing/2014/main" id="{C0384B9E-AB7E-660C-0364-5F178BFD2F8C}"/>
                </a:ext>
              </a:extLst>
            </p:cNvPr>
            <p:cNvGraphicFramePr>
              <a:graphicFrameLocks noChangeAspect="1"/>
            </p:cNvGraphicFramePr>
            <p:nvPr>
              <p:extLst>
                <p:ext uri="{D42A27DB-BD31-4B8C-83A1-F6EECF244321}">
                  <p14:modId xmlns:p14="http://schemas.microsoft.com/office/powerpoint/2010/main" val="3049211943"/>
                </p:ext>
              </p:extLst>
            </p:nvPr>
          </p:nvGraphicFramePr>
          <p:xfrm>
            <a:off x="423636" y="305772"/>
            <a:ext cx="1553364" cy="487330"/>
          </p:xfrm>
          <a:graphic>
            <a:graphicData uri="http://schemas.openxmlformats.org/presentationml/2006/ole">
              <mc:AlternateContent xmlns:mc="http://schemas.openxmlformats.org/markup-compatibility/2006">
                <mc:Choice xmlns:v="urn:schemas-microsoft-com:vml" Requires="v">
                  <p:oleObj name="Equation" r:id="rId2" imgW="647640" imgH="203040" progId="Equation.DSMT4">
                    <p:embed/>
                  </p:oleObj>
                </mc:Choice>
                <mc:Fallback>
                  <p:oleObj name="Equation" r:id="rId2" imgW="647640" imgH="203040" progId="Equation.DSMT4">
                    <p:embed/>
                    <p:pic>
                      <p:nvPicPr>
                        <p:cNvPr id="0" name=""/>
                        <p:cNvPicPr/>
                        <p:nvPr/>
                      </p:nvPicPr>
                      <p:blipFill>
                        <a:blip r:embed="rId3"/>
                        <a:stretch>
                          <a:fillRect/>
                        </a:stretch>
                      </p:blipFill>
                      <p:spPr>
                        <a:xfrm>
                          <a:off x="423636" y="305772"/>
                          <a:ext cx="1553364" cy="48733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2A7E1F8B-FA8F-4ECF-3B1F-906DD8E9FEFC}"/>
                </a:ext>
              </a:extLst>
            </p:cNvPr>
            <p:cNvGraphicFramePr>
              <a:graphicFrameLocks noChangeAspect="1"/>
            </p:cNvGraphicFramePr>
            <p:nvPr>
              <p:extLst>
                <p:ext uri="{D42A27DB-BD31-4B8C-83A1-F6EECF244321}">
                  <p14:modId xmlns:p14="http://schemas.microsoft.com/office/powerpoint/2010/main" val="1267112775"/>
                </p:ext>
              </p:extLst>
            </p:nvPr>
          </p:nvGraphicFramePr>
          <p:xfrm>
            <a:off x="223935" y="972795"/>
            <a:ext cx="3189287" cy="1754188"/>
          </p:xfrm>
          <a:graphic>
            <a:graphicData uri="http://schemas.openxmlformats.org/presentationml/2006/ole">
              <mc:AlternateContent xmlns:mc="http://schemas.openxmlformats.org/markup-compatibility/2006">
                <mc:Choice xmlns:v="urn:schemas-microsoft-com:vml" Requires="v">
                  <p:oleObj name="Equation" r:id="rId4" imgW="2400120" imgH="1320480" progId="Equation.DSMT4">
                    <p:embed/>
                  </p:oleObj>
                </mc:Choice>
                <mc:Fallback>
                  <p:oleObj name="Equation" r:id="rId4" imgW="2400120" imgH="1320480" progId="Equation.DSMT4">
                    <p:embed/>
                    <p:pic>
                      <p:nvPicPr>
                        <p:cNvPr id="4" name="Object 3">
                          <a:extLst>
                            <a:ext uri="{FF2B5EF4-FFF2-40B4-BE49-F238E27FC236}">
                              <a16:creationId xmlns:a16="http://schemas.microsoft.com/office/drawing/2014/main" id="{19CAD8FA-B5AF-77ED-C67D-F878162C7EEF}"/>
                            </a:ext>
                          </a:extLst>
                        </p:cNvPr>
                        <p:cNvPicPr/>
                        <p:nvPr/>
                      </p:nvPicPr>
                      <p:blipFill>
                        <a:blip r:embed="rId5"/>
                        <a:stretch>
                          <a:fillRect/>
                        </a:stretch>
                      </p:blipFill>
                      <p:spPr>
                        <a:xfrm>
                          <a:off x="223935" y="972795"/>
                          <a:ext cx="3189287" cy="1754188"/>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7D21A54A-6B46-7F3D-B989-9145ACE6FA64}"/>
                </a:ext>
              </a:extLst>
            </p:cNvPr>
            <p:cNvGraphicFramePr>
              <a:graphicFrameLocks noChangeAspect="1"/>
            </p:cNvGraphicFramePr>
            <p:nvPr>
              <p:extLst>
                <p:ext uri="{D42A27DB-BD31-4B8C-83A1-F6EECF244321}">
                  <p14:modId xmlns:p14="http://schemas.microsoft.com/office/powerpoint/2010/main" val="352568608"/>
                </p:ext>
              </p:extLst>
            </p:nvPr>
          </p:nvGraphicFramePr>
          <p:xfrm>
            <a:off x="4207019" y="1014526"/>
            <a:ext cx="3309453" cy="2357325"/>
          </p:xfrm>
          <a:graphic>
            <a:graphicData uri="http://schemas.openxmlformats.org/presentationml/2006/ole">
              <mc:AlternateContent xmlns:mc="http://schemas.openxmlformats.org/markup-compatibility/2006">
                <mc:Choice xmlns:v="urn:schemas-microsoft-com:vml" Requires="v">
                  <p:oleObj name="Equation" r:id="rId6" imgW="2336760" imgH="1549080" progId="Equation.DSMT4">
                    <p:embed/>
                  </p:oleObj>
                </mc:Choice>
                <mc:Fallback>
                  <p:oleObj name="Equation" r:id="rId6" imgW="2336760" imgH="1549080" progId="Equation.DSMT4">
                    <p:embed/>
                    <p:pic>
                      <p:nvPicPr>
                        <p:cNvPr id="3" name="Object 2">
                          <a:extLst>
                            <a:ext uri="{FF2B5EF4-FFF2-40B4-BE49-F238E27FC236}">
                              <a16:creationId xmlns:a16="http://schemas.microsoft.com/office/drawing/2014/main" id="{2A7E1F8B-FA8F-4ECF-3B1F-906DD8E9FEFC}"/>
                            </a:ext>
                          </a:extLst>
                        </p:cNvPr>
                        <p:cNvPicPr/>
                        <p:nvPr/>
                      </p:nvPicPr>
                      <p:blipFill>
                        <a:blip r:embed="rId7"/>
                        <a:stretch>
                          <a:fillRect/>
                        </a:stretch>
                      </p:blipFill>
                      <p:spPr>
                        <a:xfrm>
                          <a:off x="4207019" y="1014526"/>
                          <a:ext cx="3309453" cy="23573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1AB234A-13A2-B820-D110-25467D7E94C6}"/>
                </a:ext>
              </a:extLst>
            </p:cNvPr>
            <p:cNvGraphicFramePr>
              <a:graphicFrameLocks noChangeAspect="1"/>
            </p:cNvGraphicFramePr>
            <p:nvPr>
              <p:extLst>
                <p:ext uri="{D42A27DB-BD31-4B8C-83A1-F6EECF244321}">
                  <p14:modId xmlns:p14="http://schemas.microsoft.com/office/powerpoint/2010/main" val="136108650"/>
                </p:ext>
              </p:extLst>
            </p:nvPr>
          </p:nvGraphicFramePr>
          <p:xfrm>
            <a:off x="8429955" y="846345"/>
            <a:ext cx="3486539" cy="2312438"/>
          </p:xfrm>
          <a:graphic>
            <a:graphicData uri="http://schemas.openxmlformats.org/presentationml/2006/ole">
              <mc:AlternateContent xmlns:mc="http://schemas.openxmlformats.org/markup-compatibility/2006">
                <mc:Choice xmlns:v="urn:schemas-microsoft-com:vml" Requires="v">
                  <p:oleObj name="Equation" r:id="rId8" imgW="2336760" imgH="1549080" progId="Equation.DSMT4">
                    <p:embed/>
                  </p:oleObj>
                </mc:Choice>
                <mc:Fallback>
                  <p:oleObj name="Equation" r:id="rId8" imgW="2336760" imgH="1549080" progId="Equation.DSMT4">
                    <p:embed/>
                    <p:pic>
                      <p:nvPicPr>
                        <p:cNvPr id="4" name="Object 3">
                          <a:extLst>
                            <a:ext uri="{FF2B5EF4-FFF2-40B4-BE49-F238E27FC236}">
                              <a16:creationId xmlns:a16="http://schemas.microsoft.com/office/drawing/2014/main" id="{7D21A54A-6B46-7F3D-B989-9145ACE6FA64}"/>
                            </a:ext>
                          </a:extLst>
                        </p:cNvPr>
                        <p:cNvPicPr/>
                        <p:nvPr/>
                      </p:nvPicPr>
                      <p:blipFill>
                        <a:blip r:embed="rId9"/>
                        <a:stretch>
                          <a:fillRect/>
                        </a:stretch>
                      </p:blipFill>
                      <p:spPr>
                        <a:xfrm>
                          <a:off x="8429955" y="846345"/>
                          <a:ext cx="3486539" cy="2312438"/>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A4F121DA-59CC-B5B6-20C0-B6A882E72F95}"/>
                </a:ext>
              </a:extLst>
            </p:cNvPr>
            <p:cNvGraphicFramePr>
              <a:graphicFrameLocks noChangeAspect="1"/>
            </p:cNvGraphicFramePr>
            <p:nvPr>
              <p:extLst>
                <p:ext uri="{D42A27DB-BD31-4B8C-83A1-F6EECF244321}">
                  <p14:modId xmlns:p14="http://schemas.microsoft.com/office/powerpoint/2010/main" val="349669902"/>
                </p:ext>
              </p:extLst>
            </p:nvPr>
          </p:nvGraphicFramePr>
          <p:xfrm>
            <a:off x="811018" y="4253851"/>
            <a:ext cx="3121025" cy="1755775"/>
          </p:xfrm>
          <a:graphic>
            <a:graphicData uri="http://schemas.openxmlformats.org/presentationml/2006/ole">
              <mc:AlternateContent xmlns:mc="http://schemas.openxmlformats.org/markup-compatibility/2006">
                <mc:Choice xmlns:v="urn:schemas-microsoft-com:vml" Requires="v">
                  <p:oleObj name="Equation" r:id="rId10" imgW="2349360" imgH="1320480" progId="Equation.DSMT4">
                    <p:embed/>
                  </p:oleObj>
                </mc:Choice>
                <mc:Fallback>
                  <p:oleObj name="Equation" r:id="rId10" imgW="2349360" imgH="1320480" progId="Equation.DSMT4">
                    <p:embed/>
                    <p:pic>
                      <p:nvPicPr>
                        <p:cNvPr id="3" name="Object 2">
                          <a:extLst>
                            <a:ext uri="{FF2B5EF4-FFF2-40B4-BE49-F238E27FC236}">
                              <a16:creationId xmlns:a16="http://schemas.microsoft.com/office/drawing/2014/main" id="{2A7E1F8B-FA8F-4ECF-3B1F-906DD8E9FEFC}"/>
                            </a:ext>
                          </a:extLst>
                        </p:cNvPr>
                        <p:cNvPicPr/>
                        <p:nvPr/>
                      </p:nvPicPr>
                      <p:blipFill>
                        <a:blip r:embed="rId11"/>
                        <a:stretch>
                          <a:fillRect/>
                        </a:stretch>
                      </p:blipFill>
                      <p:spPr>
                        <a:xfrm>
                          <a:off x="811018" y="4253851"/>
                          <a:ext cx="3121025" cy="17557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D55DF73B-6881-595E-3BA9-2426BBB129A9}"/>
                </a:ext>
              </a:extLst>
            </p:cNvPr>
            <p:cNvGraphicFramePr>
              <a:graphicFrameLocks noChangeAspect="1"/>
            </p:cNvGraphicFramePr>
            <p:nvPr>
              <p:extLst>
                <p:ext uri="{D42A27DB-BD31-4B8C-83A1-F6EECF244321}">
                  <p14:modId xmlns:p14="http://schemas.microsoft.com/office/powerpoint/2010/main" val="3305421670"/>
                </p:ext>
              </p:extLst>
            </p:nvPr>
          </p:nvGraphicFramePr>
          <p:xfrm>
            <a:off x="6534280" y="4188473"/>
            <a:ext cx="3138488" cy="1755775"/>
          </p:xfrm>
          <a:graphic>
            <a:graphicData uri="http://schemas.openxmlformats.org/presentationml/2006/ole">
              <mc:AlternateContent xmlns:mc="http://schemas.openxmlformats.org/markup-compatibility/2006">
                <mc:Choice xmlns:v="urn:schemas-microsoft-com:vml" Requires="v">
                  <p:oleObj name="Equation" r:id="rId12" imgW="2361960" imgH="1320480" progId="Equation.DSMT4">
                    <p:embed/>
                  </p:oleObj>
                </mc:Choice>
                <mc:Fallback>
                  <p:oleObj name="Equation" r:id="rId12" imgW="2361960" imgH="1320480" progId="Equation.DSMT4">
                    <p:embed/>
                    <p:pic>
                      <p:nvPicPr>
                        <p:cNvPr id="6" name="Object 5">
                          <a:extLst>
                            <a:ext uri="{FF2B5EF4-FFF2-40B4-BE49-F238E27FC236}">
                              <a16:creationId xmlns:a16="http://schemas.microsoft.com/office/drawing/2014/main" id="{A4F121DA-59CC-B5B6-20C0-B6A882E72F95}"/>
                            </a:ext>
                          </a:extLst>
                        </p:cNvPr>
                        <p:cNvPicPr/>
                        <p:nvPr/>
                      </p:nvPicPr>
                      <p:blipFill>
                        <a:blip r:embed="rId13"/>
                        <a:stretch>
                          <a:fillRect/>
                        </a:stretch>
                      </p:blipFill>
                      <p:spPr>
                        <a:xfrm>
                          <a:off x="6534280" y="4188473"/>
                          <a:ext cx="3138488" cy="1755775"/>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723D7029-A884-AF61-2D7B-8C7D44AA49C7}"/>
                </a:ext>
              </a:extLst>
            </p:cNvPr>
            <p:cNvSpPr/>
            <p:nvPr/>
          </p:nvSpPr>
          <p:spPr>
            <a:xfrm>
              <a:off x="69979" y="793102"/>
              <a:ext cx="3648269" cy="2532888"/>
            </a:xfrm>
            <a:prstGeom prst="rect">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0757E6D-382E-614C-A49D-19FEF9A513E7}"/>
                </a:ext>
              </a:extLst>
            </p:cNvPr>
            <p:cNvSpPr/>
            <p:nvPr/>
          </p:nvSpPr>
          <p:spPr>
            <a:xfrm>
              <a:off x="3932041" y="805154"/>
              <a:ext cx="3859407" cy="2532888"/>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07149F61-50BB-FE7E-E9BE-2C443EDCD9E0}"/>
                </a:ext>
              </a:extLst>
            </p:cNvPr>
            <p:cNvSpPr/>
            <p:nvPr/>
          </p:nvSpPr>
          <p:spPr>
            <a:xfrm>
              <a:off x="8103524" y="736120"/>
              <a:ext cx="3859407" cy="2532888"/>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954C1292-A633-E647-925B-128DCF1CF84F}"/>
                </a:ext>
              </a:extLst>
            </p:cNvPr>
            <p:cNvSpPr/>
            <p:nvPr/>
          </p:nvSpPr>
          <p:spPr>
            <a:xfrm>
              <a:off x="347612" y="3865294"/>
              <a:ext cx="3859407" cy="2532888"/>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D6B3E3D2-99C3-491D-EC3E-0163FC401880}"/>
                </a:ext>
              </a:extLst>
            </p:cNvPr>
            <p:cNvSpPr/>
            <p:nvPr/>
          </p:nvSpPr>
          <p:spPr>
            <a:xfrm>
              <a:off x="5811577" y="3975214"/>
              <a:ext cx="4122998" cy="2532888"/>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120292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F5DCF9-5134-6E6F-9843-FA6DE5251C91}"/>
              </a:ext>
            </a:extLst>
          </p:cNvPr>
          <p:cNvSpPr/>
          <p:nvPr/>
        </p:nvSpPr>
        <p:spPr>
          <a:xfrm>
            <a:off x="924376" y="3329046"/>
            <a:ext cx="10026014" cy="2585323"/>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Linear Constant Coefficient ODEs</a:t>
            </a:r>
          </a:p>
          <a:p>
            <a:pPr algn="ctr"/>
            <a:r>
              <a:rPr lang="en-US" sz="5400" dirty="0">
                <a:ln w="0"/>
                <a:effectLst>
                  <a:outerShdw blurRad="38100" dist="19050" dir="2700000" algn="tl" rotWithShape="0">
                    <a:schemeClr val="dk1">
                      <a:alpha val="40000"/>
                    </a:schemeClr>
                  </a:outerShdw>
                </a:effectLst>
              </a:rPr>
              <a:t>Impulse response.</a:t>
            </a:r>
          </a:p>
          <a:p>
            <a:pPr algn="ctr"/>
            <a:r>
              <a:rPr lang="en-US" sz="5400" b="0" cap="none" spc="0" dirty="0">
                <a:ln w="0"/>
                <a:solidFill>
                  <a:schemeClr val="tx1"/>
                </a:solidFill>
                <a:effectLst>
                  <a:outerShdw blurRad="38100" dist="19050" dir="2700000" algn="tl" rotWithShape="0">
                    <a:schemeClr val="dk1">
                      <a:alpha val="40000"/>
                    </a:schemeClr>
                  </a:outerShdw>
                </a:effectLst>
              </a:rPr>
              <a:t>At least byheart the impulse effect </a:t>
            </a:r>
          </a:p>
        </p:txBody>
      </p:sp>
      <p:sp>
        <p:nvSpPr>
          <p:cNvPr id="3" name="Rectangle 2">
            <a:extLst>
              <a:ext uri="{FF2B5EF4-FFF2-40B4-BE49-F238E27FC236}">
                <a16:creationId xmlns:a16="http://schemas.microsoft.com/office/drawing/2014/main" id="{5B8B1E49-0F57-2ED8-9697-7CA12AE00327}"/>
              </a:ext>
            </a:extLst>
          </p:cNvPr>
          <p:cNvSpPr/>
          <p:nvPr/>
        </p:nvSpPr>
        <p:spPr>
          <a:xfrm>
            <a:off x="1292716" y="79139"/>
            <a:ext cx="928933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Impulse : our first input function</a:t>
            </a:r>
          </a:p>
        </p:txBody>
      </p:sp>
      <p:sp>
        <p:nvSpPr>
          <p:cNvPr id="4" name="TextBox 3">
            <a:extLst>
              <a:ext uri="{FF2B5EF4-FFF2-40B4-BE49-F238E27FC236}">
                <a16:creationId xmlns:a16="http://schemas.microsoft.com/office/drawing/2014/main" id="{76F9D86F-7680-B673-0AD2-D109BC12DBD8}"/>
              </a:ext>
            </a:extLst>
          </p:cNvPr>
          <p:cNvSpPr txBox="1"/>
          <p:nvPr/>
        </p:nvSpPr>
        <p:spPr>
          <a:xfrm>
            <a:off x="2258007" y="1651518"/>
            <a:ext cx="8028993" cy="584775"/>
          </a:xfrm>
          <a:prstGeom prst="rect">
            <a:avLst/>
          </a:prstGeom>
          <a:solidFill>
            <a:schemeClr val="accent4">
              <a:lumMod val="40000"/>
              <a:lumOff val="60000"/>
            </a:schemeClr>
          </a:solidFill>
        </p:spPr>
        <p:txBody>
          <a:bodyPr wrap="square" rtlCol="0">
            <a:spAutoFit/>
          </a:bodyPr>
          <a:lstStyle/>
          <a:p>
            <a:r>
              <a:rPr lang="en-IN" sz="3200" dirty="0"/>
              <a:t>Refer earlier given slides for derivation </a:t>
            </a:r>
          </a:p>
        </p:txBody>
      </p:sp>
    </p:spTree>
    <p:extLst>
      <p:ext uri="{BB962C8B-B14F-4D97-AF65-F5344CB8AC3E}">
        <p14:creationId xmlns:p14="http://schemas.microsoft.com/office/powerpoint/2010/main" val="1517744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2B60B35-03CB-7C44-DA28-8B9E2A6D9363}"/>
              </a:ext>
            </a:extLst>
          </p:cNvPr>
          <p:cNvSpPr/>
          <p:nvPr/>
        </p:nvSpPr>
        <p:spPr>
          <a:xfrm>
            <a:off x="952508" y="481310"/>
            <a:ext cx="1028698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Why Impulse Response is Important</a:t>
            </a:r>
          </a:p>
        </p:txBody>
      </p:sp>
      <p:sp>
        <p:nvSpPr>
          <p:cNvPr id="3" name="TextBox 2">
            <a:extLst>
              <a:ext uri="{FF2B5EF4-FFF2-40B4-BE49-F238E27FC236}">
                <a16:creationId xmlns:a16="http://schemas.microsoft.com/office/drawing/2014/main" id="{C80BE339-9C36-DBDD-B3B7-C828ED4D5D25}"/>
              </a:ext>
            </a:extLst>
          </p:cNvPr>
          <p:cNvSpPr txBox="1"/>
          <p:nvPr/>
        </p:nvSpPr>
        <p:spPr>
          <a:xfrm>
            <a:off x="47633" y="2390775"/>
            <a:ext cx="12144367" cy="3600986"/>
          </a:xfrm>
          <a:prstGeom prst="rect">
            <a:avLst/>
          </a:prstGeom>
          <a:solidFill>
            <a:schemeClr val="accent2">
              <a:lumMod val="40000"/>
              <a:lumOff val="60000"/>
            </a:schemeClr>
          </a:solidFill>
        </p:spPr>
        <p:txBody>
          <a:bodyPr wrap="square" rtlCol="0">
            <a:spAutoFit/>
          </a:bodyPr>
          <a:lstStyle/>
          <a:p>
            <a:pPr algn="just"/>
            <a:r>
              <a:rPr lang="en-IN" sz="3600" dirty="0"/>
              <a:t>Any Input function to a system can be represented (and visualized ) as a series of impulses. If we know impulse response of a Linear system ( that is impulse response to corresponding ODE) we can  obtain , system response to any input function by convolving input function with impulse response</a:t>
            </a:r>
            <a:r>
              <a:rPr lang="en-IN" sz="2400" dirty="0"/>
              <a:t>.</a:t>
            </a:r>
          </a:p>
          <a:p>
            <a:pPr algn="just"/>
            <a:endParaRPr lang="en-IN" sz="2400" dirty="0"/>
          </a:p>
          <a:p>
            <a:pPr algn="just"/>
            <a:r>
              <a:rPr lang="en-IN" sz="2400" dirty="0"/>
              <a:t>We will elaborate later (in the next set of slides) with several Examples</a:t>
            </a:r>
          </a:p>
        </p:txBody>
      </p:sp>
    </p:spTree>
    <p:extLst>
      <p:ext uri="{BB962C8B-B14F-4D97-AF65-F5344CB8AC3E}">
        <p14:creationId xmlns:p14="http://schemas.microsoft.com/office/powerpoint/2010/main" val="521279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9BB7EB04-B5C5-F6FA-DE4F-C1C2B9FB777A}"/>
              </a:ext>
            </a:extLst>
          </p:cNvPr>
          <p:cNvGraphicFramePr>
            <a:graphicFrameLocks noChangeAspect="1"/>
          </p:cNvGraphicFramePr>
          <p:nvPr>
            <p:extLst>
              <p:ext uri="{D42A27DB-BD31-4B8C-83A1-F6EECF244321}">
                <p14:modId xmlns:p14="http://schemas.microsoft.com/office/powerpoint/2010/main" val="4036613228"/>
              </p:ext>
            </p:extLst>
          </p:nvPr>
        </p:nvGraphicFramePr>
        <p:xfrm>
          <a:off x="428771" y="313531"/>
          <a:ext cx="9399588" cy="6230937"/>
        </p:xfrm>
        <a:graphic>
          <a:graphicData uri="http://schemas.openxmlformats.org/presentationml/2006/ole">
            <mc:AlternateContent xmlns:mc="http://schemas.openxmlformats.org/markup-compatibility/2006">
              <mc:Choice xmlns:v="urn:schemas-microsoft-com:vml" Requires="v">
                <p:oleObj name="Equation" r:id="rId2" imgW="5790960" imgH="3835080" progId="Equation.DSMT4">
                  <p:embed/>
                </p:oleObj>
              </mc:Choice>
              <mc:Fallback>
                <p:oleObj name="Equation" r:id="rId2" imgW="5790960" imgH="3835080" progId="Equation.DSMT4">
                  <p:embed/>
                  <p:pic>
                    <p:nvPicPr>
                      <p:cNvPr id="2" name="Object 1">
                        <a:extLst>
                          <a:ext uri="{FF2B5EF4-FFF2-40B4-BE49-F238E27FC236}">
                            <a16:creationId xmlns:a16="http://schemas.microsoft.com/office/drawing/2014/main" id="{B8293ABA-7A62-3629-705F-A7B340A138F3}"/>
                          </a:ext>
                        </a:extLst>
                      </p:cNvPr>
                      <p:cNvPicPr/>
                      <p:nvPr/>
                    </p:nvPicPr>
                    <p:blipFill>
                      <a:blip r:embed="rId3"/>
                      <a:stretch>
                        <a:fillRect/>
                      </a:stretch>
                    </p:blipFill>
                    <p:spPr>
                      <a:xfrm>
                        <a:off x="428771" y="313531"/>
                        <a:ext cx="9399588" cy="6230937"/>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8838B872-F6DC-9602-405B-795F92BAA6D1}"/>
              </a:ext>
            </a:extLst>
          </p:cNvPr>
          <p:cNvSpPr/>
          <p:nvPr/>
        </p:nvSpPr>
        <p:spPr>
          <a:xfrm>
            <a:off x="7254647" y="121298"/>
            <a:ext cx="4175353" cy="646331"/>
          </a:xfrm>
          <a:prstGeom prst="rect">
            <a:avLst/>
          </a:prstGeom>
          <a:solidFill>
            <a:schemeClr val="accent4">
              <a:lumMod val="40000"/>
              <a:lumOff val="60000"/>
            </a:schemeClr>
          </a:solid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Impulse response</a:t>
            </a:r>
          </a:p>
        </p:txBody>
      </p:sp>
      <p:graphicFrame>
        <p:nvGraphicFramePr>
          <p:cNvPr id="4" name="Object 3">
            <a:extLst>
              <a:ext uri="{FF2B5EF4-FFF2-40B4-BE49-F238E27FC236}">
                <a16:creationId xmlns:a16="http://schemas.microsoft.com/office/drawing/2014/main" id="{751267D6-31C8-77DC-A61A-C0BCD4644284}"/>
              </a:ext>
            </a:extLst>
          </p:cNvPr>
          <p:cNvGraphicFramePr>
            <a:graphicFrameLocks noChangeAspect="1"/>
          </p:cNvGraphicFramePr>
          <p:nvPr>
            <p:extLst>
              <p:ext uri="{D42A27DB-BD31-4B8C-83A1-F6EECF244321}">
                <p14:modId xmlns:p14="http://schemas.microsoft.com/office/powerpoint/2010/main" val="2332393622"/>
              </p:ext>
            </p:extLst>
          </p:nvPr>
        </p:nvGraphicFramePr>
        <p:xfrm>
          <a:off x="8162925" y="5016500"/>
          <a:ext cx="3549650" cy="1460500"/>
        </p:xfrm>
        <a:graphic>
          <a:graphicData uri="http://schemas.openxmlformats.org/presentationml/2006/ole">
            <mc:AlternateContent xmlns:mc="http://schemas.openxmlformats.org/markup-compatibility/2006">
              <mc:Choice xmlns:v="urn:schemas-microsoft-com:vml" Requires="v">
                <p:oleObj name="Equation" r:id="rId4" imgW="2222280" imgH="914400" progId="Equation.DSMT4">
                  <p:embed/>
                </p:oleObj>
              </mc:Choice>
              <mc:Fallback>
                <p:oleObj name="Equation" r:id="rId4" imgW="2222280" imgH="914400" progId="Equation.DSMT4">
                  <p:embed/>
                  <p:pic>
                    <p:nvPicPr>
                      <p:cNvPr id="0" name=""/>
                      <p:cNvPicPr/>
                      <p:nvPr/>
                    </p:nvPicPr>
                    <p:blipFill>
                      <a:blip r:embed="rId5"/>
                      <a:stretch>
                        <a:fillRect/>
                      </a:stretch>
                    </p:blipFill>
                    <p:spPr>
                      <a:xfrm>
                        <a:off x="8162925" y="5016500"/>
                        <a:ext cx="3549650" cy="1460500"/>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80460D71-6A66-97DE-40E5-7CB1C4938E2C}"/>
              </a:ext>
            </a:extLst>
          </p:cNvPr>
          <p:cNvSpPr/>
          <p:nvPr/>
        </p:nvSpPr>
        <p:spPr>
          <a:xfrm>
            <a:off x="7717017" y="4778052"/>
            <a:ext cx="4222685" cy="17448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6ED989EA-2B04-CFFF-F1AB-90C9A5399676}"/>
              </a:ext>
            </a:extLst>
          </p:cNvPr>
          <p:cNvCxnSpPr/>
          <p:nvPr/>
        </p:nvCxnSpPr>
        <p:spPr>
          <a:xfrm>
            <a:off x="1809750" y="2609850"/>
            <a:ext cx="7162800" cy="2486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463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A2AC57-AC1A-A4F9-A1BE-D461367EA639}"/>
              </a:ext>
            </a:extLst>
          </p:cNvPr>
          <p:cNvSpPr/>
          <p:nvPr/>
        </p:nvSpPr>
        <p:spPr>
          <a:xfrm>
            <a:off x="1996847" y="1159523"/>
            <a:ext cx="9156928" cy="1200329"/>
          </a:xfrm>
          <a:prstGeom prst="rect">
            <a:avLst/>
          </a:prstGeom>
          <a:solidFill>
            <a:schemeClr val="accent4">
              <a:lumMod val="40000"/>
              <a:lumOff val="60000"/>
            </a:schemeClr>
          </a:solid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First Effect of Impulse to systems defined by First order ODE </a:t>
            </a:r>
          </a:p>
        </p:txBody>
      </p:sp>
      <p:sp>
        <p:nvSpPr>
          <p:cNvPr id="3" name="TextBox 2">
            <a:extLst>
              <a:ext uri="{FF2B5EF4-FFF2-40B4-BE49-F238E27FC236}">
                <a16:creationId xmlns:a16="http://schemas.microsoft.com/office/drawing/2014/main" id="{716585FD-90A6-6548-C47D-9228E6833601}"/>
              </a:ext>
            </a:extLst>
          </p:cNvPr>
          <p:cNvSpPr txBox="1"/>
          <p:nvPr/>
        </p:nvSpPr>
        <p:spPr>
          <a:xfrm>
            <a:off x="1996847" y="3514725"/>
            <a:ext cx="8895897" cy="1754326"/>
          </a:xfrm>
          <a:prstGeom prst="rect">
            <a:avLst/>
          </a:prstGeom>
          <a:noFill/>
        </p:spPr>
        <p:txBody>
          <a:bodyPr wrap="none" rtlCol="0">
            <a:spAutoFit/>
          </a:bodyPr>
          <a:lstStyle/>
          <a:p>
            <a:r>
              <a:rPr lang="en-IN" sz="3600" dirty="0"/>
              <a:t>The system variable get a nonzero initial value.</a:t>
            </a:r>
          </a:p>
          <a:p>
            <a:r>
              <a:rPr lang="en-IN" sz="3600" dirty="0"/>
              <a:t>That is, if y(t) is system variable then </a:t>
            </a:r>
          </a:p>
          <a:p>
            <a:r>
              <a:rPr lang="en-IN" sz="3600" dirty="0"/>
              <a:t>y(0</a:t>
            </a:r>
            <a:r>
              <a:rPr lang="en-IN" sz="3600" baseline="-25000" dirty="0"/>
              <a:t>+</a:t>
            </a:r>
            <a:r>
              <a:rPr lang="en-IN" sz="3600" dirty="0"/>
              <a:t>)= a </a:t>
            </a:r>
            <a:r>
              <a:rPr lang="en-IN" sz="3600" dirty="0" err="1"/>
              <a:t>non_zero</a:t>
            </a:r>
            <a:r>
              <a:rPr lang="en-IN" sz="3600" dirty="0"/>
              <a:t> value </a:t>
            </a:r>
          </a:p>
        </p:txBody>
      </p:sp>
    </p:spTree>
    <p:extLst>
      <p:ext uri="{BB962C8B-B14F-4D97-AF65-F5344CB8AC3E}">
        <p14:creationId xmlns:p14="http://schemas.microsoft.com/office/powerpoint/2010/main" val="2619740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C0384B9E-AB7E-660C-0364-5F178BFD2F8C}"/>
              </a:ext>
            </a:extLst>
          </p:cNvPr>
          <p:cNvGraphicFramePr>
            <a:graphicFrameLocks noChangeAspect="1"/>
          </p:cNvGraphicFramePr>
          <p:nvPr>
            <p:extLst>
              <p:ext uri="{D42A27DB-BD31-4B8C-83A1-F6EECF244321}">
                <p14:modId xmlns:p14="http://schemas.microsoft.com/office/powerpoint/2010/main" val="3787992226"/>
              </p:ext>
            </p:extLst>
          </p:nvPr>
        </p:nvGraphicFramePr>
        <p:xfrm>
          <a:off x="269895" y="54461"/>
          <a:ext cx="1553364" cy="487330"/>
        </p:xfrm>
        <a:graphic>
          <a:graphicData uri="http://schemas.openxmlformats.org/presentationml/2006/ole">
            <mc:AlternateContent xmlns:mc="http://schemas.openxmlformats.org/markup-compatibility/2006">
              <mc:Choice xmlns:v="urn:schemas-microsoft-com:vml" Requires="v">
                <p:oleObj name="Equation" r:id="rId2" imgW="647640" imgH="203040" progId="Equation.DSMT4">
                  <p:embed/>
                </p:oleObj>
              </mc:Choice>
              <mc:Fallback>
                <p:oleObj name="Equation" r:id="rId2" imgW="647640" imgH="203040" progId="Equation.DSMT4">
                  <p:embed/>
                  <p:pic>
                    <p:nvPicPr>
                      <p:cNvPr id="2" name="Object 1">
                        <a:extLst>
                          <a:ext uri="{FF2B5EF4-FFF2-40B4-BE49-F238E27FC236}">
                            <a16:creationId xmlns:a16="http://schemas.microsoft.com/office/drawing/2014/main" id="{C0384B9E-AB7E-660C-0364-5F178BFD2F8C}"/>
                          </a:ext>
                        </a:extLst>
                      </p:cNvPr>
                      <p:cNvPicPr/>
                      <p:nvPr/>
                    </p:nvPicPr>
                    <p:blipFill>
                      <a:blip r:embed="rId3"/>
                      <a:stretch>
                        <a:fillRect/>
                      </a:stretch>
                    </p:blipFill>
                    <p:spPr>
                      <a:xfrm>
                        <a:off x="269895" y="54461"/>
                        <a:ext cx="1553364" cy="487330"/>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2A7E1F8B-FA8F-4ECF-3B1F-906DD8E9FEFC}"/>
              </a:ext>
            </a:extLst>
          </p:cNvPr>
          <p:cNvGraphicFramePr>
            <a:graphicFrameLocks noChangeAspect="1"/>
          </p:cNvGraphicFramePr>
          <p:nvPr>
            <p:extLst>
              <p:ext uri="{D42A27DB-BD31-4B8C-83A1-F6EECF244321}">
                <p14:modId xmlns:p14="http://schemas.microsoft.com/office/powerpoint/2010/main" val="4130784752"/>
              </p:ext>
            </p:extLst>
          </p:nvPr>
        </p:nvGraphicFramePr>
        <p:xfrm>
          <a:off x="487492" y="669975"/>
          <a:ext cx="3273425" cy="3508375"/>
        </p:xfrm>
        <a:graphic>
          <a:graphicData uri="http://schemas.openxmlformats.org/presentationml/2006/ole">
            <mc:AlternateContent xmlns:mc="http://schemas.openxmlformats.org/markup-compatibility/2006">
              <mc:Choice xmlns:v="urn:schemas-microsoft-com:vml" Requires="v">
                <p:oleObj name="Equation" r:id="rId4" imgW="2463480" imgH="2641320" progId="Equation.DSMT4">
                  <p:embed/>
                </p:oleObj>
              </mc:Choice>
              <mc:Fallback>
                <p:oleObj name="Equation" r:id="rId4" imgW="2463480" imgH="2641320" progId="Equation.DSMT4">
                  <p:embed/>
                  <p:pic>
                    <p:nvPicPr>
                      <p:cNvPr id="3" name="Object 2">
                        <a:extLst>
                          <a:ext uri="{FF2B5EF4-FFF2-40B4-BE49-F238E27FC236}">
                            <a16:creationId xmlns:a16="http://schemas.microsoft.com/office/drawing/2014/main" id="{2A7E1F8B-FA8F-4ECF-3B1F-906DD8E9FEFC}"/>
                          </a:ext>
                        </a:extLst>
                      </p:cNvPr>
                      <p:cNvPicPr/>
                      <p:nvPr/>
                    </p:nvPicPr>
                    <p:blipFill>
                      <a:blip r:embed="rId5"/>
                      <a:stretch>
                        <a:fillRect/>
                      </a:stretch>
                    </p:blipFill>
                    <p:spPr>
                      <a:xfrm>
                        <a:off x="487492" y="669975"/>
                        <a:ext cx="3273425" cy="350837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7D21A54A-6B46-7F3D-B989-9145ACE6FA64}"/>
              </a:ext>
            </a:extLst>
          </p:cNvPr>
          <p:cNvGraphicFramePr>
            <a:graphicFrameLocks noChangeAspect="1"/>
          </p:cNvGraphicFramePr>
          <p:nvPr>
            <p:extLst>
              <p:ext uri="{D42A27DB-BD31-4B8C-83A1-F6EECF244321}">
                <p14:modId xmlns:p14="http://schemas.microsoft.com/office/powerpoint/2010/main" val="2133858639"/>
              </p:ext>
            </p:extLst>
          </p:nvPr>
        </p:nvGraphicFramePr>
        <p:xfrm>
          <a:off x="6054443" y="241812"/>
          <a:ext cx="4612466" cy="2903785"/>
        </p:xfrm>
        <a:graphic>
          <a:graphicData uri="http://schemas.openxmlformats.org/presentationml/2006/ole">
            <mc:AlternateContent xmlns:mc="http://schemas.openxmlformats.org/markup-compatibility/2006">
              <mc:Choice xmlns:v="urn:schemas-microsoft-com:vml" Requires="v">
                <p:oleObj name="Equation" r:id="rId6" imgW="3466800" imgH="2184120" progId="Equation.DSMT4">
                  <p:embed/>
                </p:oleObj>
              </mc:Choice>
              <mc:Fallback>
                <p:oleObj name="Equation" r:id="rId6" imgW="3466800" imgH="2184120" progId="Equation.DSMT4">
                  <p:embed/>
                  <p:pic>
                    <p:nvPicPr>
                      <p:cNvPr id="4" name="Object 3">
                        <a:extLst>
                          <a:ext uri="{FF2B5EF4-FFF2-40B4-BE49-F238E27FC236}">
                            <a16:creationId xmlns:a16="http://schemas.microsoft.com/office/drawing/2014/main" id="{7D21A54A-6B46-7F3D-B989-9145ACE6FA64}"/>
                          </a:ext>
                        </a:extLst>
                      </p:cNvPr>
                      <p:cNvPicPr/>
                      <p:nvPr/>
                    </p:nvPicPr>
                    <p:blipFill>
                      <a:blip r:embed="rId7"/>
                      <a:stretch>
                        <a:fillRect/>
                      </a:stretch>
                    </p:blipFill>
                    <p:spPr>
                      <a:xfrm>
                        <a:off x="6054443" y="241812"/>
                        <a:ext cx="4612466" cy="290378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1AB234A-13A2-B820-D110-25467D7E94C6}"/>
              </a:ext>
            </a:extLst>
          </p:cNvPr>
          <p:cNvGraphicFramePr>
            <a:graphicFrameLocks noChangeAspect="1"/>
          </p:cNvGraphicFramePr>
          <p:nvPr>
            <p:extLst>
              <p:ext uri="{D42A27DB-BD31-4B8C-83A1-F6EECF244321}">
                <p14:modId xmlns:p14="http://schemas.microsoft.com/office/powerpoint/2010/main" val="3482302427"/>
              </p:ext>
            </p:extLst>
          </p:nvPr>
        </p:nvGraphicFramePr>
        <p:xfrm>
          <a:off x="8226425" y="3429000"/>
          <a:ext cx="2946400" cy="3313112"/>
        </p:xfrm>
        <a:graphic>
          <a:graphicData uri="http://schemas.openxmlformats.org/presentationml/2006/ole">
            <mc:AlternateContent xmlns:mc="http://schemas.openxmlformats.org/markup-compatibility/2006">
              <mc:Choice xmlns:v="urn:schemas-microsoft-com:vml" Requires="v">
                <p:oleObj name="Equation" r:id="rId8" imgW="2349360" imgH="2641320" progId="Equation.DSMT4">
                  <p:embed/>
                </p:oleObj>
              </mc:Choice>
              <mc:Fallback>
                <p:oleObj name="Equation" r:id="rId8" imgW="2349360" imgH="2641320" progId="Equation.DSMT4">
                  <p:embed/>
                  <p:pic>
                    <p:nvPicPr>
                      <p:cNvPr id="5" name="Object 4">
                        <a:extLst>
                          <a:ext uri="{FF2B5EF4-FFF2-40B4-BE49-F238E27FC236}">
                            <a16:creationId xmlns:a16="http://schemas.microsoft.com/office/drawing/2014/main" id="{91AB234A-13A2-B820-D110-25467D7E94C6}"/>
                          </a:ext>
                        </a:extLst>
                      </p:cNvPr>
                      <p:cNvPicPr/>
                      <p:nvPr/>
                    </p:nvPicPr>
                    <p:blipFill>
                      <a:blip r:embed="rId9"/>
                      <a:stretch>
                        <a:fillRect/>
                      </a:stretch>
                    </p:blipFill>
                    <p:spPr>
                      <a:xfrm>
                        <a:off x="8226425" y="3429000"/>
                        <a:ext cx="2946400" cy="3313112"/>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1839D1B2-3CEA-305A-C730-765E47011453}"/>
              </a:ext>
            </a:extLst>
          </p:cNvPr>
          <p:cNvSpPr/>
          <p:nvPr/>
        </p:nvSpPr>
        <p:spPr>
          <a:xfrm>
            <a:off x="239862" y="518318"/>
            <a:ext cx="4764282" cy="3930536"/>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238677DB-339E-AE0B-5093-809C050B6964}"/>
              </a:ext>
            </a:extLst>
          </p:cNvPr>
          <p:cNvSpPr/>
          <p:nvPr/>
        </p:nvSpPr>
        <p:spPr>
          <a:xfrm>
            <a:off x="5548527" y="185500"/>
            <a:ext cx="5624298" cy="3016411"/>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7BB9BFC-7298-47C6-8207-BA823DED4D4E}"/>
              </a:ext>
            </a:extLst>
          </p:cNvPr>
          <p:cNvSpPr/>
          <p:nvPr/>
        </p:nvSpPr>
        <p:spPr>
          <a:xfrm>
            <a:off x="7724774" y="3314536"/>
            <a:ext cx="4333875" cy="3543464"/>
          </a:xfrm>
          <a:prstGeom prst="rect">
            <a:avLst/>
          </a:prstGeom>
          <a:noFill/>
          <a:ln w="412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10211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A58F5892-2078-7040-8575-6347F6BA2085}"/>
              </a:ext>
            </a:extLst>
          </p:cNvPr>
          <p:cNvGraphicFramePr>
            <a:graphicFrameLocks noChangeAspect="1"/>
          </p:cNvGraphicFramePr>
          <p:nvPr>
            <p:extLst>
              <p:ext uri="{D42A27DB-BD31-4B8C-83A1-F6EECF244321}">
                <p14:modId xmlns:p14="http://schemas.microsoft.com/office/powerpoint/2010/main" val="2111661788"/>
              </p:ext>
            </p:extLst>
          </p:nvPr>
        </p:nvGraphicFramePr>
        <p:xfrm>
          <a:off x="355552" y="820234"/>
          <a:ext cx="5072192" cy="4320933"/>
        </p:xfrm>
        <a:graphic>
          <a:graphicData uri="http://schemas.openxmlformats.org/presentationml/2006/ole">
            <mc:AlternateContent xmlns:mc="http://schemas.openxmlformats.org/markup-compatibility/2006">
              <mc:Choice xmlns:v="urn:schemas-microsoft-com:vml" Requires="v">
                <p:oleObj name="Equation" r:id="rId2" imgW="2565360" imgH="2184120" progId="Equation.DSMT4">
                  <p:embed/>
                </p:oleObj>
              </mc:Choice>
              <mc:Fallback>
                <p:oleObj name="Equation" r:id="rId2" imgW="2565360" imgH="2184120" progId="Equation.DSMT4">
                  <p:embed/>
                  <p:pic>
                    <p:nvPicPr>
                      <p:cNvPr id="6" name="Object 5">
                        <a:extLst>
                          <a:ext uri="{FF2B5EF4-FFF2-40B4-BE49-F238E27FC236}">
                            <a16:creationId xmlns:a16="http://schemas.microsoft.com/office/drawing/2014/main" id="{A4F121DA-59CC-B5B6-20C0-B6A882E72F95}"/>
                          </a:ext>
                        </a:extLst>
                      </p:cNvPr>
                      <p:cNvPicPr/>
                      <p:nvPr/>
                    </p:nvPicPr>
                    <p:blipFill>
                      <a:blip r:embed="rId3"/>
                      <a:stretch>
                        <a:fillRect/>
                      </a:stretch>
                    </p:blipFill>
                    <p:spPr>
                      <a:xfrm>
                        <a:off x="355552" y="820234"/>
                        <a:ext cx="5072192" cy="432093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FA3E3A59-BFBC-F688-A231-E3B784E94F32}"/>
              </a:ext>
            </a:extLst>
          </p:cNvPr>
          <p:cNvGraphicFramePr>
            <a:graphicFrameLocks noChangeAspect="1"/>
          </p:cNvGraphicFramePr>
          <p:nvPr>
            <p:extLst>
              <p:ext uri="{D42A27DB-BD31-4B8C-83A1-F6EECF244321}">
                <p14:modId xmlns:p14="http://schemas.microsoft.com/office/powerpoint/2010/main" val="2943971306"/>
              </p:ext>
            </p:extLst>
          </p:nvPr>
        </p:nvGraphicFramePr>
        <p:xfrm>
          <a:off x="6394580" y="948255"/>
          <a:ext cx="4866044" cy="4192912"/>
        </p:xfrm>
        <a:graphic>
          <a:graphicData uri="http://schemas.openxmlformats.org/presentationml/2006/ole">
            <mc:AlternateContent xmlns:mc="http://schemas.openxmlformats.org/markup-compatibility/2006">
              <mc:Choice xmlns:v="urn:schemas-microsoft-com:vml" Requires="v">
                <p:oleObj name="Equation" r:id="rId4" imgW="2565360" imgH="2209680" progId="Equation.DSMT4">
                  <p:embed/>
                </p:oleObj>
              </mc:Choice>
              <mc:Fallback>
                <p:oleObj name="Equation" r:id="rId4" imgW="2565360" imgH="2209680" progId="Equation.DSMT4">
                  <p:embed/>
                  <p:pic>
                    <p:nvPicPr>
                      <p:cNvPr id="7" name="Object 6">
                        <a:extLst>
                          <a:ext uri="{FF2B5EF4-FFF2-40B4-BE49-F238E27FC236}">
                            <a16:creationId xmlns:a16="http://schemas.microsoft.com/office/drawing/2014/main" id="{D55DF73B-6881-595E-3BA9-2426BBB129A9}"/>
                          </a:ext>
                        </a:extLst>
                      </p:cNvPr>
                      <p:cNvPicPr/>
                      <p:nvPr/>
                    </p:nvPicPr>
                    <p:blipFill>
                      <a:blip r:embed="rId5"/>
                      <a:stretch>
                        <a:fillRect/>
                      </a:stretch>
                    </p:blipFill>
                    <p:spPr>
                      <a:xfrm>
                        <a:off x="6394580" y="948255"/>
                        <a:ext cx="4866044" cy="4192912"/>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D917EA76-D522-B8F3-7923-BA29A9ECF01A}"/>
              </a:ext>
            </a:extLst>
          </p:cNvPr>
          <p:cNvSpPr/>
          <p:nvPr/>
        </p:nvSpPr>
        <p:spPr>
          <a:xfrm>
            <a:off x="161925" y="514350"/>
            <a:ext cx="5543550" cy="5610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26CB6AC7-054B-6C4A-4EED-70D8E25E7A36}"/>
              </a:ext>
            </a:extLst>
          </p:cNvPr>
          <p:cNvSpPr/>
          <p:nvPr/>
        </p:nvSpPr>
        <p:spPr>
          <a:xfrm>
            <a:off x="6096000" y="514349"/>
            <a:ext cx="5543550" cy="56102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34254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48E4A4-13FC-3216-23D0-B79B88F9A26C}"/>
              </a:ext>
            </a:extLst>
          </p:cNvPr>
          <p:cNvSpPr/>
          <p:nvPr/>
        </p:nvSpPr>
        <p:spPr>
          <a:xfrm>
            <a:off x="687216" y="2749629"/>
            <a:ext cx="10817577" cy="1569660"/>
          </a:xfrm>
          <a:prstGeom prst="rect">
            <a:avLst/>
          </a:prstGeom>
          <a:noFill/>
        </p:spPr>
        <p:txBody>
          <a:bodyPr wrap="none" lIns="91440" tIns="45720" rIns="91440" bIns="45720">
            <a:spAutoFit/>
          </a:bodyPr>
          <a:lstStyle/>
          <a:p>
            <a:pPr algn="ctr"/>
            <a:r>
              <a:rPr lang="en-US" sz="4800" b="0" cap="none" spc="0" dirty="0">
                <a:ln w="0"/>
                <a:solidFill>
                  <a:schemeClr val="tx1"/>
                </a:solidFill>
                <a:effectLst>
                  <a:outerShdw blurRad="38100" dist="19050" dir="2700000" algn="tl" rotWithShape="0">
                    <a:schemeClr val="dk1">
                      <a:alpha val="40000"/>
                    </a:schemeClr>
                  </a:outerShdw>
                </a:effectLst>
              </a:rPr>
              <a:t>2. Second order linear constant coefficient</a:t>
            </a:r>
          </a:p>
          <a:p>
            <a:pPr algn="ctr"/>
            <a:r>
              <a:rPr lang="en-US" sz="4800" b="0" cap="none" spc="0" dirty="0">
                <a:ln w="0"/>
                <a:solidFill>
                  <a:schemeClr val="tx1"/>
                </a:solidFill>
                <a:effectLst>
                  <a:outerShdw blurRad="38100" dist="19050" dir="2700000" algn="tl" rotWithShape="0">
                    <a:schemeClr val="dk1">
                      <a:alpha val="40000"/>
                    </a:schemeClr>
                  </a:outerShdw>
                </a:effectLst>
              </a:rPr>
              <a:t>ODEs (revision)</a:t>
            </a:r>
          </a:p>
        </p:txBody>
      </p:sp>
    </p:spTree>
    <p:extLst>
      <p:ext uri="{BB962C8B-B14F-4D97-AF65-F5344CB8AC3E}">
        <p14:creationId xmlns:p14="http://schemas.microsoft.com/office/powerpoint/2010/main" val="277963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277FBC-6025-D605-D29B-BCEB0BDA64C7}"/>
              </a:ext>
            </a:extLst>
          </p:cNvPr>
          <p:cNvSpPr/>
          <p:nvPr/>
        </p:nvSpPr>
        <p:spPr>
          <a:xfrm>
            <a:off x="1100843" y="47625"/>
            <a:ext cx="2461507" cy="584775"/>
          </a:xfrm>
          <a:prstGeom prst="rect">
            <a:avLst/>
          </a:prstGeom>
          <a:noFill/>
        </p:spPr>
        <p:txBody>
          <a:bodyPr wrap="non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rPr>
              <a:t>Second Order</a:t>
            </a:r>
          </a:p>
        </p:txBody>
      </p:sp>
      <p:graphicFrame>
        <p:nvGraphicFramePr>
          <p:cNvPr id="3" name="Object 2">
            <a:extLst>
              <a:ext uri="{FF2B5EF4-FFF2-40B4-BE49-F238E27FC236}">
                <a16:creationId xmlns:a16="http://schemas.microsoft.com/office/drawing/2014/main" id="{C97753F6-852D-615D-DCC2-ABABC6A42FE1}"/>
              </a:ext>
            </a:extLst>
          </p:cNvPr>
          <p:cNvGraphicFramePr>
            <a:graphicFrameLocks noChangeAspect="1"/>
          </p:cNvGraphicFramePr>
          <p:nvPr>
            <p:extLst>
              <p:ext uri="{D42A27DB-BD31-4B8C-83A1-F6EECF244321}">
                <p14:modId xmlns:p14="http://schemas.microsoft.com/office/powerpoint/2010/main" val="668796885"/>
              </p:ext>
            </p:extLst>
          </p:nvPr>
        </p:nvGraphicFramePr>
        <p:xfrm>
          <a:off x="338138" y="809625"/>
          <a:ext cx="8221662" cy="5848350"/>
        </p:xfrm>
        <a:graphic>
          <a:graphicData uri="http://schemas.openxmlformats.org/presentationml/2006/ole">
            <mc:AlternateContent xmlns:mc="http://schemas.openxmlformats.org/markup-compatibility/2006">
              <mc:Choice xmlns:v="urn:schemas-microsoft-com:vml" Requires="v">
                <p:oleObj name="Equation" r:id="rId2" imgW="4431960" imgH="3149280" progId="Equation.DSMT4">
                  <p:embed/>
                </p:oleObj>
              </mc:Choice>
              <mc:Fallback>
                <p:oleObj name="Equation" r:id="rId2" imgW="4431960" imgH="3149280" progId="Equation.DSMT4">
                  <p:embed/>
                  <p:pic>
                    <p:nvPicPr>
                      <p:cNvPr id="2" name="Object 1">
                        <a:extLst>
                          <a:ext uri="{FF2B5EF4-FFF2-40B4-BE49-F238E27FC236}">
                            <a16:creationId xmlns:a16="http://schemas.microsoft.com/office/drawing/2014/main" id="{B8293ABA-7A62-3629-705F-A7B340A138F3}"/>
                          </a:ext>
                        </a:extLst>
                      </p:cNvPr>
                      <p:cNvPicPr/>
                      <p:nvPr/>
                    </p:nvPicPr>
                    <p:blipFill>
                      <a:blip r:embed="rId3"/>
                      <a:stretch>
                        <a:fillRect/>
                      </a:stretch>
                    </p:blipFill>
                    <p:spPr>
                      <a:xfrm>
                        <a:off x="338138" y="809625"/>
                        <a:ext cx="8221662" cy="584835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0211CCC3-6914-EE0D-2D48-8B1C1F10305B}"/>
              </a:ext>
            </a:extLst>
          </p:cNvPr>
          <p:cNvSpPr/>
          <p:nvPr/>
        </p:nvSpPr>
        <p:spPr>
          <a:xfrm>
            <a:off x="7281748" y="163294"/>
            <a:ext cx="4175353" cy="646331"/>
          </a:xfrm>
          <a:prstGeom prst="rect">
            <a:avLst/>
          </a:prstGeom>
          <a:solidFill>
            <a:schemeClr val="accent4">
              <a:lumMod val="40000"/>
              <a:lumOff val="60000"/>
            </a:schemeClr>
          </a:solid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Zero input solution  </a:t>
            </a:r>
          </a:p>
        </p:txBody>
      </p:sp>
      <p:graphicFrame>
        <p:nvGraphicFramePr>
          <p:cNvPr id="5" name="Object 4">
            <a:extLst>
              <a:ext uri="{FF2B5EF4-FFF2-40B4-BE49-F238E27FC236}">
                <a16:creationId xmlns:a16="http://schemas.microsoft.com/office/drawing/2014/main" id="{C8E8FD1C-BE93-A45C-56BD-92C562A63BCF}"/>
              </a:ext>
            </a:extLst>
          </p:cNvPr>
          <p:cNvGraphicFramePr>
            <a:graphicFrameLocks noChangeAspect="1"/>
          </p:cNvGraphicFramePr>
          <p:nvPr>
            <p:extLst>
              <p:ext uri="{D42A27DB-BD31-4B8C-83A1-F6EECF244321}">
                <p14:modId xmlns:p14="http://schemas.microsoft.com/office/powerpoint/2010/main" val="72938365"/>
              </p:ext>
            </p:extLst>
          </p:nvPr>
        </p:nvGraphicFramePr>
        <p:xfrm>
          <a:off x="6188074" y="5370512"/>
          <a:ext cx="5189621" cy="573087"/>
        </p:xfrm>
        <a:graphic>
          <a:graphicData uri="http://schemas.openxmlformats.org/presentationml/2006/ole">
            <mc:AlternateContent xmlns:mc="http://schemas.openxmlformats.org/markup-compatibility/2006">
              <mc:Choice xmlns:v="urn:schemas-microsoft-com:vml" Requires="v">
                <p:oleObj name="Equation" r:id="rId4" imgW="2070000" imgH="228600" progId="Equation.DSMT4">
                  <p:embed/>
                </p:oleObj>
              </mc:Choice>
              <mc:Fallback>
                <p:oleObj name="Equation" r:id="rId4" imgW="2070000" imgH="228600" progId="Equation.DSMT4">
                  <p:embed/>
                  <p:pic>
                    <p:nvPicPr>
                      <p:cNvPr id="0" name=""/>
                      <p:cNvPicPr/>
                      <p:nvPr/>
                    </p:nvPicPr>
                    <p:blipFill>
                      <a:blip r:embed="rId5"/>
                      <a:stretch>
                        <a:fillRect/>
                      </a:stretch>
                    </p:blipFill>
                    <p:spPr>
                      <a:xfrm>
                        <a:off x="6188074" y="5370512"/>
                        <a:ext cx="5189621" cy="573087"/>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DCCDF8BC-F72C-11CC-A660-B21A716406AD}"/>
              </a:ext>
            </a:extLst>
          </p:cNvPr>
          <p:cNvSpPr/>
          <p:nvPr/>
        </p:nvSpPr>
        <p:spPr>
          <a:xfrm>
            <a:off x="6188074" y="5124450"/>
            <a:ext cx="5269027" cy="1228725"/>
          </a:xfrm>
          <a:prstGeom prst="rect">
            <a:avLst/>
          </a:prstGeom>
          <a:no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15641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FD18B1AB-55FA-9942-AB51-0CF970E67013}"/>
              </a:ext>
            </a:extLst>
          </p:cNvPr>
          <p:cNvGraphicFramePr>
            <a:graphicFrameLocks noChangeAspect="1"/>
          </p:cNvGraphicFramePr>
          <p:nvPr>
            <p:extLst>
              <p:ext uri="{D42A27DB-BD31-4B8C-83A1-F6EECF244321}">
                <p14:modId xmlns:p14="http://schemas.microsoft.com/office/powerpoint/2010/main" val="996979142"/>
              </p:ext>
            </p:extLst>
          </p:nvPr>
        </p:nvGraphicFramePr>
        <p:xfrm>
          <a:off x="381000" y="119062"/>
          <a:ext cx="5956708" cy="3548063"/>
        </p:xfrm>
        <a:graphic>
          <a:graphicData uri="http://schemas.openxmlformats.org/presentationml/2006/ole">
            <mc:AlternateContent xmlns:mc="http://schemas.openxmlformats.org/markup-compatibility/2006">
              <mc:Choice xmlns:v="urn:schemas-microsoft-com:vml" Requires="v">
                <p:oleObj name="Equation" r:id="rId2" imgW="3454200" imgH="2057400" progId="Equation.DSMT4">
                  <p:embed/>
                </p:oleObj>
              </mc:Choice>
              <mc:Fallback>
                <p:oleObj name="Equation" r:id="rId2" imgW="3454200" imgH="2057400" progId="Equation.DSMT4">
                  <p:embed/>
                  <p:pic>
                    <p:nvPicPr>
                      <p:cNvPr id="3" name="Object 2">
                        <a:extLst>
                          <a:ext uri="{FF2B5EF4-FFF2-40B4-BE49-F238E27FC236}">
                            <a16:creationId xmlns:a16="http://schemas.microsoft.com/office/drawing/2014/main" id="{2A7E1F8B-FA8F-4ECF-3B1F-906DD8E9FEFC}"/>
                          </a:ext>
                        </a:extLst>
                      </p:cNvPr>
                      <p:cNvPicPr/>
                      <p:nvPr/>
                    </p:nvPicPr>
                    <p:blipFill>
                      <a:blip r:embed="rId3"/>
                      <a:stretch>
                        <a:fillRect/>
                      </a:stretch>
                    </p:blipFill>
                    <p:spPr>
                      <a:xfrm>
                        <a:off x="381000" y="119062"/>
                        <a:ext cx="5956708" cy="3548063"/>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3A71EB30-D024-031B-3601-797B0A30E3B1}"/>
              </a:ext>
            </a:extLst>
          </p:cNvPr>
          <p:cNvGraphicFramePr>
            <a:graphicFrameLocks noChangeAspect="1"/>
          </p:cNvGraphicFramePr>
          <p:nvPr>
            <p:extLst>
              <p:ext uri="{D42A27DB-BD31-4B8C-83A1-F6EECF244321}">
                <p14:modId xmlns:p14="http://schemas.microsoft.com/office/powerpoint/2010/main" val="3277580893"/>
              </p:ext>
            </p:extLst>
          </p:nvPr>
        </p:nvGraphicFramePr>
        <p:xfrm>
          <a:off x="5048250" y="2557462"/>
          <a:ext cx="6308514" cy="3757613"/>
        </p:xfrm>
        <a:graphic>
          <a:graphicData uri="http://schemas.openxmlformats.org/presentationml/2006/ole">
            <mc:AlternateContent xmlns:mc="http://schemas.openxmlformats.org/markup-compatibility/2006">
              <mc:Choice xmlns:v="urn:schemas-microsoft-com:vml" Requires="v">
                <p:oleObj name="Equation" r:id="rId4" imgW="3454200" imgH="2057400" progId="Equation.DSMT4">
                  <p:embed/>
                </p:oleObj>
              </mc:Choice>
              <mc:Fallback>
                <p:oleObj name="Equation" r:id="rId4" imgW="3454200" imgH="2057400" progId="Equation.DSMT4">
                  <p:embed/>
                  <p:pic>
                    <p:nvPicPr>
                      <p:cNvPr id="2" name="Object 1">
                        <a:extLst>
                          <a:ext uri="{FF2B5EF4-FFF2-40B4-BE49-F238E27FC236}">
                            <a16:creationId xmlns:a16="http://schemas.microsoft.com/office/drawing/2014/main" id="{FD18B1AB-55FA-9942-AB51-0CF970E67013}"/>
                          </a:ext>
                        </a:extLst>
                      </p:cNvPr>
                      <p:cNvPicPr/>
                      <p:nvPr/>
                    </p:nvPicPr>
                    <p:blipFill>
                      <a:blip r:embed="rId5"/>
                      <a:stretch>
                        <a:fillRect/>
                      </a:stretch>
                    </p:blipFill>
                    <p:spPr>
                      <a:xfrm>
                        <a:off x="5048250" y="2557462"/>
                        <a:ext cx="6308514" cy="3757613"/>
                      </a:xfrm>
                      <a:prstGeom prst="rect">
                        <a:avLst/>
                      </a:prstGeom>
                    </p:spPr>
                  </p:pic>
                </p:oleObj>
              </mc:Fallback>
            </mc:AlternateContent>
          </a:graphicData>
        </a:graphic>
      </p:graphicFrame>
    </p:spTree>
    <p:extLst>
      <p:ext uri="{BB962C8B-B14F-4D97-AF65-F5344CB8AC3E}">
        <p14:creationId xmlns:p14="http://schemas.microsoft.com/office/powerpoint/2010/main" val="4225477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7522D6-83E4-5861-F618-535BFF9B644B}"/>
              </a:ext>
            </a:extLst>
          </p:cNvPr>
          <p:cNvSpPr/>
          <p:nvPr/>
        </p:nvSpPr>
        <p:spPr>
          <a:xfrm>
            <a:off x="8016647" y="121298"/>
            <a:ext cx="4175353" cy="646331"/>
          </a:xfrm>
          <a:prstGeom prst="rect">
            <a:avLst/>
          </a:prstGeom>
          <a:solidFill>
            <a:schemeClr val="accent4">
              <a:lumMod val="40000"/>
              <a:lumOff val="60000"/>
            </a:schemeClr>
          </a:solidFill>
        </p:spPr>
        <p:txBody>
          <a:bodyPr wrap="squar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Impulse response</a:t>
            </a:r>
          </a:p>
        </p:txBody>
      </p:sp>
      <p:graphicFrame>
        <p:nvGraphicFramePr>
          <p:cNvPr id="3" name="Object 2">
            <a:extLst>
              <a:ext uri="{FF2B5EF4-FFF2-40B4-BE49-F238E27FC236}">
                <a16:creationId xmlns:a16="http://schemas.microsoft.com/office/drawing/2014/main" id="{D5B9C3CA-9E27-4680-B9AB-242CBE4BE34C}"/>
              </a:ext>
            </a:extLst>
          </p:cNvPr>
          <p:cNvGraphicFramePr>
            <a:graphicFrameLocks noChangeAspect="1"/>
          </p:cNvGraphicFramePr>
          <p:nvPr>
            <p:extLst>
              <p:ext uri="{D42A27DB-BD31-4B8C-83A1-F6EECF244321}">
                <p14:modId xmlns:p14="http://schemas.microsoft.com/office/powerpoint/2010/main" val="2158393725"/>
              </p:ext>
            </p:extLst>
          </p:nvPr>
        </p:nvGraphicFramePr>
        <p:xfrm>
          <a:off x="357793" y="444463"/>
          <a:ext cx="7635122" cy="3723887"/>
        </p:xfrm>
        <a:graphic>
          <a:graphicData uri="http://schemas.openxmlformats.org/presentationml/2006/ole">
            <mc:AlternateContent xmlns:mc="http://schemas.openxmlformats.org/markup-compatibility/2006">
              <mc:Choice xmlns:v="urn:schemas-microsoft-com:vml" Requires="v">
                <p:oleObj name="Equation" r:id="rId2" imgW="4940280" imgH="2209680" progId="Equation.DSMT4">
                  <p:embed/>
                </p:oleObj>
              </mc:Choice>
              <mc:Fallback>
                <p:oleObj name="Equation" r:id="rId2" imgW="4940280" imgH="2209680" progId="Equation.DSMT4">
                  <p:embed/>
                  <p:pic>
                    <p:nvPicPr>
                      <p:cNvPr id="3" name="Object 2">
                        <a:extLst>
                          <a:ext uri="{FF2B5EF4-FFF2-40B4-BE49-F238E27FC236}">
                            <a16:creationId xmlns:a16="http://schemas.microsoft.com/office/drawing/2014/main" id="{C97753F6-852D-615D-DCC2-ABABC6A42FE1}"/>
                          </a:ext>
                        </a:extLst>
                      </p:cNvPr>
                      <p:cNvPicPr/>
                      <p:nvPr/>
                    </p:nvPicPr>
                    <p:blipFill>
                      <a:blip r:embed="rId3"/>
                      <a:stretch>
                        <a:fillRect/>
                      </a:stretch>
                    </p:blipFill>
                    <p:spPr>
                      <a:xfrm>
                        <a:off x="357793" y="444463"/>
                        <a:ext cx="7635122" cy="3723887"/>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51C2B76-4466-9FA0-727C-A16F723CDF28}"/>
              </a:ext>
            </a:extLst>
          </p:cNvPr>
          <p:cNvGrpSpPr/>
          <p:nvPr/>
        </p:nvGrpSpPr>
        <p:grpSpPr>
          <a:xfrm>
            <a:off x="8940047" y="1816669"/>
            <a:ext cx="2712955" cy="4024761"/>
            <a:chOff x="8854322" y="1563860"/>
            <a:chExt cx="2712955" cy="4024761"/>
          </a:xfrm>
        </p:grpSpPr>
        <p:pic>
          <p:nvPicPr>
            <p:cNvPr id="7" name="Picture 6">
              <a:extLst>
                <a:ext uri="{FF2B5EF4-FFF2-40B4-BE49-F238E27FC236}">
                  <a16:creationId xmlns:a16="http://schemas.microsoft.com/office/drawing/2014/main" id="{1ED9AB1E-A752-DA74-A901-6FD572C3B471}"/>
                </a:ext>
              </a:extLst>
            </p:cNvPr>
            <p:cNvPicPr>
              <a:picLocks noChangeAspect="1"/>
            </p:cNvPicPr>
            <p:nvPr/>
          </p:nvPicPr>
          <p:blipFill>
            <a:blip r:embed="rId4"/>
            <a:stretch>
              <a:fillRect/>
            </a:stretch>
          </p:blipFill>
          <p:spPr>
            <a:xfrm>
              <a:off x="8854322" y="1563860"/>
              <a:ext cx="2712955" cy="3330229"/>
            </a:xfrm>
            <a:prstGeom prst="rect">
              <a:avLst/>
            </a:prstGeom>
          </p:spPr>
        </p:pic>
        <p:cxnSp>
          <p:nvCxnSpPr>
            <p:cNvPr id="9" name="Straight Arrow Connector 8">
              <a:extLst>
                <a:ext uri="{FF2B5EF4-FFF2-40B4-BE49-F238E27FC236}">
                  <a16:creationId xmlns:a16="http://schemas.microsoft.com/office/drawing/2014/main" id="{2BBD3111-791C-589C-B6C5-179C3E8E4F5F}"/>
                </a:ext>
              </a:extLst>
            </p:cNvPr>
            <p:cNvCxnSpPr>
              <a:cxnSpLocks/>
            </p:cNvCxnSpPr>
            <p:nvPr/>
          </p:nvCxnSpPr>
          <p:spPr>
            <a:xfrm flipH="1">
              <a:off x="10104323" y="4827414"/>
              <a:ext cx="1" cy="7066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9">
              <a:extLst>
                <a:ext uri="{FF2B5EF4-FFF2-40B4-BE49-F238E27FC236}">
                  <a16:creationId xmlns:a16="http://schemas.microsoft.com/office/drawing/2014/main" id="{B0457E99-5EE8-613D-41EA-6E3F1D407F1D}"/>
                </a:ext>
              </a:extLst>
            </p:cNvPr>
            <p:cNvGraphicFramePr>
              <a:graphicFrameLocks noChangeAspect="1"/>
            </p:cNvGraphicFramePr>
            <p:nvPr>
              <p:extLst>
                <p:ext uri="{D42A27DB-BD31-4B8C-83A1-F6EECF244321}">
                  <p14:modId xmlns:p14="http://schemas.microsoft.com/office/powerpoint/2010/main" val="3474370421"/>
                </p:ext>
              </p:extLst>
            </p:nvPr>
          </p:nvGraphicFramePr>
          <p:xfrm>
            <a:off x="10104323" y="4999659"/>
            <a:ext cx="846633" cy="588962"/>
          </p:xfrm>
          <a:graphic>
            <a:graphicData uri="http://schemas.openxmlformats.org/presentationml/2006/ole">
              <mc:AlternateContent xmlns:mc="http://schemas.openxmlformats.org/markup-compatibility/2006">
                <mc:Choice xmlns:v="urn:schemas-microsoft-com:vml" Requires="v">
                  <p:oleObj name="Equation" r:id="rId5" imgW="291960" imgH="203040" progId="Equation.DSMT4">
                    <p:embed/>
                  </p:oleObj>
                </mc:Choice>
                <mc:Fallback>
                  <p:oleObj name="Equation" r:id="rId5" imgW="291960" imgH="203040" progId="Equation.DSMT4">
                    <p:embed/>
                    <p:pic>
                      <p:nvPicPr>
                        <p:cNvPr id="0" name=""/>
                        <p:cNvPicPr/>
                        <p:nvPr/>
                      </p:nvPicPr>
                      <p:blipFill>
                        <a:blip r:embed="rId6"/>
                        <a:stretch>
                          <a:fillRect/>
                        </a:stretch>
                      </p:blipFill>
                      <p:spPr>
                        <a:xfrm>
                          <a:off x="10104323" y="4999659"/>
                          <a:ext cx="846633" cy="588962"/>
                        </a:xfrm>
                        <a:prstGeom prst="rect">
                          <a:avLst/>
                        </a:prstGeom>
                      </p:spPr>
                    </p:pic>
                  </p:oleObj>
                </mc:Fallback>
              </mc:AlternateContent>
            </a:graphicData>
          </a:graphic>
        </p:graphicFrame>
      </p:grpSp>
      <p:sp>
        <p:nvSpPr>
          <p:cNvPr id="12" name="TextBox 11">
            <a:extLst>
              <a:ext uri="{FF2B5EF4-FFF2-40B4-BE49-F238E27FC236}">
                <a16:creationId xmlns:a16="http://schemas.microsoft.com/office/drawing/2014/main" id="{21B23250-2BAE-92A5-960A-C1582B74439E}"/>
              </a:ext>
            </a:extLst>
          </p:cNvPr>
          <p:cNvSpPr txBox="1"/>
          <p:nvPr/>
        </p:nvSpPr>
        <p:spPr>
          <a:xfrm>
            <a:off x="62663" y="4382588"/>
            <a:ext cx="9272111" cy="2554545"/>
          </a:xfrm>
          <a:prstGeom prst="rect">
            <a:avLst/>
          </a:prstGeom>
          <a:solidFill>
            <a:schemeClr val="accent2">
              <a:lumMod val="40000"/>
              <a:lumOff val="60000"/>
            </a:schemeClr>
          </a:solidFill>
        </p:spPr>
        <p:txBody>
          <a:bodyPr wrap="square" rtlCol="0">
            <a:spAutoFit/>
          </a:bodyPr>
          <a:lstStyle/>
          <a:p>
            <a:r>
              <a:rPr lang="en-IN" sz="3200" dirty="0"/>
              <a:t>Physical Interpretation:</a:t>
            </a:r>
          </a:p>
          <a:p>
            <a:r>
              <a:rPr lang="en-IN" sz="3200" dirty="0"/>
              <a:t>If impulse is given to the mass in the figure</a:t>
            </a:r>
          </a:p>
          <a:p>
            <a:r>
              <a:rPr lang="en-IN" sz="3200" dirty="0"/>
              <a:t>the first thing to happen is that the energy of impulse is transferred as  Kinetic energy of Mass and Mass gets an initial velocity. </a:t>
            </a:r>
          </a:p>
        </p:txBody>
      </p:sp>
    </p:spTree>
    <p:extLst>
      <p:ext uri="{BB962C8B-B14F-4D97-AF65-F5344CB8AC3E}">
        <p14:creationId xmlns:p14="http://schemas.microsoft.com/office/powerpoint/2010/main" val="2934663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578F8F-FE87-0CB9-FE11-6AB496FBE2C3}"/>
              </a:ext>
            </a:extLst>
          </p:cNvPr>
          <p:cNvSpPr/>
          <p:nvPr/>
        </p:nvSpPr>
        <p:spPr>
          <a:xfrm>
            <a:off x="1450782" y="1662410"/>
            <a:ext cx="8071248" cy="2585323"/>
          </a:xfrm>
          <a:prstGeom prst="rect">
            <a:avLst/>
          </a:prstGeom>
          <a:solidFill>
            <a:schemeClr val="accent2">
              <a:lumMod val="40000"/>
              <a:lumOff val="60000"/>
            </a:schemeClr>
          </a:solid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In second order system, the</a:t>
            </a:r>
          </a:p>
          <a:p>
            <a:pPr algn="ctr"/>
            <a:r>
              <a:rPr lang="en-US" sz="5400" dirty="0">
                <a:ln w="0"/>
                <a:effectLst>
                  <a:outerShdw blurRad="38100" dist="19050" dir="2700000" algn="tl" rotWithShape="0">
                    <a:schemeClr val="dk1">
                      <a:alpha val="40000"/>
                    </a:schemeClr>
                  </a:outerShdw>
                </a:effectLst>
              </a:rPr>
              <a:t>effect of impulse appears</a:t>
            </a:r>
          </a:p>
          <a:p>
            <a:pPr algn="ctr"/>
            <a:r>
              <a:rPr lang="en-US" sz="5400" dirty="0">
                <a:ln w="0"/>
                <a:effectLst>
                  <a:outerShdw blurRad="38100" dist="19050" dir="2700000" algn="tl" rotWithShape="0">
                    <a:schemeClr val="dk1">
                      <a:alpha val="40000"/>
                    </a:schemeClr>
                  </a:outerShdw>
                </a:effectLst>
              </a:rPr>
              <a:t>as  a nonzero value to y’(0</a:t>
            </a:r>
            <a:r>
              <a:rPr lang="en-US" sz="5400" baseline="-25000" dirty="0">
                <a:ln w="0"/>
                <a:effectLst>
                  <a:outerShdw blurRad="38100" dist="19050" dir="2700000" algn="tl" rotWithShape="0">
                    <a:schemeClr val="dk1">
                      <a:alpha val="40000"/>
                    </a:schemeClr>
                  </a:outerShdw>
                </a:effectLst>
              </a:rPr>
              <a:t>+</a:t>
            </a:r>
            <a:r>
              <a:rPr lang="en-US" sz="5400" dirty="0">
                <a:ln w="0"/>
                <a:effectLst>
                  <a:outerShdw blurRad="38100" dist="19050" dir="2700000" algn="tl" rotWithShape="0">
                    <a:schemeClr val="dk1">
                      <a:alpha val="40000"/>
                    </a:schemeClr>
                  </a:outerShdw>
                </a:effectLst>
              </a:rPr>
              <a:t>)</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923185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A85257AA-EC87-54C0-FACA-0E0962EC6B0A}"/>
              </a:ext>
            </a:extLst>
          </p:cNvPr>
          <p:cNvGraphicFramePr>
            <a:graphicFrameLocks noChangeAspect="1"/>
          </p:cNvGraphicFramePr>
          <p:nvPr>
            <p:extLst>
              <p:ext uri="{D42A27DB-BD31-4B8C-83A1-F6EECF244321}">
                <p14:modId xmlns:p14="http://schemas.microsoft.com/office/powerpoint/2010/main" val="3775218371"/>
              </p:ext>
            </p:extLst>
          </p:nvPr>
        </p:nvGraphicFramePr>
        <p:xfrm>
          <a:off x="1081088" y="333375"/>
          <a:ext cx="8951912" cy="5770563"/>
        </p:xfrm>
        <a:graphic>
          <a:graphicData uri="http://schemas.openxmlformats.org/presentationml/2006/ole">
            <mc:AlternateContent xmlns:mc="http://schemas.openxmlformats.org/markup-compatibility/2006">
              <mc:Choice xmlns:v="urn:schemas-microsoft-com:vml" Requires="v">
                <p:oleObj name="Equation" r:id="rId2" imgW="4940280" imgH="2920680" progId="Equation.DSMT4">
                  <p:embed/>
                </p:oleObj>
              </mc:Choice>
              <mc:Fallback>
                <p:oleObj name="Equation" r:id="rId2" imgW="4940280" imgH="2920680" progId="Equation.DSMT4">
                  <p:embed/>
                  <p:pic>
                    <p:nvPicPr>
                      <p:cNvPr id="3" name="Object 2">
                        <a:extLst>
                          <a:ext uri="{FF2B5EF4-FFF2-40B4-BE49-F238E27FC236}">
                            <a16:creationId xmlns:a16="http://schemas.microsoft.com/office/drawing/2014/main" id="{D5B9C3CA-9E27-4680-B9AB-242CBE4BE34C}"/>
                          </a:ext>
                        </a:extLst>
                      </p:cNvPr>
                      <p:cNvPicPr/>
                      <p:nvPr/>
                    </p:nvPicPr>
                    <p:blipFill>
                      <a:blip r:embed="rId3"/>
                      <a:stretch>
                        <a:fillRect/>
                      </a:stretch>
                    </p:blipFill>
                    <p:spPr>
                      <a:xfrm>
                        <a:off x="1081088" y="333375"/>
                        <a:ext cx="8951912" cy="5770563"/>
                      </a:xfrm>
                      <a:prstGeom prst="rect">
                        <a:avLst/>
                      </a:prstGeom>
                    </p:spPr>
                  </p:pic>
                </p:oleObj>
              </mc:Fallback>
            </mc:AlternateContent>
          </a:graphicData>
        </a:graphic>
      </p:graphicFrame>
    </p:spTree>
    <p:extLst>
      <p:ext uri="{BB962C8B-B14F-4D97-AF65-F5344CB8AC3E}">
        <p14:creationId xmlns:p14="http://schemas.microsoft.com/office/powerpoint/2010/main" val="2184002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E884F6-8BBB-01C2-EDAB-183BC4C4788F}"/>
              </a:ext>
            </a:extLst>
          </p:cNvPr>
          <p:cNvSpPr/>
          <p:nvPr/>
        </p:nvSpPr>
        <p:spPr>
          <a:xfrm>
            <a:off x="3846753" y="54242"/>
            <a:ext cx="4041299" cy="1323439"/>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Challenge </a:t>
            </a:r>
          </a:p>
          <a:p>
            <a:pPr algn="ctr"/>
            <a:r>
              <a:rPr lang="en-US" sz="4000" dirty="0">
                <a:ln w="0"/>
                <a:effectLst>
                  <a:outerShdw blurRad="38100" dist="19050" dir="2700000" algn="tl" rotWithShape="0">
                    <a:schemeClr val="dk1">
                      <a:alpha val="40000"/>
                    </a:schemeClr>
                  </a:outerShdw>
                </a:effectLst>
              </a:rPr>
              <a:t>How will you solve</a:t>
            </a:r>
            <a:endParaRPr lang="en-US" sz="40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3" name="Object 2">
            <a:extLst>
              <a:ext uri="{FF2B5EF4-FFF2-40B4-BE49-F238E27FC236}">
                <a16:creationId xmlns:a16="http://schemas.microsoft.com/office/drawing/2014/main" id="{3E423192-4A24-8CFC-0BAC-B1E66ACC3F10}"/>
              </a:ext>
            </a:extLst>
          </p:cNvPr>
          <p:cNvGraphicFramePr>
            <a:graphicFrameLocks noChangeAspect="1"/>
          </p:cNvGraphicFramePr>
          <p:nvPr>
            <p:extLst>
              <p:ext uri="{D42A27DB-BD31-4B8C-83A1-F6EECF244321}">
                <p14:modId xmlns:p14="http://schemas.microsoft.com/office/powerpoint/2010/main" val="3243939744"/>
              </p:ext>
            </p:extLst>
          </p:nvPr>
        </p:nvGraphicFramePr>
        <p:xfrm>
          <a:off x="1731963" y="3009931"/>
          <a:ext cx="6696075" cy="2108200"/>
        </p:xfrm>
        <a:graphic>
          <a:graphicData uri="http://schemas.openxmlformats.org/presentationml/2006/ole">
            <mc:AlternateContent xmlns:mc="http://schemas.openxmlformats.org/markup-compatibility/2006">
              <mc:Choice xmlns:v="urn:schemas-microsoft-com:vml" Requires="v">
                <p:oleObj name="Equation" r:id="rId2" imgW="3695400" imgH="1066680" progId="Equation.DSMT4">
                  <p:embed/>
                </p:oleObj>
              </mc:Choice>
              <mc:Fallback>
                <p:oleObj name="Equation" r:id="rId2" imgW="3695400" imgH="1066680" progId="Equation.DSMT4">
                  <p:embed/>
                  <p:pic>
                    <p:nvPicPr>
                      <p:cNvPr id="2" name="Object 1">
                        <a:extLst>
                          <a:ext uri="{FF2B5EF4-FFF2-40B4-BE49-F238E27FC236}">
                            <a16:creationId xmlns:a16="http://schemas.microsoft.com/office/drawing/2014/main" id="{A85257AA-EC87-54C0-FACA-0E0962EC6B0A}"/>
                          </a:ext>
                        </a:extLst>
                      </p:cNvPr>
                      <p:cNvPicPr/>
                      <p:nvPr/>
                    </p:nvPicPr>
                    <p:blipFill>
                      <a:blip r:embed="rId3"/>
                      <a:stretch>
                        <a:fillRect/>
                      </a:stretch>
                    </p:blipFill>
                    <p:spPr>
                      <a:xfrm>
                        <a:off x="1731963" y="3009931"/>
                        <a:ext cx="6696075" cy="2108200"/>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3E216BEE-19C4-7B2A-A163-40B66C524DC8}"/>
              </a:ext>
            </a:extLst>
          </p:cNvPr>
          <p:cNvSpPr/>
          <p:nvPr/>
        </p:nvSpPr>
        <p:spPr>
          <a:xfrm>
            <a:off x="490170" y="1576854"/>
            <a:ext cx="11211660" cy="769441"/>
          </a:xfrm>
          <a:prstGeom prst="rect">
            <a:avLst/>
          </a:prstGeom>
          <a:noFill/>
        </p:spPr>
        <p:txBody>
          <a:bodyPr wrap="none" lIns="91440" tIns="45720" rIns="91440" bIns="45720">
            <a:spAutoFit/>
          </a:bodyPr>
          <a:lstStyle/>
          <a:p>
            <a:pPr algn="ctr"/>
            <a:r>
              <a:rPr lang="en-US" sz="4400" b="0" cap="none" spc="0" dirty="0">
                <a:ln w="0"/>
                <a:solidFill>
                  <a:schemeClr val="tx1"/>
                </a:solidFill>
                <a:effectLst>
                  <a:outerShdw blurRad="38100" dist="19050" dir="2700000" algn="tl" rotWithShape="0">
                    <a:schemeClr val="dk1">
                      <a:alpha val="40000"/>
                    </a:schemeClr>
                  </a:outerShdw>
                </a:effectLst>
              </a:rPr>
              <a:t>Assignment to be submitted on Monday 9/1/23 </a:t>
            </a:r>
          </a:p>
        </p:txBody>
      </p:sp>
    </p:spTree>
    <p:extLst>
      <p:ext uri="{BB962C8B-B14F-4D97-AF65-F5344CB8AC3E}">
        <p14:creationId xmlns:p14="http://schemas.microsoft.com/office/powerpoint/2010/main" val="3140368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A799FBA8-D268-FD9E-EECA-B28585BCAEAB}"/>
              </a:ext>
            </a:extLst>
          </p:cNvPr>
          <p:cNvGraphicFramePr>
            <a:graphicFrameLocks noChangeAspect="1"/>
          </p:cNvGraphicFramePr>
          <p:nvPr>
            <p:extLst>
              <p:ext uri="{D42A27DB-BD31-4B8C-83A1-F6EECF244321}">
                <p14:modId xmlns:p14="http://schemas.microsoft.com/office/powerpoint/2010/main" val="3779923792"/>
              </p:ext>
            </p:extLst>
          </p:nvPr>
        </p:nvGraphicFramePr>
        <p:xfrm>
          <a:off x="781050" y="650477"/>
          <a:ext cx="10519330" cy="2835673"/>
        </p:xfrm>
        <a:graphic>
          <a:graphicData uri="http://schemas.openxmlformats.org/presentationml/2006/ole">
            <mc:AlternateContent xmlns:mc="http://schemas.openxmlformats.org/markup-compatibility/2006">
              <mc:Choice xmlns:v="urn:schemas-microsoft-com:vml" Requires="v">
                <p:oleObj name="Equation" r:id="rId2" imgW="3949560" imgH="1066680" progId="Equation.DSMT4">
                  <p:embed/>
                </p:oleObj>
              </mc:Choice>
              <mc:Fallback>
                <p:oleObj name="Equation" r:id="rId2" imgW="3949560" imgH="1066680" progId="Equation.DSMT4">
                  <p:embed/>
                  <p:pic>
                    <p:nvPicPr>
                      <p:cNvPr id="4" name="Object 3">
                        <a:extLst>
                          <a:ext uri="{FF2B5EF4-FFF2-40B4-BE49-F238E27FC236}">
                            <a16:creationId xmlns:a16="http://schemas.microsoft.com/office/drawing/2014/main" id="{7D21A54A-6B46-7F3D-B989-9145ACE6FA64}"/>
                          </a:ext>
                        </a:extLst>
                      </p:cNvPr>
                      <p:cNvPicPr/>
                      <p:nvPr/>
                    </p:nvPicPr>
                    <p:blipFill>
                      <a:blip r:embed="rId3"/>
                      <a:stretch>
                        <a:fillRect/>
                      </a:stretch>
                    </p:blipFill>
                    <p:spPr>
                      <a:xfrm>
                        <a:off x="781050" y="650477"/>
                        <a:ext cx="10519330" cy="2835673"/>
                      </a:xfrm>
                      <a:prstGeom prst="rect">
                        <a:avLst/>
                      </a:prstGeom>
                    </p:spPr>
                  </p:pic>
                </p:oleObj>
              </mc:Fallback>
            </mc:AlternateContent>
          </a:graphicData>
        </a:graphic>
      </p:graphicFrame>
    </p:spTree>
    <p:extLst>
      <p:ext uri="{BB962C8B-B14F-4D97-AF65-F5344CB8AC3E}">
        <p14:creationId xmlns:p14="http://schemas.microsoft.com/office/powerpoint/2010/main" val="898319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5A437597-F4BA-7AB3-C87A-4177E80F6A60}"/>
              </a:ext>
            </a:extLst>
          </p:cNvPr>
          <p:cNvGraphicFramePr>
            <a:graphicFrameLocks noChangeAspect="1"/>
          </p:cNvGraphicFramePr>
          <p:nvPr>
            <p:extLst>
              <p:ext uri="{D42A27DB-BD31-4B8C-83A1-F6EECF244321}">
                <p14:modId xmlns:p14="http://schemas.microsoft.com/office/powerpoint/2010/main" val="2249135843"/>
              </p:ext>
            </p:extLst>
          </p:nvPr>
        </p:nvGraphicFramePr>
        <p:xfrm>
          <a:off x="1014413" y="1035050"/>
          <a:ext cx="6768278" cy="3022600"/>
        </p:xfrm>
        <a:graphic>
          <a:graphicData uri="http://schemas.openxmlformats.org/presentationml/2006/ole">
            <mc:AlternateContent xmlns:mc="http://schemas.openxmlformats.org/markup-compatibility/2006">
              <mc:Choice xmlns:v="urn:schemas-microsoft-com:vml" Requires="v">
                <p:oleObj name="Equation" r:id="rId2" imgW="2730240" imgH="1117440" progId="Equation.DSMT4">
                  <p:embed/>
                </p:oleObj>
              </mc:Choice>
              <mc:Fallback>
                <p:oleObj name="Equation" r:id="rId2" imgW="2730240" imgH="1117440" progId="Equation.DSMT4">
                  <p:embed/>
                  <p:pic>
                    <p:nvPicPr>
                      <p:cNvPr id="3" name="Object 2">
                        <a:extLst>
                          <a:ext uri="{FF2B5EF4-FFF2-40B4-BE49-F238E27FC236}">
                            <a16:creationId xmlns:a16="http://schemas.microsoft.com/office/drawing/2014/main" id="{3E423192-4A24-8CFC-0BAC-B1E66ACC3F10}"/>
                          </a:ext>
                        </a:extLst>
                      </p:cNvPr>
                      <p:cNvPicPr/>
                      <p:nvPr/>
                    </p:nvPicPr>
                    <p:blipFill>
                      <a:blip r:embed="rId3"/>
                      <a:stretch>
                        <a:fillRect/>
                      </a:stretch>
                    </p:blipFill>
                    <p:spPr>
                      <a:xfrm>
                        <a:off x="1014413" y="1035050"/>
                        <a:ext cx="6768278" cy="3022600"/>
                      </a:xfrm>
                      <a:prstGeom prst="rect">
                        <a:avLst/>
                      </a:prstGeom>
                    </p:spPr>
                  </p:pic>
                </p:oleObj>
              </mc:Fallback>
            </mc:AlternateContent>
          </a:graphicData>
        </a:graphic>
      </p:graphicFrame>
    </p:spTree>
    <p:extLst>
      <p:ext uri="{BB962C8B-B14F-4D97-AF65-F5344CB8AC3E}">
        <p14:creationId xmlns:p14="http://schemas.microsoft.com/office/powerpoint/2010/main" val="678682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416</Words>
  <Application>Microsoft Office PowerPoint</Application>
  <PresentationFormat>Widescreen</PresentationFormat>
  <Paragraphs>35</Paragraphs>
  <Slides>19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5" baseType="lpstr">
      <vt:lpstr>Arial</vt:lpstr>
      <vt:lpstr>Calibri</vt:lpstr>
      <vt:lpstr>Calibri Light</vt:lpstr>
      <vt:lpstr>Helvetica</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Soman K.P (CEN)</dc:creator>
  <cp:lastModifiedBy>Dr. Soman K.P (CEN)</cp:lastModifiedBy>
  <cp:revision>36</cp:revision>
  <dcterms:created xsi:type="dcterms:W3CDTF">2023-01-06T10:30:05Z</dcterms:created>
  <dcterms:modified xsi:type="dcterms:W3CDTF">2023-01-07T05:36:37Z</dcterms:modified>
</cp:coreProperties>
</file>